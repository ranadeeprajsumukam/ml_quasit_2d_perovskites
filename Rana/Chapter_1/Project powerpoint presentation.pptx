
<file path=[Content_Types].xml><?xml version="1.0" encoding="utf-8"?>
<Types xmlns="http://schemas.openxmlformats.org/package/2006/content-types">
  <Default Extension="bin" ContentType="application/vnd.openxmlformats-officedocument.oleObject"/>
  <Default Extension="gif" ContentType="image/gif"/>
  <Default Extension="glb" ContentType="model/gltf.binary"/>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handoutMasterIdLst>
    <p:handoutMasterId r:id="rId18"/>
  </p:handoutMasterIdLst>
  <p:sldIdLst>
    <p:sldId id="256" r:id="rId3"/>
    <p:sldId id="324" r:id="rId4"/>
    <p:sldId id="323" r:id="rId5"/>
    <p:sldId id="326" r:id="rId6"/>
    <p:sldId id="340" r:id="rId7"/>
    <p:sldId id="327" r:id="rId8"/>
    <p:sldId id="328" r:id="rId9"/>
    <p:sldId id="329" r:id="rId10"/>
    <p:sldId id="342" r:id="rId11"/>
    <p:sldId id="341" r:id="rId12"/>
    <p:sldId id="332" r:id="rId13"/>
    <p:sldId id="343" r:id="rId14"/>
    <p:sldId id="338" r:id="rId15"/>
    <p:sldId id="33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2" d="100"/>
          <a:sy n="82" d="100"/>
        </p:scale>
        <p:origin x="984" y="8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5221DB-33EB-F349-A80B-F0558EBBF3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7A456E6-FACA-5729-7C0A-E9EF29551E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61043A-3DBF-4C52-A124-96FBDA6998C5}" type="datetimeFigureOut">
              <a:rPr lang="en-IN" smtClean="0"/>
              <a:t>12-06-2022</a:t>
            </a:fld>
            <a:endParaRPr lang="en-IN"/>
          </a:p>
        </p:txBody>
      </p:sp>
      <p:sp>
        <p:nvSpPr>
          <p:cNvPr id="4" name="Footer Placeholder 3">
            <a:extLst>
              <a:ext uri="{FF2B5EF4-FFF2-40B4-BE49-F238E27FC236}">
                <a16:creationId xmlns:a16="http://schemas.microsoft.com/office/drawing/2014/main" id="{4D7E21F1-1039-66B3-B545-642EA1E4A4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A6EF455-C6A1-8648-4613-39A430CA95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E02D4C-761D-45B1-995C-2C96C43454BF}" type="slidenum">
              <a:rPr lang="en-IN" smtClean="0"/>
              <a:t>‹#›</a:t>
            </a:fld>
            <a:endParaRPr lang="en-IN"/>
          </a:p>
        </p:txBody>
      </p:sp>
    </p:spTree>
    <p:extLst>
      <p:ext uri="{BB962C8B-B14F-4D97-AF65-F5344CB8AC3E}">
        <p14:creationId xmlns:p14="http://schemas.microsoft.com/office/powerpoint/2010/main" val="34020014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BC124-FC8F-40B2-B37F-034CD6BE577D}" type="datetimeFigureOut">
              <a:rPr lang="en-IN" smtClean="0"/>
              <a:t>12-06-2022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88C3A6-C1CE-4BB8-AAEA-A43B2DB7047D}" type="slidenum">
              <a:rPr lang="en-IN" smtClean="0"/>
              <a:t>‹#›</a:t>
            </a:fld>
            <a:endParaRPr lang="en-IN"/>
          </a:p>
        </p:txBody>
      </p:sp>
    </p:spTree>
    <p:extLst>
      <p:ext uri="{BB962C8B-B14F-4D97-AF65-F5344CB8AC3E}">
        <p14:creationId xmlns:p14="http://schemas.microsoft.com/office/powerpoint/2010/main" val="7521669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9A9D76-3317-4D9F-91CA-08AB2254D62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38355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9A9D76-3317-4D9F-91CA-08AB2254D62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278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9A9D76-3317-4D9F-91CA-08AB2254D62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05359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9A9D76-3317-4D9F-91CA-08AB2254D62E}" type="slidenum">
              <a:rPr lang="en-US" smtClean="0"/>
              <a:t>5</a:t>
            </a:fld>
            <a:endParaRPr lang="en-US"/>
          </a:p>
        </p:txBody>
      </p:sp>
    </p:spTree>
    <p:extLst>
      <p:ext uri="{BB962C8B-B14F-4D97-AF65-F5344CB8AC3E}">
        <p14:creationId xmlns:p14="http://schemas.microsoft.com/office/powerpoint/2010/main" val="1788862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9A9D76-3317-4D9F-91CA-08AB2254D62E}" type="slidenum">
              <a:rPr lang="en-US" smtClean="0"/>
              <a:t>6</a:t>
            </a:fld>
            <a:endParaRPr lang="en-US"/>
          </a:p>
        </p:txBody>
      </p:sp>
    </p:spTree>
    <p:extLst>
      <p:ext uri="{BB962C8B-B14F-4D97-AF65-F5344CB8AC3E}">
        <p14:creationId xmlns:p14="http://schemas.microsoft.com/office/powerpoint/2010/main" val="4164341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CEBA-7914-0421-518F-EFFC1624BD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42A677-85FC-04AF-ADCD-71FEEE0A43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B67BCE-A7C7-D13D-2DD1-E78891903AC5}"/>
              </a:ext>
            </a:extLst>
          </p:cNvPr>
          <p:cNvSpPr>
            <a:spLocks noGrp="1"/>
          </p:cNvSpPr>
          <p:nvPr>
            <p:ph type="dt" sz="half" idx="10"/>
          </p:nvPr>
        </p:nvSpPr>
        <p:spPr/>
        <p:txBody>
          <a:bodyPr/>
          <a:lstStyle/>
          <a:p>
            <a:fld id="{1021F8FA-BC62-4DE6-9861-E3CEB98E7B35}" type="datetime1">
              <a:rPr lang="en-IN" smtClean="0"/>
              <a:t>12-06-2022</a:t>
            </a:fld>
            <a:endParaRPr lang="en-IN"/>
          </a:p>
        </p:txBody>
      </p:sp>
      <p:sp>
        <p:nvSpPr>
          <p:cNvPr id="5" name="Footer Placeholder 4">
            <a:extLst>
              <a:ext uri="{FF2B5EF4-FFF2-40B4-BE49-F238E27FC236}">
                <a16:creationId xmlns:a16="http://schemas.microsoft.com/office/drawing/2014/main" id="{BB0988C5-7002-B28D-0EBD-D3DB40FD68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8BF202-D5F8-912A-AF58-2A35771DD7A7}"/>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84735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9B775-6A0A-9AAA-F191-8FDC7ECC09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C84E98-95DB-F240-A34C-30E0AB50CB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9DB748-4BB6-45E6-5D73-59A4B7765C48}"/>
              </a:ext>
            </a:extLst>
          </p:cNvPr>
          <p:cNvSpPr>
            <a:spLocks noGrp="1"/>
          </p:cNvSpPr>
          <p:nvPr>
            <p:ph type="dt" sz="half" idx="10"/>
          </p:nvPr>
        </p:nvSpPr>
        <p:spPr/>
        <p:txBody>
          <a:bodyPr/>
          <a:lstStyle/>
          <a:p>
            <a:fld id="{AEFC9849-5A9D-497A-92F8-E5DC48F2AD67}" type="datetime1">
              <a:rPr lang="en-IN" smtClean="0"/>
              <a:t>12-06-2022</a:t>
            </a:fld>
            <a:endParaRPr lang="en-IN"/>
          </a:p>
        </p:txBody>
      </p:sp>
      <p:sp>
        <p:nvSpPr>
          <p:cNvPr id="5" name="Footer Placeholder 4">
            <a:extLst>
              <a:ext uri="{FF2B5EF4-FFF2-40B4-BE49-F238E27FC236}">
                <a16:creationId xmlns:a16="http://schemas.microsoft.com/office/drawing/2014/main" id="{332AF6A6-83C1-7647-726D-1B38B5B2F8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81E593-5E75-92C1-191D-A6A438D985D6}"/>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3681325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2624-FC46-668F-79EC-192F6E4D3E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42F47F-4D76-72CD-0CB7-A891B1439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A4C6D8-D203-CF53-F4FE-FE622FC69D4E}"/>
              </a:ext>
            </a:extLst>
          </p:cNvPr>
          <p:cNvSpPr>
            <a:spLocks noGrp="1"/>
          </p:cNvSpPr>
          <p:nvPr>
            <p:ph type="dt" sz="half" idx="10"/>
          </p:nvPr>
        </p:nvSpPr>
        <p:spPr/>
        <p:txBody>
          <a:bodyPr/>
          <a:lstStyle/>
          <a:p>
            <a:fld id="{A3F722D1-9CF8-4C6B-B9AF-2A601FDE0992}" type="datetime1">
              <a:rPr lang="en-IN" smtClean="0"/>
              <a:t>12-06-2022</a:t>
            </a:fld>
            <a:endParaRPr lang="en-IN"/>
          </a:p>
        </p:txBody>
      </p:sp>
      <p:sp>
        <p:nvSpPr>
          <p:cNvPr id="5" name="Footer Placeholder 4">
            <a:extLst>
              <a:ext uri="{FF2B5EF4-FFF2-40B4-BE49-F238E27FC236}">
                <a16:creationId xmlns:a16="http://schemas.microsoft.com/office/drawing/2014/main" id="{5AF3BCE1-6E05-1C58-B641-1765976D62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603A70-B936-3C47-8F24-6B5FF850BE9E}"/>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973833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FE4C4-B403-ED37-BC00-017DCB4E8D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FD0D05-07CB-63BC-D9FA-383DCD7F4F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DDD0A8-3036-B6B1-2C38-79BF439C36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97DCDF-8618-6684-1F08-1753B98D5BAE}"/>
              </a:ext>
            </a:extLst>
          </p:cNvPr>
          <p:cNvSpPr>
            <a:spLocks noGrp="1"/>
          </p:cNvSpPr>
          <p:nvPr>
            <p:ph type="dt" sz="half" idx="10"/>
          </p:nvPr>
        </p:nvSpPr>
        <p:spPr/>
        <p:txBody>
          <a:bodyPr/>
          <a:lstStyle/>
          <a:p>
            <a:fld id="{0D98D496-46F0-4F1E-AB63-3CF1FB49C8D3}" type="datetime1">
              <a:rPr lang="en-IN" smtClean="0"/>
              <a:t>12-06-2022</a:t>
            </a:fld>
            <a:endParaRPr lang="en-IN"/>
          </a:p>
        </p:txBody>
      </p:sp>
      <p:sp>
        <p:nvSpPr>
          <p:cNvPr id="6" name="Footer Placeholder 5">
            <a:extLst>
              <a:ext uri="{FF2B5EF4-FFF2-40B4-BE49-F238E27FC236}">
                <a16:creationId xmlns:a16="http://schemas.microsoft.com/office/drawing/2014/main" id="{05327B56-DB97-5438-052A-25668656B1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B03BFA-36D3-D19A-8FC6-86EDA4FF1669}"/>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1423667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051A-10DF-CEA5-F363-AFF73240F8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AAFCB9-6478-086D-9AA5-780CDAEC0E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8905F4-6E1B-837C-7186-A474C2CEFF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7A10FA-1BED-1793-4EBC-2DEED5420A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600754-5EC7-7874-83DE-1D1A6805C0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526A49-6E9B-AEAE-3463-A2312DB983D4}"/>
              </a:ext>
            </a:extLst>
          </p:cNvPr>
          <p:cNvSpPr>
            <a:spLocks noGrp="1"/>
          </p:cNvSpPr>
          <p:nvPr>
            <p:ph type="dt" sz="half" idx="10"/>
          </p:nvPr>
        </p:nvSpPr>
        <p:spPr/>
        <p:txBody>
          <a:bodyPr/>
          <a:lstStyle/>
          <a:p>
            <a:fld id="{E95124DC-C809-44E3-B351-176A52660962}" type="datetime1">
              <a:rPr lang="en-IN" smtClean="0"/>
              <a:t>12-06-2022</a:t>
            </a:fld>
            <a:endParaRPr lang="en-IN"/>
          </a:p>
        </p:txBody>
      </p:sp>
      <p:sp>
        <p:nvSpPr>
          <p:cNvPr id="8" name="Footer Placeholder 7">
            <a:extLst>
              <a:ext uri="{FF2B5EF4-FFF2-40B4-BE49-F238E27FC236}">
                <a16:creationId xmlns:a16="http://schemas.microsoft.com/office/drawing/2014/main" id="{AE0F493E-1062-B888-4D47-1CA4357488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4B7C9C-1463-EABB-4A75-060ACF0C01A0}"/>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1597085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17684-E890-8AC6-E306-E1771540D0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89A139-7273-98B6-E78B-CAF2CBD52C38}"/>
              </a:ext>
            </a:extLst>
          </p:cNvPr>
          <p:cNvSpPr>
            <a:spLocks noGrp="1"/>
          </p:cNvSpPr>
          <p:nvPr>
            <p:ph type="dt" sz="half" idx="10"/>
          </p:nvPr>
        </p:nvSpPr>
        <p:spPr/>
        <p:txBody>
          <a:bodyPr/>
          <a:lstStyle/>
          <a:p>
            <a:fld id="{8ABD0C45-B6D6-4C95-B300-63E29600CF34}" type="datetime1">
              <a:rPr lang="en-IN" smtClean="0"/>
              <a:t>12-06-2022</a:t>
            </a:fld>
            <a:endParaRPr lang="en-IN"/>
          </a:p>
        </p:txBody>
      </p:sp>
      <p:sp>
        <p:nvSpPr>
          <p:cNvPr id="4" name="Footer Placeholder 3">
            <a:extLst>
              <a:ext uri="{FF2B5EF4-FFF2-40B4-BE49-F238E27FC236}">
                <a16:creationId xmlns:a16="http://schemas.microsoft.com/office/drawing/2014/main" id="{712BBB97-C24B-CED0-0FBA-68014B64DD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BEF847-C933-123D-341A-7D792D1B6915}"/>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3372020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D24455-E868-2371-BA66-4347E999373A}"/>
              </a:ext>
            </a:extLst>
          </p:cNvPr>
          <p:cNvSpPr>
            <a:spLocks noGrp="1"/>
          </p:cNvSpPr>
          <p:nvPr>
            <p:ph type="dt" sz="half" idx="10"/>
          </p:nvPr>
        </p:nvSpPr>
        <p:spPr/>
        <p:txBody>
          <a:bodyPr/>
          <a:lstStyle/>
          <a:p>
            <a:fld id="{921A5349-34EB-4478-89ED-61341019FB4D}" type="datetime1">
              <a:rPr lang="en-IN" smtClean="0"/>
              <a:t>12-06-2022</a:t>
            </a:fld>
            <a:endParaRPr lang="en-IN"/>
          </a:p>
        </p:txBody>
      </p:sp>
      <p:sp>
        <p:nvSpPr>
          <p:cNvPr id="3" name="Footer Placeholder 2">
            <a:extLst>
              <a:ext uri="{FF2B5EF4-FFF2-40B4-BE49-F238E27FC236}">
                <a16:creationId xmlns:a16="http://schemas.microsoft.com/office/drawing/2014/main" id="{761A6E17-60BC-71CF-A661-57E068125E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429CFE-E89C-F9D2-1AFE-E469A3F639DE}"/>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1605969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8DC22-8B43-3704-D7CF-B234FBB54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2002C4-CE1B-F551-0E91-95F2BBBA27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16A408-87EF-FE43-C80A-7B849F4D3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9B879B-16F2-0E46-2FCB-B66940B21FF9}"/>
              </a:ext>
            </a:extLst>
          </p:cNvPr>
          <p:cNvSpPr>
            <a:spLocks noGrp="1"/>
          </p:cNvSpPr>
          <p:nvPr>
            <p:ph type="dt" sz="half" idx="10"/>
          </p:nvPr>
        </p:nvSpPr>
        <p:spPr/>
        <p:txBody>
          <a:bodyPr/>
          <a:lstStyle/>
          <a:p>
            <a:fld id="{75EEBC9A-62A7-49EB-9828-220C0A613B14}" type="datetime1">
              <a:rPr lang="en-IN" smtClean="0"/>
              <a:t>12-06-2022</a:t>
            </a:fld>
            <a:endParaRPr lang="en-IN"/>
          </a:p>
        </p:txBody>
      </p:sp>
      <p:sp>
        <p:nvSpPr>
          <p:cNvPr id="6" name="Footer Placeholder 5">
            <a:extLst>
              <a:ext uri="{FF2B5EF4-FFF2-40B4-BE49-F238E27FC236}">
                <a16:creationId xmlns:a16="http://schemas.microsoft.com/office/drawing/2014/main" id="{6681DD8E-97D0-10A0-ABC6-C03DB42169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8F91A9-FDAF-D264-23F7-B51E708535C8}"/>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946985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CF93-7722-C48C-156D-129313915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F2EEC4-86D4-9640-01E3-DF891EFA40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A290D7-E264-4EEE-9CC8-700ADF85E0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C12C2-28D2-E4AD-610E-676563DCCAE5}"/>
              </a:ext>
            </a:extLst>
          </p:cNvPr>
          <p:cNvSpPr>
            <a:spLocks noGrp="1"/>
          </p:cNvSpPr>
          <p:nvPr>
            <p:ph type="dt" sz="half" idx="10"/>
          </p:nvPr>
        </p:nvSpPr>
        <p:spPr/>
        <p:txBody>
          <a:bodyPr/>
          <a:lstStyle/>
          <a:p>
            <a:fld id="{BD81631D-037C-41CB-994F-521F97494A55}" type="datetime1">
              <a:rPr lang="en-IN" smtClean="0"/>
              <a:t>12-06-2022</a:t>
            </a:fld>
            <a:endParaRPr lang="en-IN"/>
          </a:p>
        </p:txBody>
      </p:sp>
      <p:sp>
        <p:nvSpPr>
          <p:cNvPr id="6" name="Footer Placeholder 5">
            <a:extLst>
              <a:ext uri="{FF2B5EF4-FFF2-40B4-BE49-F238E27FC236}">
                <a16:creationId xmlns:a16="http://schemas.microsoft.com/office/drawing/2014/main" id="{DC897769-3F91-826D-8689-CAE1366B95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141A58-2FBD-0B70-BB4B-A8227764B74F}"/>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1171140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942B-A0A7-D54D-150A-BD885DAB8E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AB22DD-BD86-82D4-F539-F7B251649A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505D2-FB1C-94D2-620F-5408233D11F8}"/>
              </a:ext>
            </a:extLst>
          </p:cNvPr>
          <p:cNvSpPr>
            <a:spLocks noGrp="1"/>
          </p:cNvSpPr>
          <p:nvPr>
            <p:ph type="dt" sz="half" idx="10"/>
          </p:nvPr>
        </p:nvSpPr>
        <p:spPr/>
        <p:txBody>
          <a:bodyPr/>
          <a:lstStyle/>
          <a:p>
            <a:fld id="{1351CF3E-1DB7-4B04-AF2F-0B496B9DD21C}" type="datetime1">
              <a:rPr lang="en-IN" smtClean="0"/>
              <a:t>12-06-2022</a:t>
            </a:fld>
            <a:endParaRPr lang="en-IN"/>
          </a:p>
        </p:txBody>
      </p:sp>
      <p:sp>
        <p:nvSpPr>
          <p:cNvPr id="5" name="Footer Placeholder 4">
            <a:extLst>
              <a:ext uri="{FF2B5EF4-FFF2-40B4-BE49-F238E27FC236}">
                <a16:creationId xmlns:a16="http://schemas.microsoft.com/office/drawing/2014/main" id="{E648AA6F-64EC-109C-03DA-BDBB3630E0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E7A60F-B22E-E301-27DF-4C814511A3ED}"/>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1403151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7D3FC5-4CF2-3D1C-970F-5ED995ED82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AA3F3F-9426-3055-8148-DD701FA21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F9A7BF-AAEC-D189-91AB-03DC3D3AACD0}"/>
              </a:ext>
            </a:extLst>
          </p:cNvPr>
          <p:cNvSpPr>
            <a:spLocks noGrp="1"/>
          </p:cNvSpPr>
          <p:nvPr>
            <p:ph type="dt" sz="half" idx="10"/>
          </p:nvPr>
        </p:nvSpPr>
        <p:spPr/>
        <p:txBody>
          <a:bodyPr/>
          <a:lstStyle/>
          <a:p>
            <a:fld id="{1DE1CA8C-4829-4742-A738-951E508316BF}" type="datetime1">
              <a:rPr lang="en-IN" smtClean="0"/>
              <a:t>12-06-2022</a:t>
            </a:fld>
            <a:endParaRPr lang="en-IN"/>
          </a:p>
        </p:txBody>
      </p:sp>
      <p:sp>
        <p:nvSpPr>
          <p:cNvPr id="5" name="Footer Placeholder 4">
            <a:extLst>
              <a:ext uri="{FF2B5EF4-FFF2-40B4-BE49-F238E27FC236}">
                <a16:creationId xmlns:a16="http://schemas.microsoft.com/office/drawing/2014/main" id="{872B5C46-5F47-294F-4ED8-0288EF6C0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9A8AF8-9555-EE1A-245C-B6046A2C3288}"/>
              </a:ext>
            </a:extLst>
          </p:cNvPr>
          <p:cNvSpPr>
            <a:spLocks noGrp="1"/>
          </p:cNvSpPr>
          <p:nvPr>
            <p:ph type="sldNum" sz="quarter" idx="12"/>
          </p:nvPr>
        </p:nvSpPr>
        <p:spPr/>
        <p:txBody>
          <a:bodyPr/>
          <a:lstStyle/>
          <a:p>
            <a:fld id="{1613D59D-1F26-43DA-B4F8-670F7817FB5A}" type="slidenum">
              <a:rPr lang="en-IN" smtClean="0"/>
              <a:t>‹#›</a:t>
            </a:fld>
            <a:endParaRPr lang="en-IN"/>
          </a:p>
        </p:txBody>
      </p:sp>
    </p:spTree>
    <p:extLst>
      <p:ext uri="{BB962C8B-B14F-4D97-AF65-F5344CB8AC3E}">
        <p14:creationId xmlns:p14="http://schemas.microsoft.com/office/powerpoint/2010/main" val="69838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630" indent="0" algn="ctr">
              <a:buNone/>
              <a:defRPr>
                <a:solidFill>
                  <a:schemeClr val="tx1">
                    <a:tint val="75000"/>
                  </a:schemeClr>
                </a:solidFill>
              </a:defRPr>
            </a:lvl2pPr>
            <a:lvl3pPr marL="1219261" indent="0" algn="ctr">
              <a:buNone/>
              <a:defRPr>
                <a:solidFill>
                  <a:schemeClr val="tx1">
                    <a:tint val="75000"/>
                  </a:schemeClr>
                </a:solidFill>
              </a:defRPr>
            </a:lvl3pPr>
            <a:lvl4pPr marL="1828891" indent="0" algn="ctr">
              <a:buNone/>
              <a:defRPr>
                <a:solidFill>
                  <a:schemeClr val="tx1">
                    <a:tint val="75000"/>
                  </a:schemeClr>
                </a:solidFill>
              </a:defRPr>
            </a:lvl4pPr>
            <a:lvl5pPr marL="2438522" indent="0" algn="ctr">
              <a:buNone/>
              <a:defRPr>
                <a:solidFill>
                  <a:schemeClr val="tx1">
                    <a:tint val="75000"/>
                  </a:schemeClr>
                </a:solidFill>
              </a:defRPr>
            </a:lvl5pPr>
            <a:lvl6pPr marL="3048152" indent="0" algn="ctr">
              <a:buNone/>
              <a:defRPr>
                <a:solidFill>
                  <a:schemeClr val="tx1">
                    <a:tint val="75000"/>
                  </a:schemeClr>
                </a:solidFill>
              </a:defRPr>
            </a:lvl6pPr>
            <a:lvl7pPr marL="3657783" indent="0" algn="ctr">
              <a:buNone/>
              <a:defRPr>
                <a:solidFill>
                  <a:schemeClr val="tx1">
                    <a:tint val="75000"/>
                  </a:schemeClr>
                </a:solidFill>
              </a:defRPr>
            </a:lvl7pPr>
            <a:lvl8pPr marL="4267413" indent="0" algn="ctr">
              <a:buNone/>
              <a:defRPr>
                <a:solidFill>
                  <a:schemeClr val="tx1">
                    <a:tint val="75000"/>
                  </a:schemeClr>
                </a:solidFill>
              </a:defRPr>
            </a:lvl8pPr>
            <a:lvl9pPr marL="487704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2FBE9D8-0789-4D92-9735-899CC84957CB}" type="datetime1">
              <a:rPr lang="en-IN" smtClean="0"/>
              <a:t>12-06-2022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F88E988-FB04-AB4E-BE5A-59F242AF7F7A}" type="slidenum">
              <a:rPr lang="en-US" smtClean="0"/>
              <a:t>‹#›</a:t>
            </a:fld>
            <a:endParaRPr lang="en-US"/>
          </a:p>
        </p:txBody>
      </p:sp>
    </p:spTree>
    <p:extLst>
      <p:ext uri="{BB962C8B-B14F-4D97-AF65-F5344CB8AC3E}">
        <p14:creationId xmlns:p14="http://schemas.microsoft.com/office/powerpoint/2010/main" val="4261454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8A283A-02DA-41EC-AE2D-0A26EAE4FFEB}" type="datetime1">
              <a:rPr lang="en-IN" smtClean="0"/>
              <a:t>12-06-2022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049926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4"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630" indent="0">
              <a:buNone/>
              <a:defRPr sz="2400">
                <a:solidFill>
                  <a:schemeClr val="tx1">
                    <a:tint val="75000"/>
                  </a:schemeClr>
                </a:solidFill>
              </a:defRPr>
            </a:lvl2pPr>
            <a:lvl3pPr marL="1219261" indent="0">
              <a:buNone/>
              <a:defRPr sz="2133">
                <a:solidFill>
                  <a:schemeClr val="tx1">
                    <a:tint val="75000"/>
                  </a:schemeClr>
                </a:solidFill>
              </a:defRPr>
            </a:lvl3pPr>
            <a:lvl4pPr marL="1828891" indent="0">
              <a:buNone/>
              <a:defRPr sz="1867">
                <a:solidFill>
                  <a:schemeClr val="tx1">
                    <a:tint val="75000"/>
                  </a:schemeClr>
                </a:solidFill>
              </a:defRPr>
            </a:lvl4pPr>
            <a:lvl5pPr marL="2438522" indent="0">
              <a:buNone/>
              <a:defRPr sz="1867">
                <a:solidFill>
                  <a:schemeClr val="tx1">
                    <a:tint val="75000"/>
                  </a:schemeClr>
                </a:solidFill>
              </a:defRPr>
            </a:lvl5pPr>
            <a:lvl6pPr marL="3048152" indent="0">
              <a:buNone/>
              <a:defRPr sz="1867">
                <a:solidFill>
                  <a:schemeClr val="tx1">
                    <a:tint val="75000"/>
                  </a:schemeClr>
                </a:solidFill>
              </a:defRPr>
            </a:lvl6pPr>
            <a:lvl7pPr marL="3657783" indent="0">
              <a:buNone/>
              <a:defRPr sz="1867">
                <a:solidFill>
                  <a:schemeClr val="tx1">
                    <a:tint val="75000"/>
                  </a:schemeClr>
                </a:solidFill>
              </a:defRPr>
            </a:lvl7pPr>
            <a:lvl8pPr marL="4267413" indent="0">
              <a:buNone/>
              <a:defRPr sz="1867">
                <a:solidFill>
                  <a:schemeClr val="tx1">
                    <a:tint val="75000"/>
                  </a:schemeClr>
                </a:solidFill>
              </a:defRPr>
            </a:lvl8pPr>
            <a:lvl9pPr marL="4877044"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68444-B9CC-44FE-A5A4-0D85930C56E9}" type="datetime1">
              <a:rPr lang="en-IN" smtClean="0"/>
              <a:t>12-06-2022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AF2B4D-6B12-4EDF-87BB-2B55CECB6611}" type="slidenum">
              <a:rPr lang="en-US" smtClean="0"/>
              <a:pPr/>
              <a:t>‹#›</a:t>
            </a:fld>
            <a:endParaRPr lang="en-US"/>
          </a:p>
        </p:txBody>
      </p:sp>
    </p:spTree>
    <p:extLst>
      <p:ext uri="{BB962C8B-B14F-4D97-AF65-F5344CB8AC3E}">
        <p14:creationId xmlns:p14="http://schemas.microsoft.com/office/powerpoint/2010/main" val="1333505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7DF829-7CB2-4BC1-9733-3EBDAF5B60DB}" type="datetime1">
              <a:rPr lang="en-IN" smtClean="0"/>
              <a:t>12-06-2022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333411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630" indent="0">
              <a:buNone/>
              <a:defRPr sz="2667" b="1"/>
            </a:lvl2pPr>
            <a:lvl3pPr marL="1219261" indent="0">
              <a:buNone/>
              <a:defRPr sz="2400" b="1"/>
            </a:lvl3pPr>
            <a:lvl4pPr marL="1828891" indent="0">
              <a:buNone/>
              <a:defRPr sz="2133" b="1"/>
            </a:lvl4pPr>
            <a:lvl5pPr marL="2438522" indent="0">
              <a:buNone/>
              <a:defRPr sz="2133" b="1"/>
            </a:lvl5pPr>
            <a:lvl6pPr marL="3048152" indent="0">
              <a:buNone/>
              <a:defRPr sz="2133" b="1"/>
            </a:lvl6pPr>
            <a:lvl7pPr marL="3657783" indent="0">
              <a:buNone/>
              <a:defRPr sz="2133" b="1"/>
            </a:lvl7pPr>
            <a:lvl8pPr marL="4267413" indent="0">
              <a:buNone/>
              <a:defRPr sz="2133" b="1"/>
            </a:lvl8pPr>
            <a:lvl9pPr marL="4877044"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630" indent="0">
              <a:buNone/>
              <a:defRPr sz="2667" b="1"/>
            </a:lvl2pPr>
            <a:lvl3pPr marL="1219261" indent="0">
              <a:buNone/>
              <a:defRPr sz="2400" b="1"/>
            </a:lvl3pPr>
            <a:lvl4pPr marL="1828891" indent="0">
              <a:buNone/>
              <a:defRPr sz="2133" b="1"/>
            </a:lvl4pPr>
            <a:lvl5pPr marL="2438522" indent="0">
              <a:buNone/>
              <a:defRPr sz="2133" b="1"/>
            </a:lvl5pPr>
            <a:lvl6pPr marL="3048152" indent="0">
              <a:buNone/>
              <a:defRPr sz="2133" b="1"/>
            </a:lvl6pPr>
            <a:lvl7pPr marL="3657783" indent="0">
              <a:buNone/>
              <a:defRPr sz="2133" b="1"/>
            </a:lvl7pPr>
            <a:lvl8pPr marL="4267413" indent="0">
              <a:buNone/>
              <a:defRPr sz="2133" b="1"/>
            </a:lvl8pPr>
            <a:lvl9pPr marL="4877044"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08BD15-EBF0-4D78-899F-56B45F9CECDE}" type="datetime1">
              <a:rPr lang="en-IN" smtClean="0"/>
              <a:t>12-06-2022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709553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0F5193-A0BB-4F93-B2AF-749D827866DA}" type="datetime1">
              <a:rPr lang="en-IN" smtClean="0"/>
              <a:t>12-06-2022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7895993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FF934-25E7-4AB8-968A-F704FFE09E10}" type="datetime1">
              <a:rPr lang="en-IN" smtClean="0"/>
              <a:t>12-06-2022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7543987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4"/>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630" indent="0">
              <a:buNone/>
              <a:defRPr sz="1600"/>
            </a:lvl2pPr>
            <a:lvl3pPr marL="1219261" indent="0">
              <a:buNone/>
              <a:defRPr sz="1333"/>
            </a:lvl3pPr>
            <a:lvl4pPr marL="1828891" indent="0">
              <a:buNone/>
              <a:defRPr sz="1200"/>
            </a:lvl4pPr>
            <a:lvl5pPr marL="2438522" indent="0">
              <a:buNone/>
              <a:defRPr sz="1200"/>
            </a:lvl5pPr>
            <a:lvl6pPr marL="3048152" indent="0">
              <a:buNone/>
              <a:defRPr sz="1200"/>
            </a:lvl6pPr>
            <a:lvl7pPr marL="3657783" indent="0">
              <a:buNone/>
              <a:defRPr sz="1200"/>
            </a:lvl7pPr>
            <a:lvl8pPr marL="4267413" indent="0">
              <a:buNone/>
              <a:defRPr sz="1200"/>
            </a:lvl8pPr>
            <a:lvl9pPr marL="487704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C6C635A-1692-4BB9-8EC1-CCF346546F11}" type="datetime1">
              <a:rPr lang="en-IN" smtClean="0"/>
              <a:t>12-06-2022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Tree>
    <p:extLst>
      <p:ext uri="{BB962C8B-B14F-4D97-AF65-F5344CB8AC3E}">
        <p14:creationId xmlns:p14="http://schemas.microsoft.com/office/powerpoint/2010/main" val="30207314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630" indent="0">
              <a:buNone/>
              <a:defRPr sz="3734"/>
            </a:lvl2pPr>
            <a:lvl3pPr marL="1219261" indent="0">
              <a:buNone/>
              <a:defRPr sz="3200"/>
            </a:lvl3pPr>
            <a:lvl4pPr marL="1828891" indent="0">
              <a:buNone/>
              <a:defRPr sz="2667"/>
            </a:lvl4pPr>
            <a:lvl5pPr marL="2438522" indent="0">
              <a:buNone/>
              <a:defRPr sz="2667"/>
            </a:lvl5pPr>
            <a:lvl6pPr marL="3048152" indent="0">
              <a:buNone/>
              <a:defRPr sz="2667"/>
            </a:lvl6pPr>
            <a:lvl7pPr marL="3657783" indent="0">
              <a:buNone/>
              <a:defRPr sz="2667"/>
            </a:lvl7pPr>
            <a:lvl8pPr marL="4267413" indent="0">
              <a:buNone/>
              <a:defRPr sz="2667"/>
            </a:lvl8pPr>
            <a:lvl9pPr marL="4877044" indent="0">
              <a:buNone/>
              <a:defRPr sz="2667"/>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630" indent="0">
              <a:buNone/>
              <a:defRPr sz="1600"/>
            </a:lvl2pPr>
            <a:lvl3pPr marL="1219261" indent="0">
              <a:buNone/>
              <a:defRPr sz="1333"/>
            </a:lvl3pPr>
            <a:lvl4pPr marL="1828891" indent="0">
              <a:buNone/>
              <a:defRPr sz="1200"/>
            </a:lvl4pPr>
            <a:lvl5pPr marL="2438522" indent="0">
              <a:buNone/>
              <a:defRPr sz="1200"/>
            </a:lvl5pPr>
            <a:lvl6pPr marL="3048152" indent="0">
              <a:buNone/>
              <a:defRPr sz="1200"/>
            </a:lvl6pPr>
            <a:lvl7pPr marL="3657783" indent="0">
              <a:buNone/>
              <a:defRPr sz="1200"/>
            </a:lvl7pPr>
            <a:lvl8pPr marL="4267413" indent="0">
              <a:buNone/>
              <a:defRPr sz="1200"/>
            </a:lvl8pPr>
            <a:lvl9pPr marL="487704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314A8D7-8CF1-4075-BCFC-AFBCE6B546EB}" type="datetime1">
              <a:rPr lang="en-IN" smtClean="0"/>
              <a:t>12-06-2022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3891751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6A94BB-71C2-4B34-AF51-4125AFA75EEE}" type="datetime1">
              <a:rPr lang="en-IN" smtClean="0"/>
              <a:t>12-06-2022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16223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551EE-50C6-460E-8156-77A4D4098B70}" type="datetime1">
              <a:rPr lang="en-IN" smtClean="0"/>
              <a:t>12-06-2022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075701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8D8609-7680-A9E3-3B91-522912B28A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996BE4-CAA4-0398-8DED-494C788AD1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382F7F-402D-5A70-978B-F92AFB06D1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EC285A-20EC-467A-89B9-5C630BC2D19B}" type="datetime1">
              <a:rPr lang="en-IN" smtClean="0"/>
              <a:t>12-06-2022</a:t>
            </a:fld>
            <a:endParaRPr lang="en-IN"/>
          </a:p>
        </p:txBody>
      </p:sp>
      <p:sp>
        <p:nvSpPr>
          <p:cNvPr id="5" name="Footer Placeholder 4">
            <a:extLst>
              <a:ext uri="{FF2B5EF4-FFF2-40B4-BE49-F238E27FC236}">
                <a16:creationId xmlns:a16="http://schemas.microsoft.com/office/drawing/2014/main" id="{EF5C3BBC-279E-BB70-EC90-9305FBE412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735166-8B96-38E6-FFBA-3141A0D8FD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13D59D-1F26-43DA-B4F8-670F7817FB5A}" type="slidenum">
              <a:rPr lang="en-IN" smtClean="0"/>
              <a:t>‹#›</a:t>
            </a:fld>
            <a:endParaRPr lang="en-IN"/>
          </a:p>
        </p:txBody>
      </p:sp>
    </p:spTree>
    <p:extLst>
      <p:ext uri="{BB962C8B-B14F-4D97-AF65-F5344CB8AC3E}">
        <p14:creationId xmlns:p14="http://schemas.microsoft.com/office/powerpoint/2010/main" val="3141606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182880" tIns="91440" rIns="182880" bIns="9144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182880" tIns="91440" rIns="182880"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182880" tIns="91440" rIns="182880" bIns="91440" rtlCol="0" anchor="ctr"/>
          <a:lstStyle>
            <a:lvl1pPr algn="l">
              <a:defRPr sz="1600">
                <a:solidFill>
                  <a:schemeClr val="tx1">
                    <a:tint val="75000"/>
                  </a:schemeClr>
                </a:solidFill>
              </a:defRPr>
            </a:lvl1pPr>
          </a:lstStyle>
          <a:p>
            <a:fld id="{3931337B-BAAD-4A11-8062-3AD8E6038727}" type="datetime1">
              <a:rPr lang="en-IN" smtClean="0"/>
              <a:t>12-06-2022</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182880" tIns="91440" rIns="182880" bIns="9144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182880" tIns="91440" rIns="182880" bIns="91440" rtlCol="0" anchor="ctr"/>
          <a:lstStyle>
            <a:lvl1pPr algn="r">
              <a:defRPr sz="1600">
                <a:solidFill>
                  <a:schemeClr val="tx1">
                    <a:tint val="75000"/>
                  </a:schemeClr>
                </a:solidFill>
              </a:defRPr>
            </a:lvl1pPr>
          </a:lstStyle>
          <a:p>
            <a:fld id="{2066355A-084C-D24E-9AD2-7E4FC41EA627}" type="slidenum">
              <a:rPr lang="en-US" smtClean="0"/>
              <a:t>‹#›</a:t>
            </a:fld>
            <a:endParaRPr lang="en-US"/>
          </a:p>
        </p:txBody>
      </p:sp>
    </p:spTree>
    <p:extLst>
      <p:ext uri="{BB962C8B-B14F-4D97-AF65-F5344CB8AC3E}">
        <p14:creationId xmlns:p14="http://schemas.microsoft.com/office/powerpoint/2010/main" val="331628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09630" rtl="0" eaLnBrk="1" latinLnBrk="0" hangingPunct="1">
        <a:spcBef>
          <a:spcPct val="0"/>
        </a:spcBef>
        <a:buNone/>
        <a:defRPr sz="5867" kern="1200">
          <a:solidFill>
            <a:schemeClr val="tx1"/>
          </a:solidFill>
          <a:latin typeface="+mj-lt"/>
          <a:ea typeface="+mj-ea"/>
          <a:cs typeface="+mj-cs"/>
        </a:defRPr>
      </a:lvl1pPr>
    </p:titleStyle>
    <p:bodyStyle>
      <a:lvl1pPr marL="457223" indent="-457223" algn="l" defTabSz="609630" rtl="0" eaLnBrk="1" latinLnBrk="0" hangingPunct="1">
        <a:spcBef>
          <a:spcPct val="20000"/>
        </a:spcBef>
        <a:buFont typeface="Arial"/>
        <a:buChar char="•"/>
        <a:defRPr sz="4267" kern="1200">
          <a:solidFill>
            <a:schemeClr val="tx1"/>
          </a:solidFill>
          <a:latin typeface="+mn-lt"/>
          <a:ea typeface="+mn-ea"/>
          <a:cs typeface="+mn-cs"/>
        </a:defRPr>
      </a:lvl1pPr>
      <a:lvl2pPr marL="990650" indent="-381019" algn="l" defTabSz="609630" rtl="0" eaLnBrk="1" latinLnBrk="0" hangingPunct="1">
        <a:spcBef>
          <a:spcPct val="20000"/>
        </a:spcBef>
        <a:buFont typeface="Arial"/>
        <a:buChar char="–"/>
        <a:defRPr sz="3734" kern="1200">
          <a:solidFill>
            <a:schemeClr val="tx1"/>
          </a:solidFill>
          <a:latin typeface="+mn-lt"/>
          <a:ea typeface="+mn-ea"/>
          <a:cs typeface="+mn-cs"/>
        </a:defRPr>
      </a:lvl2pPr>
      <a:lvl3pPr marL="1524076" indent="-304815" algn="l" defTabSz="609630" rtl="0" eaLnBrk="1" latinLnBrk="0" hangingPunct="1">
        <a:spcBef>
          <a:spcPct val="20000"/>
        </a:spcBef>
        <a:buFont typeface="Arial"/>
        <a:buChar char="•"/>
        <a:defRPr sz="3200" kern="1200">
          <a:solidFill>
            <a:schemeClr val="tx1"/>
          </a:solidFill>
          <a:latin typeface="+mn-lt"/>
          <a:ea typeface="+mn-ea"/>
          <a:cs typeface="+mn-cs"/>
        </a:defRPr>
      </a:lvl3pPr>
      <a:lvl4pPr marL="2133707" indent="-304815" algn="l" defTabSz="609630" rtl="0" eaLnBrk="1" latinLnBrk="0" hangingPunct="1">
        <a:spcBef>
          <a:spcPct val="20000"/>
        </a:spcBef>
        <a:buFont typeface="Arial"/>
        <a:buChar char="–"/>
        <a:defRPr sz="2667" kern="1200">
          <a:solidFill>
            <a:schemeClr val="tx1"/>
          </a:solidFill>
          <a:latin typeface="+mn-lt"/>
          <a:ea typeface="+mn-ea"/>
          <a:cs typeface="+mn-cs"/>
        </a:defRPr>
      </a:lvl4pPr>
      <a:lvl5pPr marL="2743337" indent="-304815" algn="l" defTabSz="609630" rtl="0" eaLnBrk="1" latinLnBrk="0" hangingPunct="1">
        <a:spcBef>
          <a:spcPct val="20000"/>
        </a:spcBef>
        <a:buFont typeface="Arial"/>
        <a:buChar char="»"/>
        <a:defRPr sz="2667" kern="1200">
          <a:solidFill>
            <a:schemeClr val="tx1"/>
          </a:solidFill>
          <a:latin typeface="+mn-lt"/>
          <a:ea typeface="+mn-ea"/>
          <a:cs typeface="+mn-cs"/>
        </a:defRPr>
      </a:lvl5pPr>
      <a:lvl6pPr marL="3352968" indent="-304815" algn="l" defTabSz="609630" rtl="0" eaLnBrk="1" latinLnBrk="0" hangingPunct="1">
        <a:spcBef>
          <a:spcPct val="20000"/>
        </a:spcBef>
        <a:buFont typeface="Arial"/>
        <a:buChar char="•"/>
        <a:defRPr sz="2667" kern="1200">
          <a:solidFill>
            <a:schemeClr val="tx1"/>
          </a:solidFill>
          <a:latin typeface="+mn-lt"/>
          <a:ea typeface="+mn-ea"/>
          <a:cs typeface="+mn-cs"/>
        </a:defRPr>
      </a:lvl6pPr>
      <a:lvl7pPr marL="3962598" indent="-304815" algn="l" defTabSz="609630" rtl="0" eaLnBrk="1" latinLnBrk="0" hangingPunct="1">
        <a:spcBef>
          <a:spcPct val="20000"/>
        </a:spcBef>
        <a:buFont typeface="Arial"/>
        <a:buChar char="•"/>
        <a:defRPr sz="2667" kern="1200">
          <a:solidFill>
            <a:schemeClr val="tx1"/>
          </a:solidFill>
          <a:latin typeface="+mn-lt"/>
          <a:ea typeface="+mn-ea"/>
          <a:cs typeface="+mn-cs"/>
        </a:defRPr>
      </a:lvl7pPr>
      <a:lvl8pPr marL="4572229" indent="-304815" algn="l" defTabSz="609630" rtl="0" eaLnBrk="1" latinLnBrk="0" hangingPunct="1">
        <a:spcBef>
          <a:spcPct val="20000"/>
        </a:spcBef>
        <a:buFont typeface="Arial"/>
        <a:buChar char="•"/>
        <a:defRPr sz="2667" kern="1200">
          <a:solidFill>
            <a:schemeClr val="tx1"/>
          </a:solidFill>
          <a:latin typeface="+mn-lt"/>
          <a:ea typeface="+mn-ea"/>
          <a:cs typeface="+mn-cs"/>
        </a:defRPr>
      </a:lvl8pPr>
      <a:lvl9pPr marL="5181859" indent="-304815" algn="l" defTabSz="60963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hyperlink" Target="https://en.wikipedia.org/wiki/Band_diagram" TargetMode="External"/><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Perovskite_solar_cell"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Perovskite_solar_cel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creativecommons.org/licenses/by-sa/3.0/"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chemistry.stackexchange.com/questions/75131/what-is-the-name-of-this-3-open-tube-and-where-can-i-purchase-one" TargetMode="External"/><Relationship Id="rId7" Type="http://schemas.openxmlformats.org/officeDocument/2006/relationships/image" Target="../media/image9.png"/><Relationship Id="rId12" Type="http://schemas.openxmlformats.org/officeDocument/2006/relationships/hyperlink" Target="http://www.photos-public-domain.com/2010/12/21/ice-cubes/" TargetMode="External"/><Relationship Id="rId2" Type="http://schemas.openxmlformats.org/officeDocument/2006/relationships/image" Target="../media/image7.gif"/><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2.jpeg"/><Relationship Id="rId5" Type="http://schemas.openxmlformats.org/officeDocument/2006/relationships/hyperlink" Target="https://www.remix3d.com/details/G009SX0M3SZ9" TargetMode="External"/><Relationship Id="rId10" Type="http://schemas.openxmlformats.org/officeDocument/2006/relationships/hyperlink" Target="http://de.wikipedia.org/wiki/Datei:Becherglas.svg" TargetMode="External"/><Relationship Id="rId4" Type="http://schemas.microsoft.com/office/2017/06/relationships/model3d" Target="../media/model3d1.glb"/><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3B79E-8BE9-C4C0-F548-0584FFF234FF}"/>
              </a:ext>
            </a:extLst>
          </p:cNvPr>
          <p:cNvSpPr>
            <a:spLocks noGrp="1"/>
          </p:cNvSpPr>
          <p:nvPr>
            <p:ph type="ctrTitle"/>
          </p:nvPr>
        </p:nvSpPr>
        <p:spPr>
          <a:xfrm>
            <a:off x="1524000" y="1086159"/>
            <a:ext cx="9144000" cy="1410854"/>
          </a:xfrm>
        </p:spPr>
        <p:txBody>
          <a:bodyPr>
            <a:normAutofit fontScale="90000"/>
          </a:bodyPr>
          <a:lstStyle/>
          <a:p>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POST SYNTHESIS TREATMENT OF CsPbBr</a:t>
            </a:r>
            <a:r>
              <a:rPr lang="en-US" sz="2400" b="1" baseline="-25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 NANOCRYSTALS TO ENHANCE PHOTOLUMINESCENCE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0338BA65-966B-968A-9FC9-7B5015D51DB0}"/>
              </a:ext>
            </a:extLst>
          </p:cNvPr>
          <p:cNvSpPr>
            <a:spLocks noGrp="1"/>
          </p:cNvSpPr>
          <p:nvPr>
            <p:ph type="subTitle" idx="1"/>
          </p:nvPr>
        </p:nvSpPr>
        <p:spPr>
          <a:xfrm>
            <a:off x="1524000" y="1963613"/>
            <a:ext cx="9144000" cy="1198418"/>
          </a:xfrm>
        </p:spPr>
        <p:txBody>
          <a:bodyPr>
            <a:normAutofit/>
          </a:bodyPr>
          <a:lstStyle/>
          <a:p>
            <a:pPr marL="56515" marR="64770" algn="ct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UNDER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SUPERVISION OF</a:t>
            </a:r>
          </a:p>
          <a:p>
            <a:pPr marL="56515" marR="64770" algn="ctr">
              <a:lnSpc>
                <a:spcPct val="107000"/>
              </a:lnSpc>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a:t>
            </a:r>
            <a:r>
              <a:rPr lang="en-US" sz="1800" b="1"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MURALI</a:t>
            </a:r>
            <a:r>
              <a:rPr lang="en-US" sz="18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BANAVOTH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pic>
        <p:nvPicPr>
          <p:cNvPr id="6" name="image1.jpeg">
            <a:extLst>
              <a:ext uri="{FF2B5EF4-FFF2-40B4-BE49-F238E27FC236}">
                <a16:creationId xmlns:a16="http://schemas.microsoft.com/office/drawing/2014/main" id="{70C4F1D9-178F-7146-E9CA-D60DF77DAF5A}"/>
              </a:ext>
            </a:extLst>
          </p:cNvPr>
          <p:cNvPicPr>
            <a:picLocks noChangeAspect="1"/>
          </p:cNvPicPr>
          <p:nvPr/>
        </p:nvPicPr>
        <p:blipFill>
          <a:blip r:embed="rId2" cstate="print"/>
          <a:stretch>
            <a:fillRect/>
          </a:stretch>
        </p:blipFill>
        <p:spPr>
          <a:xfrm>
            <a:off x="1469215" y="3411505"/>
            <a:ext cx="2188383" cy="2240542"/>
          </a:xfrm>
          <a:prstGeom prst="rect">
            <a:avLst/>
          </a:prstGeom>
        </p:spPr>
      </p:pic>
      <p:pic>
        <p:nvPicPr>
          <p:cNvPr id="8" name="Picture 7" descr="Screenshot (8)">
            <a:extLst>
              <a:ext uri="{FF2B5EF4-FFF2-40B4-BE49-F238E27FC236}">
                <a16:creationId xmlns:a16="http://schemas.microsoft.com/office/drawing/2014/main" id="{A736ABCE-1070-A4BE-D42D-DE889A5FDB8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334" r="5941"/>
          <a:stretch/>
        </p:blipFill>
        <p:spPr>
          <a:xfrm>
            <a:off x="8885384" y="2746395"/>
            <a:ext cx="2151012" cy="3056953"/>
          </a:xfrm>
          <a:prstGeom prst="rect">
            <a:avLst/>
          </a:prstGeom>
        </p:spPr>
      </p:pic>
      <p:sp>
        <p:nvSpPr>
          <p:cNvPr id="10" name="TextBox 9">
            <a:extLst>
              <a:ext uri="{FF2B5EF4-FFF2-40B4-BE49-F238E27FC236}">
                <a16:creationId xmlns:a16="http://schemas.microsoft.com/office/drawing/2014/main" id="{E0311460-23A4-7CC7-8724-50582041B5A1}"/>
              </a:ext>
            </a:extLst>
          </p:cNvPr>
          <p:cNvSpPr txBox="1"/>
          <p:nvPr/>
        </p:nvSpPr>
        <p:spPr>
          <a:xfrm>
            <a:off x="5375564" y="3716213"/>
            <a:ext cx="1791854" cy="954107"/>
          </a:xfrm>
          <a:prstGeom prst="rect">
            <a:avLst/>
          </a:prstGeom>
          <a:noFill/>
        </p:spPr>
        <p:txBody>
          <a:bodyPr wrap="square" rtlCol="0">
            <a:spAutoFit/>
          </a:bodyPr>
          <a:lstStyle/>
          <a:p>
            <a:r>
              <a:rPr lang="en-IN" dirty="0"/>
              <a:t>  Presented by</a:t>
            </a:r>
          </a:p>
          <a:p>
            <a:r>
              <a:rPr lang="en-IN" sz="2000" dirty="0"/>
              <a:t>  Amit </a:t>
            </a:r>
            <a:r>
              <a:rPr lang="en-IN" sz="2000" dirty="0" err="1"/>
              <a:t>Naskar</a:t>
            </a:r>
            <a:endParaRPr lang="en-IN" sz="2000" dirty="0"/>
          </a:p>
          <a:p>
            <a:r>
              <a:rPr lang="en-IN" dirty="0"/>
              <a:t>    20CHMS66</a:t>
            </a:r>
          </a:p>
        </p:txBody>
      </p:sp>
      <p:sp>
        <p:nvSpPr>
          <p:cNvPr id="12" name="Rectangle 11">
            <a:extLst>
              <a:ext uri="{FF2B5EF4-FFF2-40B4-BE49-F238E27FC236}">
                <a16:creationId xmlns:a16="http://schemas.microsoft.com/office/drawing/2014/main" id="{96ABE16B-205C-095F-1EAE-B44231E9A9A3}"/>
              </a:ext>
            </a:extLst>
          </p:cNvPr>
          <p:cNvSpPr/>
          <p:nvPr/>
        </p:nvSpPr>
        <p:spPr>
          <a:xfrm>
            <a:off x="1" y="5972"/>
            <a:ext cx="12192000" cy="716774"/>
          </a:xfrm>
          <a:prstGeom prst="rect">
            <a:avLst/>
          </a:prstGeom>
          <a:gradFill>
            <a:gsLst>
              <a:gs pos="18000">
                <a:srgbClr val="002060"/>
              </a:gs>
              <a:gs pos="100000">
                <a:srgbClr val="15A1A2">
                  <a:shade val="100000"/>
                  <a:satMod val="115000"/>
                </a:srgbClr>
              </a:gs>
            </a:gsLst>
            <a:lin ang="0" scaled="1"/>
          </a:gra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5" name="Slide Number Placeholder 14">
            <a:extLst>
              <a:ext uri="{FF2B5EF4-FFF2-40B4-BE49-F238E27FC236}">
                <a16:creationId xmlns:a16="http://schemas.microsoft.com/office/drawing/2014/main" id="{8658CB1A-C6CA-7C57-D560-C2C639814D9C}"/>
              </a:ext>
            </a:extLst>
          </p:cNvPr>
          <p:cNvSpPr>
            <a:spLocks noGrp="1"/>
          </p:cNvSpPr>
          <p:nvPr>
            <p:ph type="sldNum" sz="quarter" idx="12"/>
          </p:nvPr>
        </p:nvSpPr>
        <p:spPr>
          <a:xfrm>
            <a:off x="8589290" y="6389310"/>
            <a:ext cx="2743200" cy="365125"/>
          </a:xfrm>
        </p:spPr>
        <p:txBody>
          <a:bodyPr/>
          <a:lstStyle/>
          <a:p>
            <a:fld id="{1613D59D-1F26-43DA-B4F8-670F7817FB5A}" type="slidenum">
              <a:rPr lang="en-IN" smtClean="0"/>
              <a:t>1</a:t>
            </a:fld>
            <a:endParaRPr lang="en-IN" dirty="0"/>
          </a:p>
        </p:txBody>
      </p:sp>
    </p:spTree>
    <p:extLst>
      <p:ext uri="{BB962C8B-B14F-4D97-AF65-F5344CB8AC3E}">
        <p14:creationId xmlns:p14="http://schemas.microsoft.com/office/powerpoint/2010/main" val="3240243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1"/>
            <a:ext cx="12192000" cy="716774"/>
          </a:xfrm>
          <a:prstGeom prst="rect">
            <a:avLst/>
          </a:prstGeom>
          <a:gradFill flip="none" rotWithShape="1">
            <a:gsLst>
              <a:gs pos="18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endParaRPr lang="en-US" sz="2400">
              <a:solidFill>
                <a:prstClr val="white"/>
              </a:solidFill>
              <a:latin typeface="Calibri"/>
            </a:endParaRPr>
          </a:p>
        </p:txBody>
      </p:sp>
      <p:grpSp>
        <p:nvGrpSpPr>
          <p:cNvPr id="40" name="Group 39">
            <a:extLst>
              <a:ext uri="{FF2B5EF4-FFF2-40B4-BE49-F238E27FC236}">
                <a16:creationId xmlns:a16="http://schemas.microsoft.com/office/drawing/2014/main" id="{CAD910AC-E6F0-4360-A1CD-14A8F1F6B047}"/>
              </a:ext>
            </a:extLst>
          </p:cNvPr>
          <p:cNvGrpSpPr/>
          <p:nvPr/>
        </p:nvGrpSpPr>
        <p:grpSpPr>
          <a:xfrm>
            <a:off x="2628063" y="-1231"/>
            <a:ext cx="508651" cy="2575529"/>
            <a:chOff x="3942094" y="-1847"/>
            <a:chExt cx="762976" cy="3863294"/>
          </a:xfrm>
          <a:solidFill>
            <a:srgbClr val="1ED0A6"/>
          </a:solidFill>
        </p:grpSpPr>
        <p:sp>
          <p:nvSpPr>
            <p:cNvPr id="41" name="Rectangle 40">
              <a:extLst>
                <a:ext uri="{FF2B5EF4-FFF2-40B4-BE49-F238E27FC236}">
                  <a16:creationId xmlns:a16="http://schemas.microsoft.com/office/drawing/2014/main" id="{3AC79D35-2391-4DDF-B6DD-904EE89A4293}"/>
                </a:ext>
              </a:extLst>
            </p:cNvPr>
            <p:cNvSpPr/>
            <p:nvPr/>
          </p:nvSpPr>
          <p:spPr>
            <a:xfrm>
              <a:off x="4288244" y="-1847"/>
              <a:ext cx="72000" cy="2651760"/>
            </a:xfrm>
            <a:prstGeom prst="rect">
              <a:avLst/>
            </a:prstGeom>
            <a:grp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black"/>
                </a:solidFill>
                <a:latin typeface="Arial"/>
                <a:ea typeface="맑은 고딕" panose="020B0503020000020004" pitchFamily="34" charset="-127"/>
              </a:endParaRPr>
            </a:p>
          </p:txBody>
        </p:sp>
        <p:sp>
          <p:nvSpPr>
            <p:cNvPr id="42" name="Freeform: Shape 41">
              <a:extLst>
                <a:ext uri="{FF2B5EF4-FFF2-40B4-BE49-F238E27FC236}">
                  <a16:creationId xmlns:a16="http://schemas.microsoft.com/office/drawing/2014/main" id="{427128D9-D3E8-4905-8BA7-DE8593538154}"/>
                </a:ext>
              </a:extLst>
            </p:cNvPr>
            <p:cNvSpPr/>
            <p:nvPr/>
          </p:nvSpPr>
          <p:spPr>
            <a:xfrm rot="5400000" flipH="1">
              <a:off x="3694759" y="2851136"/>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9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9 w 1075004"/>
                <a:gd name="connsiteY13" fmla="*/ 345279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3 h 652173"/>
                <a:gd name="connsiteX20" fmla="*/ 421371 w 1075004"/>
                <a:gd name="connsiteY20" fmla="*/ 402653 h 652173"/>
                <a:gd name="connsiteX21" fmla="*/ 421370 w 1075004"/>
                <a:gd name="connsiteY21" fmla="*/ 417162 h 652173"/>
                <a:gd name="connsiteX22" fmla="*/ 762268 w 1075004"/>
                <a:gd name="connsiteY22" fmla="*/ 381333 h 652173"/>
                <a:gd name="connsiteX23" fmla="*/ 780980 w 1075004"/>
                <a:gd name="connsiteY23" fmla="*/ 396486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1 h 652173"/>
                <a:gd name="connsiteX29" fmla="*/ 398669 w 1075004"/>
                <a:gd name="connsiteY29" fmla="*/ 402653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70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70 w 1075004"/>
                <a:gd name="connsiteY43" fmla="*/ 253854 h 652173"/>
                <a:gd name="connsiteX44" fmla="*/ 398670 w 1075004"/>
                <a:gd name="connsiteY44" fmla="*/ 226224 h 652173"/>
                <a:gd name="connsiteX45" fmla="*/ 399282 w 1075004"/>
                <a:gd name="connsiteY45" fmla="*/ 224745 h 652173"/>
                <a:gd name="connsiteX46" fmla="*/ 397876 w 1075004"/>
                <a:gd name="connsiteY46" fmla="*/ 220285 h 652173"/>
                <a:gd name="connsiteX47" fmla="*/ 416321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6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5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4 h 652173"/>
                <a:gd name="connsiteX74" fmla="*/ 954893 w 1075004"/>
                <a:gd name="connsiteY74" fmla="*/ 197162 h 652173"/>
                <a:gd name="connsiteX75" fmla="*/ 925591 w 1075004"/>
                <a:gd name="connsiteY75" fmla="*/ 226464 h 652173"/>
                <a:gd name="connsiteX76" fmla="*/ 925591 w 1075004"/>
                <a:gd name="connsiteY76" fmla="*/ 425710 h 652173"/>
                <a:gd name="connsiteX77" fmla="*/ 954893 w 1075004"/>
                <a:gd name="connsiteY77" fmla="*/ 455012 h 652173"/>
                <a:gd name="connsiteX78" fmla="*/ 954893 w 1075004"/>
                <a:gd name="connsiteY78" fmla="*/ 455011 h 652173"/>
                <a:gd name="connsiteX79" fmla="*/ 984194 w 1075004"/>
                <a:gd name="connsiteY79" fmla="*/ 425710 h 652173"/>
                <a:gd name="connsiteX80" fmla="*/ 1075004 w 1075004"/>
                <a:gd name="connsiteY80" fmla="*/ 402269 h 652173"/>
                <a:gd name="connsiteX81" fmla="*/ 1075004 w 1075004"/>
                <a:gd name="connsiteY81" fmla="*/ 249904 h 652173"/>
                <a:gd name="connsiteX82" fmla="*/ 1045703 w 1075004"/>
                <a:gd name="connsiteY82" fmla="*/ 220603 h 652173"/>
                <a:gd name="connsiteX83" fmla="*/ 1016402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9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6"/>
                    <a:pt x="763875" y="269396"/>
                  </a:cubicBezTo>
                  <a:cubicBezTo>
                    <a:pt x="649707" y="259408"/>
                    <a:pt x="535539" y="249420"/>
                    <a:pt x="421371" y="239431"/>
                  </a:cubicBezTo>
                  <a:lnTo>
                    <a:pt x="421370" y="253854"/>
                  </a:lnTo>
                  <a:lnTo>
                    <a:pt x="447078" y="253854"/>
                  </a:lnTo>
                  <a:cubicBezTo>
                    <a:pt x="456482" y="253853"/>
                    <a:pt x="464104" y="261477"/>
                    <a:pt x="464104" y="270880"/>
                  </a:cubicBezTo>
                  <a:lnTo>
                    <a:pt x="464104" y="270879"/>
                  </a:lnTo>
                  <a:cubicBezTo>
                    <a:pt x="464104" y="280282"/>
                    <a:pt x="456482" y="287905"/>
                    <a:pt x="447079" y="287905"/>
                  </a:cubicBezTo>
                  <a:cubicBezTo>
                    <a:pt x="438509" y="287905"/>
                    <a:pt x="429940" y="287905"/>
                    <a:pt x="421371" y="287905"/>
                  </a:cubicBezTo>
                  <a:lnTo>
                    <a:pt x="421371" y="311227"/>
                  </a:lnTo>
                  <a:lnTo>
                    <a:pt x="447078" y="311227"/>
                  </a:lnTo>
                  <a:cubicBezTo>
                    <a:pt x="456482" y="311227"/>
                    <a:pt x="464104" y="318850"/>
                    <a:pt x="464104" y="328253"/>
                  </a:cubicBezTo>
                  <a:lnTo>
                    <a:pt x="464104" y="328253"/>
                  </a:lnTo>
                  <a:cubicBezTo>
                    <a:pt x="464104" y="337655"/>
                    <a:pt x="456482" y="345279"/>
                    <a:pt x="447079" y="345279"/>
                  </a:cubicBezTo>
                  <a:cubicBezTo>
                    <a:pt x="438510" y="345279"/>
                    <a:pt x="429940" y="345279"/>
                    <a:pt x="421371" y="345279"/>
                  </a:cubicBezTo>
                  <a:lnTo>
                    <a:pt x="421371" y="368601"/>
                  </a:lnTo>
                  <a:lnTo>
                    <a:pt x="447078" y="368601"/>
                  </a:lnTo>
                  <a:cubicBezTo>
                    <a:pt x="456482" y="368601"/>
                    <a:pt x="464104" y="376224"/>
                    <a:pt x="464104" y="385627"/>
                  </a:cubicBezTo>
                  <a:lnTo>
                    <a:pt x="464104" y="385627"/>
                  </a:lnTo>
                  <a:cubicBezTo>
                    <a:pt x="464104" y="395030"/>
                    <a:pt x="456481" y="402652"/>
                    <a:pt x="447079" y="402653"/>
                  </a:cubicBezTo>
                  <a:cubicBezTo>
                    <a:pt x="438509" y="402653"/>
                    <a:pt x="429940" y="402652"/>
                    <a:pt x="421371" y="402653"/>
                  </a:cubicBezTo>
                  <a:lnTo>
                    <a:pt x="421370" y="417162"/>
                  </a:lnTo>
                  <a:lnTo>
                    <a:pt x="762268" y="381333"/>
                  </a:lnTo>
                  <a:cubicBezTo>
                    <a:pt x="771619" y="380350"/>
                    <a:pt x="779997" y="387134"/>
                    <a:pt x="780980" y="396486"/>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1"/>
                  </a:lnTo>
                  <a:lnTo>
                    <a:pt x="398669" y="402653"/>
                  </a:lnTo>
                  <a:lnTo>
                    <a:pt x="372962" y="402653"/>
                  </a:lnTo>
                  <a:cubicBezTo>
                    <a:pt x="363559" y="402653"/>
                    <a:pt x="355936" y="395031"/>
                    <a:pt x="355936" y="385627"/>
                  </a:cubicBezTo>
                  <a:cubicBezTo>
                    <a:pt x="355936" y="376224"/>
                    <a:pt x="363559" y="368601"/>
                    <a:pt x="372962" y="368601"/>
                  </a:cubicBezTo>
                  <a:lnTo>
                    <a:pt x="398669" y="368601"/>
                  </a:lnTo>
                  <a:lnTo>
                    <a:pt x="398670" y="345279"/>
                  </a:lnTo>
                  <a:lnTo>
                    <a:pt x="372962" y="345279"/>
                  </a:lnTo>
                  <a:cubicBezTo>
                    <a:pt x="363559" y="345279"/>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7"/>
                    <a:pt x="363559" y="253854"/>
                    <a:pt x="372962" y="253854"/>
                  </a:cubicBezTo>
                  <a:lnTo>
                    <a:pt x="398670" y="253854"/>
                  </a:lnTo>
                  <a:lnTo>
                    <a:pt x="398670" y="226224"/>
                  </a:lnTo>
                  <a:cubicBezTo>
                    <a:pt x="398670" y="225699"/>
                    <a:pt x="398705" y="225182"/>
                    <a:pt x="399282" y="224745"/>
                  </a:cubicBezTo>
                  <a:lnTo>
                    <a:pt x="397876" y="220285"/>
                  </a:lnTo>
                  <a:cubicBezTo>
                    <a:pt x="398695" y="210917"/>
                    <a:pt x="406953" y="203988"/>
                    <a:pt x="416321" y="204807"/>
                  </a:cubicBezTo>
                  <a:lnTo>
                    <a:pt x="766843" y="235474"/>
                  </a:lnTo>
                  <a:cubicBezTo>
                    <a:pt x="776210" y="236294"/>
                    <a:pt x="783140" y="244551"/>
                    <a:pt x="782320" y="253919"/>
                  </a:cubicBezTo>
                  <a:close/>
                  <a:moveTo>
                    <a:pt x="787242" y="326087"/>
                  </a:moveTo>
                  <a:lnTo>
                    <a:pt x="785600" y="324445"/>
                  </a:lnTo>
                  <a:lnTo>
                    <a:pt x="785600" y="237207"/>
                  </a:lnTo>
                  <a:cubicBezTo>
                    <a:pt x="785600" y="202145"/>
                    <a:pt x="757177" y="173722"/>
                    <a:pt x="722116" y="173722"/>
                  </a:cubicBezTo>
                  <a:lnTo>
                    <a:pt x="634876" y="173722"/>
                  </a:lnTo>
                  <a:cubicBezTo>
                    <a:pt x="608806"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5" y="556665"/>
                  </a:cubicBezTo>
                  <a:lnTo>
                    <a:pt x="634877" y="478452"/>
                  </a:lnTo>
                  <a:lnTo>
                    <a:pt x="722116" y="478453"/>
                  </a:lnTo>
                  <a:cubicBezTo>
                    <a:pt x="757178" y="478452"/>
                    <a:pt x="785600" y="450030"/>
                    <a:pt x="785600" y="414968"/>
                  </a:cubicBezTo>
                  <a:lnTo>
                    <a:pt x="785600" y="327729"/>
                  </a:lnTo>
                  <a:close/>
                  <a:moveTo>
                    <a:pt x="893383" y="437430"/>
                  </a:moveTo>
                  <a:lnTo>
                    <a:pt x="893383" y="214743"/>
                  </a:lnTo>
                  <a:cubicBezTo>
                    <a:pt x="893383" y="198561"/>
                    <a:pt x="880265" y="185442"/>
                    <a:pt x="864082" y="185442"/>
                  </a:cubicBezTo>
                  <a:cubicBezTo>
                    <a:pt x="847900"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4"/>
                  </a:lnTo>
                  <a:cubicBezTo>
                    <a:pt x="984193" y="210281"/>
                    <a:pt x="971075" y="197163"/>
                    <a:pt x="954893" y="197162"/>
                  </a:cubicBezTo>
                  <a:cubicBezTo>
                    <a:pt x="938710" y="197163"/>
                    <a:pt x="925591" y="210281"/>
                    <a:pt x="925591" y="226464"/>
                  </a:cubicBezTo>
                  <a:lnTo>
                    <a:pt x="925591" y="425710"/>
                  </a:lnTo>
                  <a:cubicBezTo>
                    <a:pt x="925591" y="441893"/>
                    <a:pt x="938710" y="455012"/>
                    <a:pt x="954893" y="455012"/>
                  </a:cubicBezTo>
                  <a:lnTo>
                    <a:pt x="954893" y="455011"/>
                  </a:lnTo>
                  <a:cubicBezTo>
                    <a:pt x="971075" y="455011"/>
                    <a:pt x="984194" y="441892"/>
                    <a:pt x="984194" y="425710"/>
                  </a:cubicBezTo>
                  <a:close/>
                  <a:moveTo>
                    <a:pt x="1075004" y="402269"/>
                  </a:moveTo>
                  <a:lnTo>
                    <a:pt x="1075004" y="249904"/>
                  </a:lnTo>
                  <a:cubicBezTo>
                    <a:pt x="1075004" y="233721"/>
                    <a:pt x="1061885" y="220603"/>
                    <a:pt x="1045703" y="220603"/>
                  </a:cubicBezTo>
                  <a:cubicBezTo>
                    <a:pt x="1029520" y="220603"/>
                    <a:pt x="1016402" y="233721"/>
                    <a:pt x="1016402" y="249904"/>
                  </a:cubicBezTo>
                  <a:lnTo>
                    <a:pt x="1016402" y="402269"/>
                  </a:lnTo>
                  <a:cubicBezTo>
                    <a:pt x="1016402" y="418452"/>
                    <a:pt x="1029520" y="431570"/>
                    <a:pt x="1045703" y="431570"/>
                  </a:cubicBezTo>
                  <a:lnTo>
                    <a:pt x="1045703" y="431570"/>
                  </a:lnTo>
                  <a:cubicBezTo>
                    <a:pt x="1061885" y="431570"/>
                    <a:pt x="1075004" y="418451"/>
                    <a:pt x="1075004" y="402269"/>
                  </a:cubicBezTo>
                  <a:close/>
                </a:path>
              </a:pathLst>
            </a:custGeom>
            <a:grpFill/>
            <a:ln w="12700" cap="flat" cmpd="sng" algn="ctr">
              <a:noFill/>
              <a:prstDash val="solid"/>
              <a:miter lim="800000"/>
            </a:ln>
            <a:effectLst/>
          </p:spPr>
          <p:txBody>
            <a:bodyPr rot="0" spcFirstLastPara="0" vert="horz" wrap="square" lIns="60960" tIns="30480" rIns="60960" bIns="3048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609630">
                <a:defRPr/>
              </a:pPr>
              <a:endParaRPr lang="ko-KR" altLang="en-US" sz="1200" dirty="0">
                <a:solidFill>
                  <a:prstClr val="black"/>
                </a:solidFill>
                <a:latin typeface="Arial"/>
                <a:ea typeface="맑은 고딕" panose="020B0503020000020004" pitchFamily="34" charset="-127"/>
              </a:endParaRPr>
            </a:p>
          </p:txBody>
        </p:sp>
      </p:grpSp>
      <p:grpSp>
        <p:nvGrpSpPr>
          <p:cNvPr id="43" name="Group 42">
            <a:extLst>
              <a:ext uri="{FF2B5EF4-FFF2-40B4-BE49-F238E27FC236}">
                <a16:creationId xmlns:a16="http://schemas.microsoft.com/office/drawing/2014/main" id="{C7DBFF38-2603-4BBB-879B-F729F9F1A783}"/>
              </a:ext>
            </a:extLst>
          </p:cNvPr>
          <p:cNvGrpSpPr/>
          <p:nvPr/>
        </p:nvGrpSpPr>
        <p:grpSpPr>
          <a:xfrm>
            <a:off x="2105733" y="-1231"/>
            <a:ext cx="508651" cy="1957734"/>
            <a:chOff x="3158599" y="-1847"/>
            <a:chExt cx="762976" cy="2936601"/>
          </a:xfrm>
          <a:solidFill>
            <a:srgbClr val="565874"/>
          </a:solidFill>
        </p:grpSpPr>
        <p:sp>
          <p:nvSpPr>
            <p:cNvPr id="44" name="Rectangle 43">
              <a:extLst>
                <a:ext uri="{FF2B5EF4-FFF2-40B4-BE49-F238E27FC236}">
                  <a16:creationId xmlns:a16="http://schemas.microsoft.com/office/drawing/2014/main" id="{418731B5-7186-4968-8EA2-15BA561CF831}"/>
                </a:ext>
              </a:extLst>
            </p:cNvPr>
            <p:cNvSpPr/>
            <p:nvPr/>
          </p:nvSpPr>
          <p:spPr>
            <a:xfrm>
              <a:off x="3501625" y="-1847"/>
              <a:ext cx="72000" cy="1737360"/>
            </a:xfrm>
            <a:prstGeom prst="rect">
              <a:avLst/>
            </a:prstGeom>
            <a:grp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black"/>
                </a:solidFill>
                <a:latin typeface="Arial"/>
                <a:ea typeface="맑은 고딕" panose="020B0503020000020004" pitchFamily="34" charset="-127"/>
              </a:endParaRPr>
            </a:p>
          </p:txBody>
        </p:sp>
        <p:sp>
          <p:nvSpPr>
            <p:cNvPr id="45" name="Freeform: Shape 44">
              <a:extLst>
                <a:ext uri="{FF2B5EF4-FFF2-40B4-BE49-F238E27FC236}">
                  <a16:creationId xmlns:a16="http://schemas.microsoft.com/office/drawing/2014/main" id="{566AFD95-FDF2-4D58-BBBE-E7AB35200B4C}"/>
                </a:ext>
              </a:extLst>
            </p:cNvPr>
            <p:cNvSpPr/>
            <p:nvPr/>
          </p:nvSpPr>
          <p:spPr>
            <a:xfrm rot="5400000" flipH="1">
              <a:off x="2911264" y="1924443"/>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9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9 w 1075004"/>
                <a:gd name="connsiteY13" fmla="*/ 345278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2 h 652173"/>
                <a:gd name="connsiteX20" fmla="*/ 421371 w 1075004"/>
                <a:gd name="connsiteY20" fmla="*/ 402652 h 652173"/>
                <a:gd name="connsiteX21" fmla="*/ 421370 w 1075004"/>
                <a:gd name="connsiteY21" fmla="*/ 417162 h 652173"/>
                <a:gd name="connsiteX22" fmla="*/ 762268 w 1075004"/>
                <a:gd name="connsiteY22" fmla="*/ 381332 h 652173"/>
                <a:gd name="connsiteX23" fmla="*/ 780980 w 1075004"/>
                <a:gd name="connsiteY23" fmla="*/ 396486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0 h 652173"/>
                <a:gd name="connsiteX29" fmla="*/ 398669 w 1075004"/>
                <a:gd name="connsiteY29" fmla="*/ 402652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70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70 w 1075004"/>
                <a:gd name="connsiteY43" fmla="*/ 253854 h 652173"/>
                <a:gd name="connsiteX44" fmla="*/ 398670 w 1075004"/>
                <a:gd name="connsiteY44" fmla="*/ 226224 h 652173"/>
                <a:gd name="connsiteX45" fmla="*/ 399282 w 1075004"/>
                <a:gd name="connsiteY45" fmla="*/ 224745 h 652173"/>
                <a:gd name="connsiteX46" fmla="*/ 397876 w 1075004"/>
                <a:gd name="connsiteY46" fmla="*/ 220285 h 652173"/>
                <a:gd name="connsiteX47" fmla="*/ 416321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6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5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4 h 652173"/>
                <a:gd name="connsiteX74" fmla="*/ 954892 w 1075004"/>
                <a:gd name="connsiteY74" fmla="*/ 197162 h 652173"/>
                <a:gd name="connsiteX75" fmla="*/ 925591 w 1075004"/>
                <a:gd name="connsiteY75" fmla="*/ 226464 h 652173"/>
                <a:gd name="connsiteX76" fmla="*/ 925591 w 1075004"/>
                <a:gd name="connsiteY76" fmla="*/ 425710 h 652173"/>
                <a:gd name="connsiteX77" fmla="*/ 954892 w 1075004"/>
                <a:gd name="connsiteY77" fmla="*/ 455011 h 652173"/>
                <a:gd name="connsiteX78" fmla="*/ 954892 w 1075004"/>
                <a:gd name="connsiteY78" fmla="*/ 455011 h 652173"/>
                <a:gd name="connsiteX79" fmla="*/ 984194 w 1075004"/>
                <a:gd name="connsiteY79" fmla="*/ 425710 h 652173"/>
                <a:gd name="connsiteX80" fmla="*/ 1075004 w 1075004"/>
                <a:gd name="connsiteY80" fmla="*/ 402268 h 652173"/>
                <a:gd name="connsiteX81" fmla="*/ 1075004 w 1075004"/>
                <a:gd name="connsiteY81" fmla="*/ 249904 h 652173"/>
                <a:gd name="connsiteX82" fmla="*/ 1045703 w 1075004"/>
                <a:gd name="connsiteY82" fmla="*/ 220603 h 652173"/>
                <a:gd name="connsiteX83" fmla="*/ 1016402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8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5"/>
                    <a:pt x="763875" y="269396"/>
                  </a:cubicBezTo>
                  <a:cubicBezTo>
                    <a:pt x="649707" y="259408"/>
                    <a:pt x="535539" y="249420"/>
                    <a:pt x="421371" y="239431"/>
                  </a:cubicBezTo>
                  <a:lnTo>
                    <a:pt x="421370" y="253854"/>
                  </a:lnTo>
                  <a:lnTo>
                    <a:pt x="447078" y="253854"/>
                  </a:lnTo>
                  <a:cubicBezTo>
                    <a:pt x="456482" y="253853"/>
                    <a:pt x="464104" y="261476"/>
                    <a:pt x="464104" y="270880"/>
                  </a:cubicBezTo>
                  <a:lnTo>
                    <a:pt x="464104" y="270879"/>
                  </a:lnTo>
                  <a:cubicBezTo>
                    <a:pt x="464104" y="280282"/>
                    <a:pt x="456482" y="287905"/>
                    <a:pt x="447079" y="287905"/>
                  </a:cubicBezTo>
                  <a:cubicBezTo>
                    <a:pt x="438509" y="287905"/>
                    <a:pt x="429940" y="287905"/>
                    <a:pt x="421371" y="287905"/>
                  </a:cubicBezTo>
                  <a:lnTo>
                    <a:pt x="421371" y="311227"/>
                  </a:lnTo>
                  <a:lnTo>
                    <a:pt x="447078" y="311227"/>
                  </a:lnTo>
                  <a:cubicBezTo>
                    <a:pt x="456482" y="311227"/>
                    <a:pt x="464104" y="318850"/>
                    <a:pt x="464104" y="328253"/>
                  </a:cubicBezTo>
                  <a:lnTo>
                    <a:pt x="464104" y="328253"/>
                  </a:lnTo>
                  <a:cubicBezTo>
                    <a:pt x="464104" y="337655"/>
                    <a:pt x="456482" y="345278"/>
                    <a:pt x="447079" y="345278"/>
                  </a:cubicBezTo>
                  <a:cubicBezTo>
                    <a:pt x="438510" y="345278"/>
                    <a:pt x="429940" y="345278"/>
                    <a:pt x="421371" y="345279"/>
                  </a:cubicBezTo>
                  <a:lnTo>
                    <a:pt x="421371" y="368601"/>
                  </a:lnTo>
                  <a:lnTo>
                    <a:pt x="447078" y="368601"/>
                  </a:lnTo>
                  <a:cubicBezTo>
                    <a:pt x="456482" y="368601"/>
                    <a:pt x="464104" y="376223"/>
                    <a:pt x="464104" y="385627"/>
                  </a:cubicBezTo>
                  <a:lnTo>
                    <a:pt x="464104" y="385627"/>
                  </a:lnTo>
                  <a:cubicBezTo>
                    <a:pt x="464104" y="395030"/>
                    <a:pt x="456481" y="402652"/>
                    <a:pt x="447079" y="402652"/>
                  </a:cubicBezTo>
                  <a:cubicBezTo>
                    <a:pt x="438509" y="402652"/>
                    <a:pt x="429940" y="402652"/>
                    <a:pt x="421371" y="402652"/>
                  </a:cubicBezTo>
                  <a:lnTo>
                    <a:pt x="421370" y="417162"/>
                  </a:lnTo>
                  <a:lnTo>
                    <a:pt x="762268" y="381332"/>
                  </a:lnTo>
                  <a:cubicBezTo>
                    <a:pt x="771619" y="380350"/>
                    <a:pt x="779997" y="387134"/>
                    <a:pt x="780980" y="396486"/>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0"/>
                  </a:lnTo>
                  <a:lnTo>
                    <a:pt x="398669" y="402652"/>
                  </a:lnTo>
                  <a:lnTo>
                    <a:pt x="372962" y="402653"/>
                  </a:lnTo>
                  <a:cubicBezTo>
                    <a:pt x="363559" y="402653"/>
                    <a:pt x="355936" y="395031"/>
                    <a:pt x="355936" y="385627"/>
                  </a:cubicBezTo>
                  <a:cubicBezTo>
                    <a:pt x="355936" y="376224"/>
                    <a:pt x="363559" y="368601"/>
                    <a:pt x="372962" y="368601"/>
                  </a:cubicBezTo>
                  <a:lnTo>
                    <a:pt x="398669" y="368601"/>
                  </a:lnTo>
                  <a:lnTo>
                    <a:pt x="398670" y="345279"/>
                  </a:lnTo>
                  <a:lnTo>
                    <a:pt x="372962" y="345279"/>
                  </a:lnTo>
                  <a:cubicBezTo>
                    <a:pt x="363559" y="345278"/>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6"/>
                    <a:pt x="363559" y="253854"/>
                    <a:pt x="372962" y="253854"/>
                  </a:cubicBezTo>
                  <a:lnTo>
                    <a:pt x="398670" y="253854"/>
                  </a:lnTo>
                  <a:lnTo>
                    <a:pt x="398670" y="226224"/>
                  </a:lnTo>
                  <a:cubicBezTo>
                    <a:pt x="398670" y="225699"/>
                    <a:pt x="398705" y="225182"/>
                    <a:pt x="399282" y="224745"/>
                  </a:cubicBezTo>
                  <a:lnTo>
                    <a:pt x="397876" y="220285"/>
                  </a:lnTo>
                  <a:cubicBezTo>
                    <a:pt x="398695" y="210917"/>
                    <a:pt x="406953" y="203988"/>
                    <a:pt x="416321" y="204807"/>
                  </a:cubicBezTo>
                  <a:lnTo>
                    <a:pt x="766843" y="235474"/>
                  </a:lnTo>
                  <a:cubicBezTo>
                    <a:pt x="776210" y="236294"/>
                    <a:pt x="783140" y="244551"/>
                    <a:pt x="782320" y="253919"/>
                  </a:cubicBezTo>
                  <a:close/>
                  <a:moveTo>
                    <a:pt x="787242" y="326087"/>
                  </a:moveTo>
                  <a:lnTo>
                    <a:pt x="785600" y="324445"/>
                  </a:lnTo>
                  <a:lnTo>
                    <a:pt x="785600" y="237207"/>
                  </a:lnTo>
                  <a:cubicBezTo>
                    <a:pt x="785600" y="202145"/>
                    <a:pt x="757177" y="173722"/>
                    <a:pt x="722116" y="173722"/>
                  </a:cubicBezTo>
                  <a:lnTo>
                    <a:pt x="634876" y="173722"/>
                  </a:lnTo>
                  <a:cubicBezTo>
                    <a:pt x="608806"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5" y="556665"/>
                  </a:cubicBezTo>
                  <a:lnTo>
                    <a:pt x="634877" y="478452"/>
                  </a:lnTo>
                  <a:lnTo>
                    <a:pt x="722116" y="478453"/>
                  </a:lnTo>
                  <a:cubicBezTo>
                    <a:pt x="757178" y="478452"/>
                    <a:pt x="785600" y="450029"/>
                    <a:pt x="785600" y="414968"/>
                  </a:cubicBezTo>
                  <a:lnTo>
                    <a:pt x="785600" y="327729"/>
                  </a:lnTo>
                  <a:close/>
                  <a:moveTo>
                    <a:pt x="893383" y="437430"/>
                  </a:moveTo>
                  <a:lnTo>
                    <a:pt x="893383" y="214743"/>
                  </a:lnTo>
                  <a:cubicBezTo>
                    <a:pt x="893383" y="198561"/>
                    <a:pt x="880265" y="185442"/>
                    <a:pt x="864082" y="185442"/>
                  </a:cubicBezTo>
                  <a:cubicBezTo>
                    <a:pt x="847900"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4"/>
                  </a:lnTo>
                  <a:cubicBezTo>
                    <a:pt x="984193" y="210281"/>
                    <a:pt x="971075" y="197163"/>
                    <a:pt x="954892" y="197162"/>
                  </a:cubicBezTo>
                  <a:cubicBezTo>
                    <a:pt x="938710" y="197163"/>
                    <a:pt x="925591" y="210281"/>
                    <a:pt x="925591" y="226464"/>
                  </a:cubicBezTo>
                  <a:lnTo>
                    <a:pt x="925591" y="425710"/>
                  </a:lnTo>
                  <a:cubicBezTo>
                    <a:pt x="925591" y="441893"/>
                    <a:pt x="938710" y="455011"/>
                    <a:pt x="954892" y="455011"/>
                  </a:cubicBezTo>
                  <a:lnTo>
                    <a:pt x="954892" y="455011"/>
                  </a:lnTo>
                  <a:cubicBezTo>
                    <a:pt x="971075" y="455011"/>
                    <a:pt x="984194" y="441892"/>
                    <a:pt x="984194" y="425710"/>
                  </a:cubicBezTo>
                  <a:close/>
                  <a:moveTo>
                    <a:pt x="1075004" y="402268"/>
                  </a:moveTo>
                  <a:lnTo>
                    <a:pt x="1075004" y="249904"/>
                  </a:lnTo>
                  <a:cubicBezTo>
                    <a:pt x="1075004" y="233721"/>
                    <a:pt x="1061885" y="220603"/>
                    <a:pt x="1045703" y="220603"/>
                  </a:cubicBezTo>
                  <a:cubicBezTo>
                    <a:pt x="1029520" y="220603"/>
                    <a:pt x="1016402" y="233721"/>
                    <a:pt x="1016402" y="249904"/>
                  </a:cubicBezTo>
                  <a:lnTo>
                    <a:pt x="1016402" y="402269"/>
                  </a:lnTo>
                  <a:cubicBezTo>
                    <a:pt x="1016402" y="418451"/>
                    <a:pt x="1029520" y="431570"/>
                    <a:pt x="1045703" y="431570"/>
                  </a:cubicBezTo>
                  <a:lnTo>
                    <a:pt x="1045703" y="431570"/>
                  </a:lnTo>
                  <a:cubicBezTo>
                    <a:pt x="1061885" y="431570"/>
                    <a:pt x="1075004" y="418451"/>
                    <a:pt x="1075004" y="402268"/>
                  </a:cubicBezTo>
                  <a:close/>
                </a:path>
              </a:pathLst>
            </a:custGeom>
            <a:grpFill/>
            <a:ln w="12700" cap="flat" cmpd="sng" algn="ctr">
              <a:noFill/>
              <a:prstDash val="solid"/>
              <a:miter lim="800000"/>
            </a:ln>
            <a:effectLst/>
          </p:spPr>
          <p:txBody>
            <a:bodyPr rot="0" spcFirstLastPara="0" vert="horz" wrap="square" lIns="60960" tIns="30480" rIns="60960" bIns="3048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609630">
                <a:defRPr/>
              </a:pPr>
              <a:endParaRPr lang="ko-KR" altLang="en-US" sz="1200" dirty="0">
                <a:solidFill>
                  <a:prstClr val="black"/>
                </a:solidFill>
                <a:latin typeface="Arial"/>
                <a:ea typeface="맑은 고딕" panose="020B0503020000020004" pitchFamily="34" charset="-127"/>
              </a:endParaRPr>
            </a:p>
          </p:txBody>
        </p:sp>
      </p:grpSp>
      <p:grpSp>
        <p:nvGrpSpPr>
          <p:cNvPr id="46" name="Group 45">
            <a:extLst>
              <a:ext uri="{FF2B5EF4-FFF2-40B4-BE49-F238E27FC236}">
                <a16:creationId xmlns:a16="http://schemas.microsoft.com/office/drawing/2014/main" id="{39251FF7-C96E-4838-9A99-8E9958A80544}"/>
              </a:ext>
            </a:extLst>
          </p:cNvPr>
          <p:cNvGrpSpPr/>
          <p:nvPr/>
        </p:nvGrpSpPr>
        <p:grpSpPr>
          <a:xfrm>
            <a:off x="1343616" y="-1231"/>
            <a:ext cx="958219" cy="3659608"/>
            <a:chOff x="2015424" y="-1847"/>
            <a:chExt cx="1437328" cy="5489412"/>
          </a:xfrm>
        </p:grpSpPr>
        <p:sp>
          <p:nvSpPr>
            <p:cNvPr id="47" name="Rectangle 46">
              <a:extLst>
                <a:ext uri="{FF2B5EF4-FFF2-40B4-BE49-F238E27FC236}">
                  <a16:creationId xmlns:a16="http://schemas.microsoft.com/office/drawing/2014/main" id="{6D257EA8-F517-4A1C-800F-108BC9A87895}"/>
                </a:ext>
              </a:extLst>
            </p:cNvPr>
            <p:cNvSpPr/>
            <p:nvPr/>
          </p:nvSpPr>
          <p:spPr>
            <a:xfrm>
              <a:off x="2701620" y="-1847"/>
              <a:ext cx="72000" cy="4023360"/>
            </a:xfrm>
            <a:prstGeom prst="rect">
              <a:avLst/>
            </a:prstGeom>
            <a:solidFill>
              <a:srgbClr val="00BDFB"/>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black"/>
                </a:solidFill>
                <a:latin typeface="Arial"/>
                <a:ea typeface="맑은 고딕" panose="020B0503020000020004" pitchFamily="34" charset="-127"/>
              </a:endParaRPr>
            </a:p>
          </p:txBody>
        </p:sp>
        <p:sp>
          <p:nvSpPr>
            <p:cNvPr id="48" name="Rounded Rectangle 51">
              <a:extLst>
                <a:ext uri="{FF2B5EF4-FFF2-40B4-BE49-F238E27FC236}">
                  <a16:creationId xmlns:a16="http://schemas.microsoft.com/office/drawing/2014/main" id="{EB64889A-0F71-4717-9403-F8353880B931}"/>
                </a:ext>
              </a:extLst>
            </p:cNvPr>
            <p:cNvSpPr/>
            <p:nvPr/>
          </p:nvSpPr>
          <p:spPr>
            <a:xfrm rot="5400000" flipH="1">
              <a:off x="1970982" y="4005795"/>
              <a:ext cx="1526212" cy="143732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rgbClr val="00BDFB"/>
            </a:solidFill>
            <a:ln w="12700" cap="flat" cmpd="sng" algn="ctr">
              <a:noFill/>
              <a:prstDash val="solid"/>
              <a:miter lim="800000"/>
            </a:ln>
            <a:effectLst/>
          </p:spPr>
          <p:txBody>
            <a:bodyPr rot="0" spcFirstLastPara="0" vert="horz" wrap="square" lIns="60960" tIns="30480" rIns="60960" bIns="3048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609630">
                <a:defRPr/>
              </a:pPr>
              <a:endParaRPr lang="ko-KR" altLang="en-US" sz="1200" dirty="0">
                <a:solidFill>
                  <a:prstClr val="black"/>
                </a:solidFill>
                <a:latin typeface="Arial"/>
                <a:ea typeface="맑은 고딕" panose="020B0503020000020004" pitchFamily="34" charset="-127"/>
              </a:endParaRPr>
            </a:p>
          </p:txBody>
        </p:sp>
      </p:grpSp>
      <p:grpSp>
        <p:nvGrpSpPr>
          <p:cNvPr id="49" name="Group 48">
            <a:extLst>
              <a:ext uri="{FF2B5EF4-FFF2-40B4-BE49-F238E27FC236}">
                <a16:creationId xmlns:a16="http://schemas.microsoft.com/office/drawing/2014/main" id="{0F9558E9-ECAD-4616-9548-BF570BB9E3F3}"/>
              </a:ext>
            </a:extLst>
          </p:cNvPr>
          <p:cNvGrpSpPr/>
          <p:nvPr/>
        </p:nvGrpSpPr>
        <p:grpSpPr>
          <a:xfrm>
            <a:off x="525476" y="-19902"/>
            <a:ext cx="508652" cy="2419264"/>
            <a:chOff x="808111" y="-1847"/>
            <a:chExt cx="762978" cy="3628896"/>
          </a:xfrm>
          <a:solidFill>
            <a:srgbClr val="1ED0A6"/>
          </a:solidFill>
        </p:grpSpPr>
        <p:sp>
          <p:nvSpPr>
            <p:cNvPr id="50" name="Rectangle 49">
              <a:extLst>
                <a:ext uri="{FF2B5EF4-FFF2-40B4-BE49-F238E27FC236}">
                  <a16:creationId xmlns:a16="http://schemas.microsoft.com/office/drawing/2014/main" id="{7A68E888-73A3-487C-A0AF-BDDBD15E22CB}"/>
                </a:ext>
              </a:extLst>
            </p:cNvPr>
            <p:cNvSpPr/>
            <p:nvPr/>
          </p:nvSpPr>
          <p:spPr>
            <a:xfrm>
              <a:off x="1152817" y="-1847"/>
              <a:ext cx="72000" cy="2377440"/>
            </a:xfrm>
            <a:prstGeom prst="rect">
              <a:avLst/>
            </a:prstGeom>
            <a:grp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black"/>
                </a:solidFill>
                <a:latin typeface="Arial"/>
                <a:ea typeface="맑은 고딕" panose="020B0503020000020004" pitchFamily="34" charset="-127"/>
              </a:endParaRPr>
            </a:p>
          </p:txBody>
        </p:sp>
        <p:sp>
          <p:nvSpPr>
            <p:cNvPr id="51" name="Freeform: Shape 50">
              <a:extLst>
                <a:ext uri="{FF2B5EF4-FFF2-40B4-BE49-F238E27FC236}">
                  <a16:creationId xmlns:a16="http://schemas.microsoft.com/office/drawing/2014/main" id="{8848457D-28D0-49A2-B497-ABFD430878A3}"/>
                </a:ext>
              </a:extLst>
            </p:cNvPr>
            <p:cNvSpPr/>
            <p:nvPr/>
          </p:nvSpPr>
          <p:spPr>
            <a:xfrm rot="5400000" flipH="1">
              <a:off x="560777" y="2616737"/>
              <a:ext cx="1257646" cy="762978"/>
            </a:xfrm>
            <a:custGeom>
              <a:avLst/>
              <a:gdLst>
                <a:gd name="connsiteX0" fmla="*/ 782320 w 1075004"/>
                <a:gd name="connsiteY0" fmla="*/ 253920 h 652174"/>
                <a:gd name="connsiteX1" fmla="*/ 763875 w 1075004"/>
                <a:gd name="connsiteY1" fmla="*/ 269397 h 652174"/>
                <a:gd name="connsiteX2" fmla="*/ 421371 w 1075004"/>
                <a:gd name="connsiteY2" fmla="*/ 239432 h 652174"/>
                <a:gd name="connsiteX3" fmla="*/ 421370 w 1075004"/>
                <a:gd name="connsiteY3" fmla="*/ 253855 h 652174"/>
                <a:gd name="connsiteX4" fmla="*/ 447078 w 1075004"/>
                <a:gd name="connsiteY4" fmla="*/ 253855 h 652174"/>
                <a:gd name="connsiteX5" fmla="*/ 464104 w 1075004"/>
                <a:gd name="connsiteY5" fmla="*/ 270881 h 652174"/>
                <a:gd name="connsiteX6" fmla="*/ 464104 w 1075004"/>
                <a:gd name="connsiteY6" fmla="*/ 270880 h 652174"/>
                <a:gd name="connsiteX7" fmla="*/ 447079 w 1075004"/>
                <a:gd name="connsiteY7" fmla="*/ 287906 h 652174"/>
                <a:gd name="connsiteX8" fmla="*/ 421371 w 1075004"/>
                <a:gd name="connsiteY8" fmla="*/ 287906 h 652174"/>
                <a:gd name="connsiteX9" fmla="*/ 421371 w 1075004"/>
                <a:gd name="connsiteY9" fmla="*/ 311228 h 652174"/>
                <a:gd name="connsiteX10" fmla="*/ 447078 w 1075004"/>
                <a:gd name="connsiteY10" fmla="*/ 311228 h 652174"/>
                <a:gd name="connsiteX11" fmla="*/ 464104 w 1075004"/>
                <a:gd name="connsiteY11" fmla="*/ 328254 h 652174"/>
                <a:gd name="connsiteX12" fmla="*/ 464104 w 1075004"/>
                <a:gd name="connsiteY12" fmla="*/ 328254 h 652174"/>
                <a:gd name="connsiteX13" fmla="*/ 447079 w 1075004"/>
                <a:gd name="connsiteY13" fmla="*/ 345279 h 652174"/>
                <a:gd name="connsiteX14" fmla="*/ 421371 w 1075004"/>
                <a:gd name="connsiteY14" fmla="*/ 345280 h 652174"/>
                <a:gd name="connsiteX15" fmla="*/ 421371 w 1075004"/>
                <a:gd name="connsiteY15" fmla="*/ 368602 h 652174"/>
                <a:gd name="connsiteX16" fmla="*/ 447078 w 1075004"/>
                <a:gd name="connsiteY16" fmla="*/ 368602 h 652174"/>
                <a:gd name="connsiteX17" fmla="*/ 464104 w 1075004"/>
                <a:gd name="connsiteY17" fmla="*/ 385628 h 652174"/>
                <a:gd name="connsiteX18" fmla="*/ 464104 w 1075004"/>
                <a:gd name="connsiteY18" fmla="*/ 385628 h 652174"/>
                <a:gd name="connsiteX19" fmla="*/ 447079 w 1075004"/>
                <a:gd name="connsiteY19" fmla="*/ 402653 h 652174"/>
                <a:gd name="connsiteX20" fmla="*/ 421371 w 1075004"/>
                <a:gd name="connsiteY20" fmla="*/ 402653 h 652174"/>
                <a:gd name="connsiteX21" fmla="*/ 421370 w 1075004"/>
                <a:gd name="connsiteY21" fmla="*/ 417163 h 652174"/>
                <a:gd name="connsiteX22" fmla="*/ 762268 w 1075004"/>
                <a:gd name="connsiteY22" fmla="*/ 381333 h 652174"/>
                <a:gd name="connsiteX23" fmla="*/ 780980 w 1075004"/>
                <a:gd name="connsiteY23" fmla="*/ 396486 h 652174"/>
                <a:gd name="connsiteX24" fmla="*/ 765828 w 1075004"/>
                <a:gd name="connsiteY24" fmla="*/ 415198 h 652174"/>
                <a:gd name="connsiteX25" fmla="*/ 415893 w 1075004"/>
                <a:gd name="connsiteY25" fmla="*/ 451978 h 652174"/>
                <a:gd name="connsiteX26" fmla="*/ 397181 w 1075004"/>
                <a:gd name="connsiteY26" fmla="*/ 436825 h 652174"/>
                <a:gd name="connsiteX27" fmla="*/ 398889 w 1075004"/>
                <a:gd name="connsiteY27" fmla="*/ 431061 h 652174"/>
                <a:gd name="connsiteX28" fmla="*/ 398669 w 1075004"/>
                <a:gd name="connsiteY28" fmla="*/ 430531 h 652174"/>
                <a:gd name="connsiteX29" fmla="*/ 398669 w 1075004"/>
                <a:gd name="connsiteY29" fmla="*/ 402653 h 652174"/>
                <a:gd name="connsiteX30" fmla="*/ 372962 w 1075004"/>
                <a:gd name="connsiteY30" fmla="*/ 402654 h 652174"/>
                <a:gd name="connsiteX31" fmla="*/ 355936 w 1075004"/>
                <a:gd name="connsiteY31" fmla="*/ 385628 h 652174"/>
                <a:gd name="connsiteX32" fmla="*/ 372962 w 1075004"/>
                <a:gd name="connsiteY32" fmla="*/ 368602 h 652174"/>
                <a:gd name="connsiteX33" fmla="*/ 398669 w 1075004"/>
                <a:gd name="connsiteY33" fmla="*/ 368602 h 652174"/>
                <a:gd name="connsiteX34" fmla="*/ 398670 w 1075004"/>
                <a:gd name="connsiteY34" fmla="*/ 345280 h 652174"/>
                <a:gd name="connsiteX35" fmla="*/ 372962 w 1075004"/>
                <a:gd name="connsiteY35" fmla="*/ 345280 h 652174"/>
                <a:gd name="connsiteX36" fmla="*/ 355936 w 1075004"/>
                <a:gd name="connsiteY36" fmla="*/ 328254 h 652174"/>
                <a:gd name="connsiteX37" fmla="*/ 372962 w 1075004"/>
                <a:gd name="connsiteY37" fmla="*/ 311229 h 652174"/>
                <a:gd name="connsiteX38" fmla="*/ 398669 w 1075004"/>
                <a:gd name="connsiteY38" fmla="*/ 311228 h 652174"/>
                <a:gd name="connsiteX39" fmla="*/ 398669 w 1075004"/>
                <a:gd name="connsiteY39" fmla="*/ 287906 h 652174"/>
                <a:gd name="connsiteX40" fmla="*/ 372962 w 1075004"/>
                <a:gd name="connsiteY40" fmla="*/ 287906 h 652174"/>
                <a:gd name="connsiteX41" fmla="*/ 355936 w 1075004"/>
                <a:gd name="connsiteY41" fmla="*/ 270881 h 652174"/>
                <a:gd name="connsiteX42" fmla="*/ 372962 w 1075004"/>
                <a:gd name="connsiteY42" fmla="*/ 253855 h 652174"/>
                <a:gd name="connsiteX43" fmla="*/ 398670 w 1075004"/>
                <a:gd name="connsiteY43" fmla="*/ 253855 h 652174"/>
                <a:gd name="connsiteX44" fmla="*/ 398670 w 1075004"/>
                <a:gd name="connsiteY44" fmla="*/ 226225 h 652174"/>
                <a:gd name="connsiteX45" fmla="*/ 399282 w 1075004"/>
                <a:gd name="connsiteY45" fmla="*/ 224746 h 652174"/>
                <a:gd name="connsiteX46" fmla="*/ 397876 w 1075004"/>
                <a:gd name="connsiteY46" fmla="*/ 220286 h 652174"/>
                <a:gd name="connsiteX47" fmla="*/ 416321 w 1075004"/>
                <a:gd name="connsiteY47" fmla="*/ 204808 h 652174"/>
                <a:gd name="connsiteX48" fmla="*/ 766843 w 1075004"/>
                <a:gd name="connsiteY48" fmla="*/ 235475 h 652174"/>
                <a:gd name="connsiteX49" fmla="*/ 782320 w 1075004"/>
                <a:gd name="connsiteY49" fmla="*/ 253920 h 652174"/>
                <a:gd name="connsiteX50" fmla="*/ 787242 w 1075004"/>
                <a:gd name="connsiteY50" fmla="*/ 326088 h 652174"/>
                <a:gd name="connsiteX51" fmla="*/ 785600 w 1075004"/>
                <a:gd name="connsiteY51" fmla="*/ 324446 h 652174"/>
                <a:gd name="connsiteX52" fmla="*/ 785600 w 1075004"/>
                <a:gd name="connsiteY52" fmla="*/ 237208 h 652174"/>
                <a:gd name="connsiteX53" fmla="*/ 722116 w 1075004"/>
                <a:gd name="connsiteY53" fmla="*/ 173723 h 652174"/>
                <a:gd name="connsiteX54" fmla="*/ 634876 w 1075004"/>
                <a:gd name="connsiteY54" fmla="*/ 173723 h 652174"/>
                <a:gd name="connsiteX55" fmla="*/ 556664 w 1075004"/>
                <a:gd name="connsiteY55" fmla="*/ 95510 h 652174"/>
                <a:gd name="connsiteX56" fmla="*/ 95508 w 1075004"/>
                <a:gd name="connsiteY56" fmla="*/ 95510 h 652174"/>
                <a:gd name="connsiteX57" fmla="*/ 0 w 1075004"/>
                <a:gd name="connsiteY57" fmla="*/ 326088 h 652174"/>
                <a:gd name="connsiteX58" fmla="*/ 95508 w 1075004"/>
                <a:gd name="connsiteY58" fmla="*/ 556666 h 652174"/>
                <a:gd name="connsiteX59" fmla="*/ 556665 w 1075004"/>
                <a:gd name="connsiteY59" fmla="*/ 556666 h 652174"/>
                <a:gd name="connsiteX60" fmla="*/ 634877 w 1075004"/>
                <a:gd name="connsiteY60" fmla="*/ 478453 h 652174"/>
                <a:gd name="connsiteX61" fmla="*/ 722116 w 1075004"/>
                <a:gd name="connsiteY61" fmla="*/ 478454 h 652174"/>
                <a:gd name="connsiteX62" fmla="*/ 785600 w 1075004"/>
                <a:gd name="connsiteY62" fmla="*/ 414969 h 652174"/>
                <a:gd name="connsiteX63" fmla="*/ 785600 w 1075004"/>
                <a:gd name="connsiteY63" fmla="*/ 327730 h 652174"/>
                <a:gd name="connsiteX64" fmla="*/ 893383 w 1075004"/>
                <a:gd name="connsiteY64" fmla="*/ 437431 h 652174"/>
                <a:gd name="connsiteX65" fmla="*/ 893383 w 1075004"/>
                <a:gd name="connsiteY65" fmla="*/ 214744 h 652174"/>
                <a:gd name="connsiteX66" fmla="*/ 864082 w 1075004"/>
                <a:gd name="connsiteY66" fmla="*/ 185443 h 652174"/>
                <a:gd name="connsiteX67" fmla="*/ 834781 w 1075004"/>
                <a:gd name="connsiteY67" fmla="*/ 214744 h 652174"/>
                <a:gd name="connsiteX68" fmla="*/ 834781 w 1075004"/>
                <a:gd name="connsiteY68" fmla="*/ 437432 h 652174"/>
                <a:gd name="connsiteX69" fmla="*/ 864082 w 1075004"/>
                <a:gd name="connsiteY69" fmla="*/ 466733 h 652174"/>
                <a:gd name="connsiteX70" fmla="*/ 864082 w 1075004"/>
                <a:gd name="connsiteY70" fmla="*/ 466732 h 652174"/>
                <a:gd name="connsiteX71" fmla="*/ 893383 w 1075004"/>
                <a:gd name="connsiteY71" fmla="*/ 437431 h 652174"/>
                <a:gd name="connsiteX72" fmla="*/ 984194 w 1075004"/>
                <a:gd name="connsiteY72" fmla="*/ 425711 h 652174"/>
                <a:gd name="connsiteX73" fmla="*/ 984193 w 1075004"/>
                <a:gd name="connsiteY73" fmla="*/ 226464 h 652174"/>
                <a:gd name="connsiteX74" fmla="*/ 954893 w 1075004"/>
                <a:gd name="connsiteY74" fmla="*/ 197163 h 652174"/>
                <a:gd name="connsiteX75" fmla="*/ 925591 w 1075004"/>
                <a:gd name="connsiteY75" fmla="*/ 226464 h 652174"/>
                <a:gd name="connsiteX76" fmla="*/ 925591 w 1075004"/>
                <a:gd name="connsiteY76" fmla="*/ 425711 h 652174"/>
                <a:gd name="connsiteX77" fmla="*/ 954893 w 1075004"/>
                <a:gd name="connsiteY77" fmla="*/ 455012 h 652174"/>
                <a:gd name="connsiteX78" fmla="*/ 954893 w 1075004"/>
                <a:gd name="connsiteY78" fmla="*/ 455012 h 652174"/>
                <a:gd name="connsiteX79" fmla="*/ 984194 w 1075004"/>
                <a:gd name="connsiteY79" fmla="*/ 425711 h 652174"/>
                <a:gd name="connsiteX80" fmla="*/ 1075004 w 1075004"/>
                <a:gd name="connsiteY80" fmla="*/ 402269 h 652174"/>
                <a:gd name="connsiteX81" fmla="*/ 1075004 w 1075004"/>
                <a:gd name="connsiteY81" fmla="*/ 249905 h 652174"/>
                <a:gd name="connsiteX82" fmla="*/ 1045703 w 1075004"/>
                <a:gd name="connsiteY82" fmla="*/ 220604 h 652174"/>
                <a:gd name="connsiteX83" fmla="*/ 1016402 w 1075004"/>
                <a:gd name="connsiteY83" fmla="*/ 249905 h 652174"/>
                <a:gd name="connsiteX84" fmla="*/ 1016402 w 1075004"/>
                <a:gd name="connsiteY84" fmla="*/ 402270 h 652174"/>
                <a:gd name="connsiteX85" fmla="*/ 1045703 w 1075004"/>
                <a:gd name="connsiteY85" fmla="*/ 431571 h 652174"/>
                <a:gd name="connsiteX86" fmla="*/ 1045703 w 1075004"/>
                <a:gd name="connsiteY86" fmla="*/ 431571 h 652174"/>
                <a:gd name="connsiteX87" fmla="*/ 1075004 w 1075004"/>
                <a:gd name="connsiteY87" fmla="*/ 402269 h 65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4">
                  <a:moveTo>
                    <a:pt x="782320" y="253920"/>
                  </a:moveTo>
                  <a:cubicBezTo>
                    <a:pt x="781500" y="263287"/>
                    <a:pt x="773242" y="270216"/>
                    <a:pt x="763875" y="269397"/>
                  </a:cubicBezTo>
                  <a:cubicBezTo>
                    <a:pt x="649707" y="259409"/>
                    <a:pt x="535539" y="249421"/>
                    <a:pt x="421371" y="239432"/>
                  </a:cubicBezTo>
                  <a:lnTo>
                    <a:pt x="421370" y="253855"/>
                  </a:lnTo>
                  <a:lnTo>
                    <a:pt x="447078" y="253855"/>
                  </a:lnTo>
                  <a:cubicBezTo>
                    <a:pt x="456482" y="253854"/>
                    <a:pt x="464104" y="261477"/>
                    <a:pt x="464104" y="270881"/>
                  </a:cubicBezTo>
                  <a:lnTo>
                    <a:pt x="464104" y="270880"/>
                  </a:lnTo>
                  <a:cubicBezTo>
                    <a:pt x="464104" y="280283"/>
                    <a:pt x="456482" y="287906"/>
                    <a:pt x="447079" y="287906"/>
                  </a:cubicBezTo>
                  <a:cubicBezTo>
                    <a:pt x="438509" y="287906"/>
                    <a:pt x="429940" y="287905"/>
                    <a:pt x="421371" y="287906"/>
                  </a:cubicBezTo>
                  <a:lnTo>
                    <a:pt x="421371" y="311228"/>
                  </a:lnTo>
                  <a:lnTo>
                    <a:pt x="447078" y="311228"/>
                  </a:lnTo>
                  <a:cubicBezTo>
                    <a:pt x="456482" y="311228"/>
                    <a:pt x="464104" y="318851"/>
                    <a:pt x="464104" y="328254"/>
                  </a:cubicBezTo>
                  <a:lnTo>
                    <a:pt x="464104" y="328254"/>
                  </a:lnTo>
                  <a:cubicBezTo>
                    <a:pt x="464104" y="337656"/>
                    <a:pt x="456482" y="345279"/>
                    <a:pt x="447079" y="345279"/>
                  </a:cubicBezTo>
                  <a:cubicBezTo>
                    <a:pt x="438510" y="345279"/>
                    <a:pt x="429940" y="345279"/>
                    <a:pt x="421371" y="345280"/>
                  </a:cubicBezTo>
                  <a:lnTo>
                    <a:pt x="421371" y="368602"/>
                  </a:lnTo>
                  <a:lnTo>
                    <a:pt x="447078" y="368602"/>
                  </a:lnTo>
                  <a:cubicBezTo>
                    <a:pt x="456482" y="368602"/>
                    <a:pt x="464104" y="376224"/>
                    <a:pt x="464104" y="385628"/>
                  </a:cubicBezTo>
                  <a:lnTo>
                    <a:pt x="464104" y="385628"/>
                  </a:lnTo>
                  <a:cubicBezTo>
                    <a:pt x="464104" y="395031"/>
                    <a:pt x="456481" y="402653"/>
                    <a:pt x="447079" y="402653"/>
                  </a:cubicBezTo>
                  <a:cubicBezTo>
                    <a:pt x="438509" y="402653"/>
                    <a:pt x="429940" y="402653"/>
                    <a:pt x="421371" y="402653"/>
                  </a:cubicBezTo>
                  <a:lnTo>
                    <a:pt x="421370" y="417163"/>
                  </a:lnTo>
                  <a:lnTo>
                    <a:pt x="762268" y="381333"/>
                  </a:lnTo>
                  <a:cubicBezTo>
                    <a:pt x="771619" y="380351"/>
                    <a:pt x="779997" y="387135"/>
                    <a:pt x="780980" y="396486"/>
                  </a:cubicBezTo>
                  <a:cubicBezTo>
                    <a:pt x="781963" y="405838"/>
                    <a:pt x="775179" y="414215"/>
                    <a:pt x="765828" y="415198"/>
                  </a:cubicBezTo>
                  <a:cubicBezTo>
                    <a:pt x="649182" y="427458"/>
                    <a:pt x="532538" y="439719"/>
                    <a:pt x="415893" y="451978"/>
                  </a:cubicBezTo>
                  <a:cubicBezTo>
                    <a:pt x="406541" y="452961"/>
                    <a:pt x="398164" y="446177"/>
                    <a:pt x="397181" y="436825"/>
                  </a:cubicBezTo>
                  <a:cubicBezTo>
                    <a:pt x="396959" y="434721"/>
                    <a:pt x="397132" y="432666"/>
                    <a:pt x="398889" y="431061"/>
                  </a:cubicBezTo>
                  <a:lnTo>
                    <a:pt x="398669" y="430531"/>
                  </a:lnTo>
                  <a:lnTo>
                    <a:pt x="398669" y="402653"/>
                  </a:lnTo>
                  <a:lnTo>
                    <a:pt x="372962" y="402654"/>
                  </a:lnTo>
                  <a:cubicBezTo>
                    <a:pt x="363559" y="402654"/>
                    <a:pt x="355936" y="395032"/>
                    <a:pt x="355936" y="385628"/>
                  </a:cubicBezTo>
                  <a:cubicBezTo>
                    <a:pt x="355936" y="376225"/>
                    <a:pt x="363559" y="368602"/>
                    <a:pt x="372962" y="368602"/>
                  </a:cubicBezTo>
                  <a:lnTo>
                    <a:pt x="398669" y="368602"/>
                  </a:lnTo>
                  <a:lnTo>
                    <a:pt x="398670" y="345280"/>
                  </a:lnTo>
                  <a:lnTo>
                    <a:pt x="372962" y="345280"/>
                  </a:lnTo>
                  <a:cubicBezTo>
                    <a:pt x="363559" y="345279"/>
                    <a:pt x="355937" y="337657"/>
                    <a:pt x="355936" y="328254"/>
                  </a:cubicBezTo>
                  <a:cubicBezTo>
                    <a:pt x="355937" y="318851"/>
                    <a:pt x="363559" y="311228"/>
                    <a:pt x="372962" y="311229"/>
                  </a:cubicBezTo>
                  <a:lnTo>
                    <a:pt x="398669" y="311228"/>
                  </a:lnTo>
                  <a:lnTo>
                    <a:pt x="398669" y="287906"/>
                  </a:lnTo>
                  <a:lnTo>
                    <a:pt x="372962" y="287906"/>
                  </a:lnTo>
                  <a:cubicBezTo>
                    <a:pt x="363559" y="287906"/>
                    <a:pt x="355936" y="280284"/>
                    <a:pt x="355936" y="270881"/>
                  </a:cubicBezTo>
                  <a:cubicBezTo>
                    <a:pt x="355936" y="261477"/>
                    <a:pt x="363559" y="253855"/>
                    <a:pt x="372962" y="253855"/>
                  </a:cubicBezTo>
                  <a:lnTo>
                    <a:pt x="398670" y="253855"/>
                  </a:lnTo>
                  <a:lnTo>
                    <a:pt x="398670" y="226225"/>
                  </a:lnTo>
                  <a:cubicBezTo>
                    <a:pt x="398670" y="225700"/>
                    <a:pt x="398705" y="225183"/>
                    <a:pt x="399282" y="224746"/>
                  </a:cubicBezTo>
                  <a:lnTo>
                    <a:pt x="397876" y="220286"/>
                  </a:lnTo>
                  <a:cubicBezTo>
                    <a:pt x="398695" y="210918"/>
                    <a:pt x="406953" y="203989"/>
                    <a:pt x="416321" y="204808"/>
                  </a:cubicBezTo>
                  <a:lnTo>
                    <a:pt x="766843" y="235475"/>
                  </a:lnTo>
                  <a:cubicBezTo>
                    <a:pt x="776210" y="236295"/>
                    <a:pt x="783140" y="244552"/>
                    <a:pt x="782320" y="253920"/>
                  </a:cubicBezTo>
                  <a:close/>
                  <a:moveTo>
                    <a:pt x="787242" y="326088"/>
                  </a:moveTo>
                  <a:lnTo>
                    <a:pt x="785600" y="324446"/>
                  </a:lnTo>
                  <a:lnTo>
                    <a:pt x="785600" y="237208"/>
                  </a:lnTo>
                  <a:cubicBezTo>
                    <a:pt x="785600" y="202146"/>
                    <a:pt x="757177" y="173723"/>
                    <a:pt x="722116" y="173723"/>
                  </a:cubicBezTo>
                  <a:lnTo>
                    <a:pt x="634876" y="173723"/>
                  </a:lnTo>
                  <a:cubicBezTo>
                    <a:pt x="608806" y="147652"/>
                    <a:pt x="582735" y="121580"/>
                    <a:pt x="556664" y="95510"/>
                  </a:cubicBezTo>
                  <a:cubicBezTo>
                    <a:pt x="429319" y="-31836"/>
                    <a:pt x="222853" y="-31835"/>
                    <a:pt x="95508" y="95510"/>
                  </a:cubicBezTo>
                  <a:cubicBezTo>
                    <a:pt x="31836" y="159182"/>
                    <a:pt x="0" y="242635"/>
                    <a:pt x="0" y="326088"/>
                  </a:cubicBezTo>
                  <a:cubicBezTo>
                    <a:pt x="0" y="409541"/>
                    <a:pt x="31836" y="492993"/>
                    <a:pt x="95508" y="556666"/>
                  </a:cubicBezTo>
                  <a:cubicBezTo>
                    <a:pt x="222853" y="684011"/>
                    <a:pt x="429320" y="684011"/>
                    <a:pt x="556665" y="556666"/>
                  </a:cubicBezTo>
                  <a:lnTo>
                    <a:pt x="634877" y="478453"/>
                  </a:lnTo>
                  <a:lnTo>
                    <a:pt x="722116" y="478454"/>
                  </a:lnTo>
                  <a:cubicBezTo>
                    <a:pt x="757178" y="478453"/>
                    <a:pt x="785600" y="450030"/>
                    <a:pt x="785600" y="414969"/>
                  </a:cubicBezTo>
                  <a:lnTo>
                    <a:pt x="785600" y="327730"/>
                  </a:lnTo>
                  <a:close/>
                  <a:moveTo>
                    <a:pt x="893383" y="437431"/>
                  </a:moveTo>
                  <a:lnTo>
                    <a:pt x="893383" y="214744"/>
                  </a:lnTo>
                  <a:cubicBezTo>
                    <a:pt x="893383" y="198562"/>
                    <a:pt x="880265" y="185443"/>
                    <a:pt x="864082" y="185443"/>
                  </a:cubicBezTo>
                  <a:cubicBezTo>
                    <a:pt x="847900" y="185443"/>
                    <a:pt x="834781" y="198562"/>
                    <a:pt x="834781" y="214744"/>
                  </a:cubicBezTo>
                  <a:lnTo>
                    <a:pt x="834781" y="437432"/>
                  </a:lnTo>
                  <a:cubicBezTo>
                    <a:pt x="834781" y="453614"/>
                    <a:pt x="847900" y="466733"/>
                    <a:pt x="864082" y="466733"/>
                  </a:cubicBezTo>
                  <a:lnTo>
                    <a:pt x="864082" y="466732"/>
                  </a:lnTo>
                  <a:cubicBezTo>
                    <a:pt x="880265" y="466732"/>
                    <a:pt x="893383" y="453614"/>
                    <a:pt x="893383" y="437431"/>
                  </a:cubicBezTo>
                  <a:close/>
                  <a:moveTo>
                    <a:pt x="984194" y="425711"/>
                  </a:moveTo>
                  <a:lnTo>
                    <a:pt x="984193" y="226464"/>
                  </a:lnTo>
                  <a:cubicBezTo>
                    <a:pt x="984193" y="210282"/>
                    <a:pt x="971075" y="197164"/>
                    <a:pt x="954893" y="197163"/>
                  </a:cubicBezTo>
                  <a:cubicBezTo>
                    <a:pt x="938710" y="197164"/>
                    <a:pt x="925591" y="210282"/>
                    <a:pt x="925591" y="226464"/>
                  </a:cubicBezTo>
                  <a:lnTo>
                    <a:pt x="925591" y="425711"/>
                  </a:lnTo>
                  <a:cubicBezTo>
                    <a:pt x="925591" y="441894"/>
                    <a:pt x="938710" y="455012"/>
                    <a:pt x="954893" y="455012"/>
                  </a:cubicBezTo>
                  <a:lnTo>
                    <a:pt x="954893" y="455012"/>
                  </a:lnTo>
                  <a:cubicBezTo>
                    <a:pt x="971075" y="455012"/>
                    <a:pt x="984194" y="441893"/>
                    <a:pt x="984194" y="425711"/>
                  </a:cubicBezTo>
                  <a:close/>
                  <a:moveTo>
                    <a:pt x="1075004" y="402269"/>
                  </a:moveTo>
                  <a:lnTo>
                    <a:pt x="1075004" y="249905"/>
                  </a:lnTo>
                  <a:cubicBezTo>
                    <a:pt x="1075004" y="233722"/>
                    <a:pt x="1061885" y="220604"/>
                    <a:pt x="1045703" y="220604"/>
                  </a:cubicBezTo>
                  <a:cubicBezTo>
                    <a:pt x="1029520" y="220604"/>
                    <a:pt x="1016402" y="233722"/>
                    <a:pt x="1016402" y="249905"/>
                  </a:cubicBezTo>
                  <a:lnTo>
                    <a:pt x="1016402" y="402270"/>
                  </a:lnTo>
                  <a:cubicBezTo>
                    <a:pt x="1016402" y="418452"/>
                    <a:pt x="1029520" y="431571"/>
                    <a:pt x="1045703" y="431571"/>
                  </a:cubicBezTo>
                  <a:lnTo>
                    <a:pt x="1045703" y="431571"/>
                  </a:lnTo>
                  <a:cubicBezTo>
                    <a:pt x="1061885" y="431571"/>
                    <a:pt x="1075004" y="418452"/>
                    <a:pt x="1075004" y="402269"/>
                  </a:cubicBezTo>
                  <a:close/>
                </a:path>
              </a:pathLst>
            </a:custGeom>
            <a:grpFill/>
            <a:ln w="12700" cap="flat" cmpd="sng" algn="ctr">
              <a:noFill/>
              <a:prstDash val="solid"/>
              <a:miter lim="800000"/>
            </a:ln>
            <a:effectLst/>
          </p:spPr>
          <p:txBody>
            <a:bodyPr rot="0" spcFirstLastPara="0" vert="horz" wrap="square" lIns="60960" tIns="30480" rIns="60960" bIns="3048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609630">
                <a:defRPr/>
              </a:pPr>
              <a:endParaRPr lang="ko-KR" altLang="en-US" sz="1200" dirty="0">
                <a:solidFill>
                  <a:prstClr val="black"/>
                </a:solidFill>
                <a:latin typeface="Arial"/>
                <a:ea typeface="맑은 고딕" panose="020B0503020000020004" pitchFamily="34" charset="-127"/>
              </a:endParaRPr>
            </a:p>
          </p:txBody>
        </p:sp>
      </p:grpSp>
      <p:grpSp>
        <p:nvGrpSpPr>
          <p:cNvPr id="52" name="Group 51">
            <a:extLst>
              <a:ext uri="{FF2B5EF4-FFF2-40B4-BE49-F238E27FC236}">
                <a16:creationId xmlns:a16="http://schemas.microsoft.com/office/drawing/2014/main" id="{6BD92BEC-5495-4FBF-8C94-228A63884E65}"/>
              </a:ext>
            </a:extLst>
          </p:cNvPr>
          <p:cNvGrpSpPr/>
          <p:nvPr/>
        </p:nvGrpSpPr>
        <p:grpSpPr>
          <a:xfrm>
            <a:off x="1061071" y="-13389"/>
            <a:ext cx="508651" cy="1633233"/>
            <a:chOff x="1591607" y="-20084"/>
            <a:chExt cx="762976" cy="2449850"/>
          </a:xfrm>
        </p:grpSpPr>
        <p:sp>
          <p:nvSpPr>
            <p:cNvPr id="53" name="Rectangle 52">
              <a:extLst>
                <a:ext uri="{FF2B5EF4-FFF2-40B4-BE49-F238E27FC236}">
                  <a16:creationId xmlns:a16="http://schemas.microsoft.com/office/drawing/2014/main" id="{C8276CA7-4E5B-4C1A-8C3A-BF3519946E3D}"/>
                </a:ext>
              </a:extLst>
            </p:cNvPr>
            <p:cNvSpPr/>
            <p:nvPr/>
          </p:nvSpPr>
          <p:spPr>
            <a:xfrm>
              <a:off x="1936171" y="-20084"/>
              <a:ext cx="72000" cy="1188000"/>
            </a:xfrm>
            <a:prstGeom prst="rect">
              <a:avLst/>
            </a:prstGeom>
            <a:solidFill>
              <a:srgbClr val="565874"/>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black"/>
                </a:solidFill>
                <a:latin typeface="Arial"/>
                <a:ea typeface="맑은 고딕" panose="020B0503020000020004" pitchFamily="34" charset="-127"/>
              </a:endParaRPr>
            </a:p>
          </p:txBody>
        </p:sp>
        <p:sp>
          <p:nvSpPr>
            <p:cNvPr id="54" name="Freeform: Shape 53">
              <a:extLst>
                <a:ext uri="{FF2B5EF4-FFF2-40B4-BE49-F238E27FC236}">
                  <a16:creationId xmlns:a16="http://schemas.microsoft.com/office/drawing/2014/main" id="{0474AAE4-9732-4D4B-A7D3-1C4B1E42E7DC}"/>
                </a:ext>
              </a:extLst>
            </p:cNvPr>
            <p:cNvSpPr/>
            <p:nvPr/>
          </p:nvSpPr>
          <p:spPr>
            <a:xfrm rot="5400000" flipH="1">
              <a:off x="1344272" y="1419455"/>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8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8 w 1075004"/>
                <a:gd name="connsiteY13" fmla="*/ 345278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2 h 652173"/>
                <a:gd name="connsiteX20" fmla="*/ 421371 w 1075004"/>
                <a:gd name="connsiteY20" fmla="*/ 402652 h 652173"/>
                <a:gd name="connsiteX21" fmla="*/ 421370 w 1075004"/>
                <a:gd name="connsiteY21" fmla="*/ 417162 h 652173"/>
                <a:gd name="connsiteX22" fmla="*/ 762267 w 1075004"/>
                <a:gd name="connsiteY22" fmla="*/ 381332 h 652173"/>
                <a:gd name="connsiteX23" fmla="*/ 780979 w 1075004"/>
                <a:gd name="connsiteY23" fmla="*/ 396485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0 h 652173"/>
                <a:gd name="connsiteX29" fmla="*/ 398669 w 1075004"/>
                <a:gd name="connsiteY29" fmla="*/ 402652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69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69 w 1075004"/>
                <a:gd name="connsiteY43" fmla="*/ 253854 h 652173"/>
                <a:gd name="connsiteX44" fmla="*/ 398669 w 1075004"/>
                <a:gd name="connsiteY44" fmla="*/ 226224 h 652173"/>
                <a:gd name="connsiteX45" fmla="*/ 399282 w 1075004"/>
                <a:gd name="connsiteY45" fmla="*/ 224745 h 652173"/>
                <a:gd name="connsiteX46" fmla="*/ 397875 w 1075004"/>
                <a:gd name="connsiteY46" fmla="*/ 220285 h 652173"/>
                <a:gd name="connsiteX47" fmla="*/ 416320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5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4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3 h 652173"/>
                <a:gd name="connsiteX74" fmla="*/ 954892 w 1075004"/>
                <a:gd name="connsiteY74" fmla="*/ 197162 h 652173"/>
                <a:gd name="connsiteX75" fmla="*/ 925591 w 1075004"/>
                <a:gd name="connsiteY75" fmla="*/ 226463 h 652173"/>
                <a:gd name="connsiteX76" fmla="*/ 925591 w 1075004"/>
                <a:gd name="connsiteY76" fmla="*/ 425710 h 652173"/>
                <a:gd name="connsiteX77" fmla="*/ 954892 w 1075004"/>
                <a:gd name="connsiteY77" fmla="*/ 455011 h 652173"/>
                <a:gd name="connsiteX78" fmla="*/ 954892 w 1075004"/>
                <a:gd name="connsiteY78" fmla="*/ 455011 h 652173"/>
                <a:gd name="connsiteX79" fmla="*/ 984194 w 1075004"/>
                <a:gd name="connsiteY79" fmla="*/ 425710 h 652173"/>
                <a:gd name="connsiteX80" fmla="*/ 1075004 w 1075004"/>
                <a:gd name="connsiteY80" fmla="*/ 402268 h 652173"/>
                <a:gd name="connsiteX81" fmla="*/ 1075003 w 1075004"/>
                <a:gd name="connsiteY81" fmla="*/ 249904 h 652173"/>
                <a:gd name="connsiteX82" fmla="*/ 1045703 w 1075004"/>
                <a:gd name="connsiteY82" fmla="*/ 220603 h 652173"/>
                <a:gd name="connsiteX83" fmla="*/ 1016401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8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5"/>
                    <a:pt x="763875" y="269396"/>
                  </a:cubicBezTo>
                  <a:cubicBezTo>
                    <a:pt x="649707" y="259408"/>
                    <a:pt x="535539" y="249420"/>
                    <a:pt x="421371" y="239431"/>
                  </a:cubicBezTo>
                  <a:lnTo>
                    <a:pt x="421370" y="253854"/>
                  </a:lnTo>
                  <a:lnTo>
                    <a:pt x="447078" y="253854"/>
                  </a:lnTo>
                  <a:cubicBezTo>
                    <a:pt x="456482" y="253853"/>
                    <a:pt x="464103" y="261476"/>
                    <a:pt x="464104" y="270880"/>
                  </a:cubicBezTo>
                  <a:lnTo>
                    <a:pt x="464104" y="270879"/>
                  </a:lnTo>
                  <a:cubicBezTo>
                    <a:pt x="464104" y="280282"/>
                    <a:pt x="456482" y="287905"/>
                    <a:pt x="447078" y="287905"/>
                  </a:cubicBezTo>
                  <a:cubicBezTo>
                    <a:pt x="438509" y="287905"/>
                    <a:pt x="429939" y="287904"/>
                    <a:pt x="421371" y="287905"/>
                  </a:cubicBezTo>
                  <a:lnTo>
                    <a:pt x="421371" y="311227"/>
                  </a:lnTo>
                  <a:lnTo>
                    <a:pt x="447078" y="311227"/>
                  </a:lnTo>
                  <a:cubicBezTo>
                    <a:pt x="456482" y="311227"/>
                    <a:pt x="464104" y="318850"/>
                    <a:pt x="464104" y="328253"/>
                  </a:cubicBezTo>
                  <a:lnTo>
                    <a:pt x="464104" y="328253"/>
                  </a:lnTo>
                  <a:cubicBezTo>
                    <a:pt x="464104" y="337655"/>
                    <a:pt x="456482" y="345278"/>
                    <a:pt x="447078" y="345278"/>
                  </a:cubicBezTo>
                  <a:cubicBezTo>
                    <a:pt x="438510" y="345278"/>
                    <a:pt x="429939" y="345278"/>
                    <a:pt x="421371" y="345279"/>
                  </a:cubicBezTo>
                  <a:lnTo>
                    <a:pt x="421371" y="368601"/>
                  </a:lnTo>
                  <a:lnTo>
                    <a:pt x="447078" y="368601"/>
                  </a:lnTo>
                  <a:cubicBezTo>
                    <a:pt x="456482" y="368601"/>
                    <a:pt x="464104" y="376223"/>
                    <a:pt x="464104" y="385627"/>
                  </a:cubicBezTo>
                  <a:lnTo>
                    <a:pt x="464104" y="385627"/>
                  </a:lnTo>
                  <a:cubicBezTo>
                    <a:pt x="464104" y="395030"/>
                    <a:pt x="456481" y="402652"/>
                    <a:pt x="447079" y="402652"/>
                  </a:cubicBezTo>
                  <a:cubicBezTo>
                    <a:pt x="438509" y="402652"/>
                    <a:pt x="429940" y="402652"/>
                    <a:pt x="421371" y="402652"/>
                  </a:cubicBezTo>
                  <a:lnTo>
                    <a:pt x="421370" y="417162"/>
                  </a:lnTo>
                  <a:lnTo>
                    <a:pt x="762267" y="381332"/>
                  </a:lnTo>
                  <a:cubicBezTo>
                    <a:pt x="771619" y="380350"/>
                    <a:pt x="779997" y="387134"/>
                    <a:pt x="780979" y="396485"/>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0"/>
                  </a:lnTo>
                  <a:lnTo>
                    <a:pt x="398669" y="402652"/>
                  </a:lnTo>
                  <a:lnTo>
                    <a:pt x="372962" y="402653"/>
                  </a:lnTo>
                  <a:cubicBezTo>
                    <a:pt x="363559" y="402653"/>
                    <a:pt x="355936" y="395031"/>
                    <a:pt x="355936" y="385627"/>
                  </a:cubicBezTo>
                  <a:cubicBezTo>
                    <a:pt x="355936" y="376224"/>
                    <a:pt x="363558" y="368601"/>
                    <a:pt x="372962" y="368601"/>
                  </a:cubicBezTo>
                  <a:lnTo>
                    <a:pt x="398669" y="368601"/>
                  </a:lnTo>
                  <a:lnTo>
                    <a:pt x="398669" y="345279"/>
                  </a:lnTo>
                  <a:lnTo>
                    <a:pt x="372962" y="345279"/>
                  </a:lnTo>
                  <a:cubicBezTo>
                    <a:pt x="363559" y="345278"/>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6"/>
                    <a:pt x="363559" y="253854"/>
                    <a:pt x="372962" y="253854"/>
                  </a:cubicBezTo>
                  <a:lnTo>
                    <a:pt x="398669" y="253854"/>
                  </a:lnTo>
                  <a:lnTo>
                    <a:pt x="398669" y="226224"/>
                  </a:lnTo>
                  <a:cubicBezTo>
                    <a:pt x="398669" y="225699"/>
                    <a:pt x="398705" y="225182"/>
                    <a:pt x="399282" y="224745"/>
                  </a:cubicBezTo>
                  <a:lnTo>
                    <a:pt x="397875" y="220285"/>
                  </a:lnTo>
                  <a:cubicBezTo>
                    <a:pt x="398695" y="210917"/>
                    <a:pt x="406953" y="203988"/>
                    <a:pt x="416320" y="204807"/>
                  </a:cubicBezTo>
                  <a:lnTo>
                    <a:pt x="766843" y="235474"/>
                  </a:lnTo>
                  <a:cubicBezTo>
                    <a:pt x="776210" y="236294"/>
                    <a:pt x="783139" y="244551"/>
                    <a:pt x="782320" y="253919"/>
                  </a:cubicBezTo>
                  <a:close/>
                  <a:moveTo>
                    <a:pt x="787242" y="326087"/>
                  </a:moveTo>
                  <a:lnTo>
                    <a:pt x="785600" y="324445"/>
                  </a:lnTo>
                  <a:lnTo>
                    <a:pt x="785600" y="237207"/>
                  </a:lnTo>
                  <a:cubicBezTo>
                    <a:pt x="785600" y="202145"/>
                    <a:pt x="757177" y="173722"/>
                    <a:pt x="722115" y="173722"/>
                  </a:cubicBezTo>
                  <a:lnTo>
                    <a:pt x="634876" y="173722"/>
                  </a:lnTo>
                  <a:cubicBezTo>
                    <a:pt x="608805"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4" y="556665"/>
                  </a:cubicBezTo>
                  <a:lnTo>
                    <a:pt x="634877" y="478452"/>
                  </a:lnTo>
                  <a:lnTo>
                    <a:pt x="722116" y="478453"/>
                  </a:lnTo>
                  <a:cubicBezTo>
                    <a:pt x="757178" y="478452"/>
                    <a:pt x="785600" y="450029"/>
                    <a:pt x="785600" y="414968"/>
                  </a:cubicBezTo>
                  <a:lnTo>
                    <a:pt x="785600" y="327729"/>
                  </a:lnTo>
                  <a:close/>
                  <a:moveTo>
                    <a:pt x="893383" y="437430"/>
                  </a:moveTo>
                  <a:lnTo>
                    <a:pt x="893383" y="214743"/>
                  </a:lnTo>
                  <a:cubicBezTo>
                    <a:pt x="893383" y="198561"/>
                    <a:pt x="880265" y="185442"/>
                    <a:pt x="864082" y="185442"/>
                  </a:cubicBezTo>
                  <a:cubicBezTo>
                    <a:pt x="847899"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3"/>
                  </a:lnTo>
                  <a:cubicBezTo>
                    <a:pt x="984193" y="210281"/>
                    <a:pt x="971075" y="197163"/>
                    <a:pt x="954892" y="197162"/>
                  </a:cubicBezTo>
                  <a:cubicBezTo>
                    <a:pt x="938710" y="197163"/>
                    <a:pt x="925591" y="210281"/>
                    <a:pt x="925591" y="226463"/>
                  </a:cubicBezTo>
                  <a:lnTo>
                    <a:pt x="925591" y="425710"/>
                  </a:lnTo>
                  <a:cubicBezTo>
                    <a:pt x="925591" y="441893"/>
                    <a:pt x="938710" y="455011"/>
                    <a:pt x="954892" y="455011"/>
                  </a:cubicBezTo>
                  <a:lnTo>
                    <a:pt x="954892" y="455011"/>
                  </a:lnTo>
                  <a:cubicBezTo>
                    <a:pt x="971075" y="455011"/>
                    <a:pt x="984194" y="441892"/>
                    <a:pt x="984194" y="425710"/>
                  </a:cubicBezTo>
                  <a:close/>
                  <a:moveTo>
                    <a:pt x="1075004" y="402268"/>
                  </a:moveTo>
                  <a:lnTo>
                    <a:pt x="1075003" y="249904"/>
                  </a:lnTo>
                  <a:cubicBezTo>
                    <a:pt x="1075003" y="233721"/>
                    <a:pt x="1061885" y="220603"/>
                    <a:pt x="1045703" y="220603"/>
                  </a:cubicBezTo>
                  <a:cubicBezTo>
                    <a:pt x="1029520" y="220603"/>
                    <a:pt x="1016401" y="233721"/>
                    <a:pt x="1016401" y="249904"/>
                  </a:cubicBezTo>
                  <a:lnTo>
                    <a:pt x="1016402" y="402269"/>
                  </a:lnTo>
                  <a:cubicBezTo>
                    <a:pt x="1016402" y="418451"/>
                    <a:pt x="1029520" y="431570"/>
                    <a:pt x="1045703" y="431570"/>
                  </a:cubicBezTo>
                  <a:lnTo>
                    <a:pt x="1045703" y="431570"/>
                  </a:lnTo>
                  <a:cubicBezTo>
                    <a:pt x="1061885" y="431570"/>
                    <a:pt x="1075004" y="418451"/>
                    <a:pt x="1075004" y="402268"/>
                  </a:cubicBezTo>
                  <a:close/>
                </a:path>
              </a:pathLst>
            </a:custGeom>
            <a:solidFill>
              <a:srgbClr val="565874"/>
            </a:solidFill>
            <a:ln w="12700" cap="flat" cmpd="sng" algn="ctr">
              <a:noFill/>
              <a:prstDash val="solid"/>
              <a:miter lim="800000"/>
            </a:ln>
            <a:effectLst/>
          </p:spPr>
          <p:txBody>
            <a:bodyPr rot="0" spcFirstLastPara="0" vert="horz" wrap="square" lIns="60960" tIns="30480" rIns="60960" bIns="3048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609630">
                <a:defRPr/>
              </a:pPr>
              <a:endParaRPr lang="ko-KR" altLang="en-US" sz="1200" dirty="0">
                <a:solidFill>
                  <a:prstClr val="black"/>
                </a:solidFill>
                <a:latin typeface="Arial"/>
                <a:ea typeface="맑은 고딕" panose="020B0503020000020004" pitchFamily="34" charset="-127"/>
              </a:endParaRPr>
            </a:p>
          </p:txBody>
        </p:sp>
      </p:grpSp>
      <p:sp>
        <p:nvSpPr>
          <p:cNvPr id="55" name="TextBox 54">
            <a:extLst>
              <a:ext uri="{FF2B5EF4-FFF2-40B4-BE49-F238E27FC236}">
                <a16:creationId xmlns:a16="http://schemas.microsoft.com/office/drawing/2014/main" id="{0240D582-D1A6-42EB-82F5-453FE34E72EF}"/>
              </a:ext>
            </a:extLst>
          </p:cNvPr>
          <p:cNvSpPr txBox="1"/>
          <p:nvPr/>
        </p:nvSpPr>
        <p:spPr>
          <a:xfrm>
            <a:off x="3602465" y="102834"/>
            <a:ext cx="4127782" cy="707886"/>
          </a:xfrm>
          <a:prstGeom prst="rect">
            <a:avLst/>
          </a:prstGeom>
          <a:noFill/>
        </p:spPr>
        <p:txBody>
          <a:bodyPr wrap="square" rtlCol="0" anchor="ctr">
            <a:spAutoFit/>
          </a:bodyPr>
          <a:lstStyle/>
          <a:p>
            <a:pPr defTabSz="609554"/>
            <a:r>
              <a:rPr lang="en-IN" altLang="ko-KR" sz="4000" b="1" u="sng" dirty="0">
                <a:solidFill>
                  <a:prstClr val="white"/>
                </a:solidFill>
                <a:latin typeface="Times New Roman" panose="02020603050405020304" pitchFamily="18" charset="0"/>
                <a:ea typeface="맑은 고딕" panose="020B0503020000020004" pitchFamily="34" charset="-127"/>
                <a:cs typeface="Times New Roman" panose="02020603050405020304" pitchFamily="18" charset="0"/>
              </a:rPr>
              <a:t>Outline</a:t>
            </a:r>
            <a:endParaRPr lang="ko-KR" altLang="en-US" sz="4000" b="1" u="sng" dirty="0">
              <a:solidFill>
                <a:prstClr val="white"/>
              </a:solidFill>
              <a:latin typeface="Times New Roman" panose="02020603050405020304" pitchFamily="18" charset="0"/>
              <a:ea typeface="맑은 고딕" panose="020B0503020000020004" pitchFamily="34" charset="-127"/>
              <a:cs typeface="Times New Roman" panose="02020603050405020304" pitchFamily="18" charset="0"/>
            </a:endParaRPr>
          </a:p>
        </p:txBody>
      </p:sp>
      <p:sp>
        <p:nvSpPr>
          <p:cNvPr id="57" name="Oval 56">
            <a:extLst>
              <a:ext uri="{FF2B5EF4-FFF2-40B4-BE49-F238E27FC236}">
                <a16:creationId xmlns:a16="http://schemas.microsoft.com/office/drawing/2014/main" id="{36C2EAAA-B01C-4519-BC97-112F3F0B8491}"/>
              </a:ext>
            </a:extLst>
          </p:cNvPr>
          <p:cNvSpPr>
            <a:spLocks noChangeAspect="1"/>
          </p:cNvSpPr>
          <p:nvPr/>
        </p:nvSpPr>
        <p:spPr>
          <a:xfrm>
            <a:off x="3073820" y="2446354"/>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2</a:t>
            </a:r>
          </a:p>
        </p:txBody>
      </p:sp>
      <p:sp>
        <p:nvSpPr>
          <p:cNvPr id="58" name="Oval 57">
            <a:extLst>
              <a:ext uri="{FF2B5EF4-FFF2-40B4-BE49-F238E27FC236}">
                <a16:creationId xmlns:a16="http://schemas.microsoft.com/office/drawing/2014/main" id="{98058008-4364-4E57-9A0B-09EBD1174D95}"/>
              </a:ext>
            </a:extLst>
          </p:cNvPr>
          <p:cNvSpPr>
            <a:spLocks noChangeAspect="1"/>
          </p:cNvSpPr>
          <p:nvPr/>
        </p:nvSpPr>
        <p:spPr>
          <a:xfrm>
            <a:off x="3084363" y="1735868"/>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1</a:t>
            </a:r>
          </a:p>
        </p:txBody>
      </p:sp>
      <p:sp>
        <p:nvSpPr>
          <p:cNvPr id="59" name="Oval 58">
            <a:extLst>
              <a:ext uri="{FF2B5EF4-FFF2-40B4-BE49-F238E27FC236}">
                <a16:creationId xmlns:a16="http://schemas.microsoft.com/office/drawing/2014/main" id="{539474AB-ACBF-48CE-903F-37C25411433F}"/>
              </a:ext>
            </a:extLst>
          </p:cNvPr>
          <p:cNvSpPr>
            <a:spLocks noChangeAspect="1"/>
          </p:cNvSpPr>
          <p:nvPr/>
        </p:nvSpPr>
        <p:spPr>
          <a:xfrm>
            <a:off x="3050615" y="3165580"/>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3</a:t>
            </a:r>
          </a:p>
        </p:txBody>
      </p:sp>
      <p:sp>
        <p:nvSpPr>
          <p:cNvPr id="60" name="Oval 59">
            <a:extLst>
              <a:ext uri="{FF2B5EF4-FFF2-40B4-BE49-F238E27FC236}">
                <a16:creationId xmlns:a16="http://schemas.microsoft.com/office/drawing/2014/main" id="{0B2B98A7-73F7-45AD-8BB4-F0B5C5A6177F}"/>
              </a:ext>
            </a:extLst>
          </p:cNvPr>
          <p:cNvSpPr>
            <a:spLocks noChangeAspect="1"/>
          </p:cNvSpPr>
          <p:nvPr/>
        </p:nvSpPr>
        <p:spPr>
          <a:xfrm>
            <a:off x="3040796" y="3915548"/>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4</a:t>
            </a:r>
          </a:p>
        </p:txBody>
      </p:sp>
      <p:sp>
        <p:nvSpPr>
          <p:cNvPr id="61" name="Oval 60">
            <a:extLst>
              <a:ext uri="{FF2B5EF4-FFF2-40B4-BE49-F238E27FC236}">
                <a16:creationId xmlns:a16="http://schemas.microsoft.com/office/drawing/2014/main" id="{5E5C9B55-AB6A-4A91-8720-FF6430BC61E4}"/>
              </a:ext>
            </a:extLst>
          </p:cNvPr>
          <p:cNvSpPr>
            <a:spLocks noChangeAspect="1"/>
          </p:cNvSpPr>
          <p:nvPr/>
        </p:nvSpPr>
        <p:spPr>
          <a:xfrm>
            <a:off x="3040796" y="4665516"/>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5</a:t>
            </a:r>
          </a:p>
        </p:txBody>
      </p:sp>
      <p:sp>
        <p:nvSpPr>
          <p:cNvPr id="2" name="Rectangle 1">
            <a:extLst>
              <a:ext uri="{FF2B5EF4-FFF2-40B4-BE49-F238E27FC236}">
                <a16:creationId xmlns:a16="http://schemas.microsoft.com/office/drawing/2014/main" id="{C39447CF-D4E1-43AD-BE54-D1AF5AD97F4C}"/>
              </a:ext>
            </a:extLst>
          </p:cNvPr>
          <p:cNvSpPr/>
          <p:nvPr/>
        </p:nvSpPr>
        <p:spPr>
          <a:xfrm>
            <a:off x="3677640" y="1533255"/>
            <a:ext cx="6096000" cy="4409669"/>
          </a:xfrm>
          <a:prstGeom prst="rect">
            <a:avLst/>
          </a:prstGeom>
        </p:spPr>
        <p:txBody>
          <a:bodyPr>
            <a:spAutoFit/>
          </a:bodyPr>
          <a:lstStyle/>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Introduction</a:t>
            </a:r>
          </a:p>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Essentials for efficient LEDs</a:t>
            </a:r>
          </a:p>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Perovskites</a:t>
            </a:r>
          </a:p>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Synthesis procedure</a:t>
            </a:r>
          </a:p>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Results and discussion</a:t>
            </a:r>
          </a:p>
          <a:p>
            <a:pPr defTabSz="609554">
              <a:lnSpc>
                <a:spcPct val="200000"/>
              </a:lnSpc>
            </a:pPr>
            <a:r>
              <a:rPr lang="en-US" altLang="ko-KR" sz="2400" b="1" dirty="0">
                <a:solidFill>
                  <a:prstClr val="black"/>
                </a:solidFill>
                <a:latin typeface="Helvitica"/>
                <a:ea typeface="맑은 고딕" panose="020B0503020000020004" pitchFamily="34" charset="-127"/>
                <a:cs typeface="Arial" pitchFamily="34" charset="0"/>
              </a:rPr>
              <a:t>Conclusion</a:t>
            </a:r>
          </a:p>
        </p:txBody>
      </p:sp>
      <p:sp>
        <p:nvSpPr>
          <p:cNvPr id="27" name="Oval 26">
            <a:extLst>
              <a:ext uri="{FF2B5EF4-FFF2-40B4-BE49-F238E27FC236}">
                <a16:creationId xmlns:a16="http://schemas.microsoft.com/office/drawing/2014/main" id="{B8264CBD-137A-CCE5-36E3-9561D8B400EE}"/>
              </a:ext>
            </a:extLst>
          </p:cNvPr>
          <p:cNvSpPr>
            <a:spLocks noChangeAspect="1"/>
          </p:cNvSpPr>
          <p:nvPr/>
        </p:nvSpPr>
        <p:spPr>
          <a:xfrm>
            <a:off x="3050615" y="5415484"/>
            <a:ext cx="582734" cy="582734"/>
          </a:xfrm>
          <a:prstGeom prst="ellipse">
            <a:avLst/>
          </a:prstGeom>
          <a:gradFill flip="none" rotWithShape="1">
            <a:gsLst>
              <a:gs pos="0">
                <a:srgbClr val="0779B7">
                  <a:lumMod val="50000"/>
                </a:srgbClr>
              </a:gs>
              <a:gs pos="50000">
                <a:srgbClr val="0779B7">
                  <a:lumMod val="75000"/>
                </a:srgbClr>
              </a:gs>
              <a:gs pos="100000">
                <a:srgbClr val="0779B7"/>
              </a:gs>
            </a:gsLst>
            <a:lin ang="18900000" scaled="1"/>
            <a:tileRect/>
          </a:gradFill>
          <a:ln w="0">
            <a:noFill/>
            <a:prstDash val="solid"/>
            <a:round/>
            <a:headEnd/>
            <a:tailEnd/>
          </a:ln>
        </p:spPr>
        <p:txBody>
          <a:bodyPr vert="horz" wrap="square" lIns="47987" tIns="60944" rIns="47987" bIns="60944" numCol="1" anchor="ctr" anchorCtr="1" compatLnSpc="1">
            <a:prstTxWarp prst="textNoShape">
              <a:avLst/>
            </a:prstTxWarp>
          </a:bodyPr>
          <a:lstStyle/>
          <a:p>
            <a:pPr algn="just" defTabSz="812699">
              <a:defRPr/>
            </a:pPr>
            <a:r>
              <a:rPr lang="en-US" sz="2933" kern="0" dirty="0">
                <a:solidFill>
                  <a:srgbClr val="FFFFFF"/>
                </a:solidFill>
                <a:latin typeface="Arial"/>
                <a:cs typeface="Arial" pitchFamily="34" charset="0"/>
              </a:rPr>
              <a:t>6</a:t>
            </a:r>
          </a:p>
        </p:txBody>
      </p:sp>
      <p:sp>
        <p:nvSpPr>
          <p:cNvPr id="3" name="Slide Number Placeholder 2">
            <a:extLst>
              <a:ext uri="{FF2B5EF4-FFF2-40B4-BE49-F238E27FC236}">
                <a16:creationId xmlns:a16="http://schemas.microsoft.com/office/drawing/2014/main" id="{2490883E-999F-6DFC-1AED-C657491F7B71}"/>
              </a:ext>
            </a:extLst>
          </p:cNvPr>
          <p:cNvSpPr>
            <a:spLocks noGrp="1"/>
          </p:cNvSpPr>
          <p:nvPr>
            <p:ph type="sldNum" sz="quarter" idx="12"/>
          </p:nvPr>
        </p:nvSpPr>
        <p:spPr/>
        <p:txBody>
          <a:bodyPr/>
          <a:lstStyle/>
          <a:p>
            <a:fld id="{2066355A-084C-D24E-9AD2-7E4FC41EA627}" type="slidenum">
              <a:rPr lang="en-US" smtClean="0"/>
              <a:t>2</a:t>
            </a:fld>
            <a:endParaRPr lang="en-US"/>
          </a:p>
        </p:txBody>
      </p:sp>
    </p:spTree>
    <p:extLst>
      <p:ext uri="{BB962C8B-B14F-4D97-AF65-F5344CB8AC3E}">
        <p14:creationId xmlns:p14="http://schemas.microsoft.com/office/powerpoint/2010/main" val="1919442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12958"/>
            <a:ext cx="12192000" cy="707582"/>
          </a:xfrm>
          <a:prstGeom prst="rect">
            <a:avLst/>
          </a:prstGeom>
          <a:gradFill flip="none" rotWithShape="1">
            <a:gsLst>
              <a:gs pos="35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endParaRPr lang="en-US" sz="2400">
              <a:solidFill>
                <a:prstClr val="white"/>
              </a:solidFill>
              <a:latin typeface="Calibri"/>
            </a:endParaRPr>
          </a:p>
        </p:txBody>
      </p:sp>
      <p:sp>
        <p:nvSpPr>
          <p:cNvPr id="40" name="TextBox 39">
            <a:extLst>
              <a:ext uri="{FF2B5EF4-FFF2-40B4-BE49-F238E27FC236}">
                <a16:creationId xmlns:a16="http://schemas.microsoft.com/office/drawing/2014/main" id="{E2AAECCA-B5F8-4D9A-987C-795441B5D003}"/>
              </a:ext>
            </a:extLst>
          </p:cNvPr>
          <p:cNvSpPr txBox="1"/>
          <p:nvPr/>
        </p:nvSpPr>
        <p:spPr>
          <a:xfrm>
            <a:off x="3925350" y="605576"/>
            <a:ext cx="7224673" cy="3057888"/>
          </a:xfrm>
          <a:prstGeom prst="rect">
            <a:avLst/>
          </a:prstGeom>
          <a:noFill/>
        </p:spPr>
        <p:txBody>
          <a:bodyPr wrap="square" rtlCol="0">
            <a:spAutoFit/>
          </a:bodyPr>
          <a:lstStyle/>
          <a:p>
            <a:pPr marL="228611" indent="-228611" algn="just" defTabSz="609554">
              <a:lnSpc>
                <a:spcPct val="150000"/>
              </a:lnSpc>
              <a:buFont typeface="Wingdings" panose="05000000000000000000" pitchFamily="2" charset="2"/>
              <a:buChar char="q"/>
            </a:pPr>
            <a:r>
              <a:rPr lang="en-US" sz="1867" dirty="0">
                <a:latin typeface="Times New Roman" panose="02020603050405020304" pitchFamily="18" charset="0"/>
                <a:cs typeface="Times New Roman" panose="02020603050405020304" pitchFamily="18" charset="0"/>
              </a:rPr>
              <a:t>LEDs convert electricity directly into photons of light, instead of the wasteful mixture of heat and light.</a:t>
            </a:r>
          </a:p>
          <a:p>
            <a:pPr marL="228611" indent="-228611" algn="just" defTabSz="609554">
              <a:lnSpc>
                <a:spcPct val="150000"/>
              </a:lnSpc>
              <a:buFont typeface="Wingdings" panose="05000000000000000000" pitchFamily="2" charset="2"/>
              <a:buChar char="q"/>
            </a:pPr>
            <a:r>
              <a:rPr lang="en-US" sz="1867" dirty="0">
                <a:latin typeface="Times New Roman" panose="02020603050405020304" pitchFamily="18" charset="0"/>
                <a:cs typeface="Times New Roman" panose="02020603050405020304" pitchFamily="18" charset="0"/>
              </a:rPr>
              <a:t>Advantages of using LEDs </a:t>
            </a:r>
          </a:p>
          <a:p>
            <a:pPr marL="228611" indent="-228611" algn="just" defTabSz="609554">
              <a:lnSpc>
                <a:spcPct val="150000"/>
              </a:lnSpc>
              <a:buFont typeface="Wingdings" panose="05000000000000000000" pitchFamily="2" charset="2"/>
              <a:buChar char="§"/>
            </a:pPr>
            <a:r>
              <a:rPr lang="en-US" sz="1867" dirty="0">
                <a:latin typeface="Times New Roman" panose="02020603050405020304" pitchFamily="18" charset="0"/>
                <a:cs typeface="Times New Roman" panose="02020603050405020304" pitchFamily="18" charset="0"/>
              </a:rPr>
              <a:t>LEDs produce more light per watt </a:t>
            </a:r>
          </a:p>
          <a:p>
            <a:pPr marL="228611" indent="-228611" algn="just" defTabSz="609554">
              <a:lnSpc>
                <a:spcPct val="150000"/>
              </a:lnSpc>
              <a:buFont typeface="Wingdings" panose="05000000000000000000" pitchFamily="2" charset="2"/>
              <a:buChar char="§"/>
            </a:pPr>
            <a:r>
              <a:rPr lang="en-US" sz="1867" dirty="0">
                <a:latin typeface="Times New Roman" panose="02020603050405020304" pitchFamily="18" charset="0"/>
                <a:cs typeface="Times New Roman" panose="02020603050405020304" pitchFamily="18" charset="0"/>
              </a:rPr>
              <a:t>LEDs can emit light of an intended color without the use of color filters.</a:t>
            </a:r>
          </a:p>
          <a:p>
            <a:pPr marL="228611" indent="-228611" algn="just" defTabSz="609554">
              <a:lnSpc>
                <a:spcPct val="150000"/>
              </a:lnSpc>
              <a:buFont typeface="Wingdings" panose="05000000000000000000" pitchFamily="2" charset="2"/>
              <a:buChar char="§"/>
            </a:pPr>
            <a:r>
              <a:rPr lang="en-US" sz="1867" dirty="0">
                <a:latin typeface="Times New Roman" panose="02020603050405020304" pitchFamily="18" charset="0"/>
                <a:cs typeface="Times New Roman" panose="02020603050405020304" pitchFamily="18" charset="0"/>
              </a:rPr>
              <a:t>LEDs can have a relatively long life. </a:t>
            </a:r>
          </a:p>
        </p:txBody>
      </p:sp>
      <p:sp>
        <p:nvSpPr>
          <p:cNvPr id="41" name="TextBox 40">
            <a:extLst>
              <a:ext uri="{FF2B5EF4-FFF2-40B4-BE49-F238E27FC236}">
                <a16:creationId xmlns:a16="http://schemas.microsoft.com/office/drawing/2014/main" id="{6BEC142E-4709-4EC4-9E9F-82E2838E59D4}"/>
              </a:ext>
            </a:extLst>
          </p:cNvPr>
          <p:cNvSpPr txBox="1"/>
          <p:nvPr/>
        </p:nvSpPr>
        <p:spPr>
          <a:xfrm>
            <a:off x="420073" y="21367"/>
            <a:ext cx="4328677" cy="646331"/>
          </a:xfrm>
          <a:prstGeom prst="rect">
            <a:avLst/>
          </a:prstGeom>
          <a:noFill/>
        </p:spPr>
        <p:txBody>
          <a:bodyPr wrap="square" rtlCol="0">
            <a:spAutoFit/>
          </a:bodyPr>
          <a:lstStyle/>
          <a:p>
            <a:pPr defTabSz="609554"/>
            <a:r>
              <a:rPr lang="en-US" altLang="ko-KR" sz="3600" b="1" u="sng" dirty="0">
                <a:solidFill>
                  <a:prstClr val="white"/>
                </a:solidFill>
                <a:latin typeface="Times New Roman" panose="02020603050405020304" pitchFamily="18" charset="0"/>
                <a:ea typeface="맑은 고딕" panose="020B0503020000020004" pitchFamily="34" charset="-127"/>
                <a:cs typeface="Times New Roman" panose="02020603050405020304" pitchFamily="18" charset="0"/>
              </a:rPr>
              <a:t>Introduction</a:t>
            </a:r>
            <a:endParaRPr lang="ko-KR" altLang="en-US" sz="3600" b="1" u="sng" dirty="0">
              <a:solidFill>
                <a:prstClr val="white"/>
              </a:solidFill>
              <a:latin typeface="Times New Roman" panose="02020603050405020304" pitchFamily="18" charset="0"/>
              <a:ea typeface="맑은 고딕" panose="020B0503020000020004" pitchFamily="34" charset="-127"/>
              <a:cs typeface="Times New Roman" panose="02020603050405020304" pitchFamily="18" charset="0"/>
            </a:endParaRPr>
          </a:p>
        </p:txBody>
      </p:sp>
      <p:pic>
        <p:nvPicPr>
          <p:cNvPr id="53" name="Picture 52">
            <a:extLst>
              <a:ext uri="{FF2B5EF4-FFF2-40B4-BE49-F238E27FC236}">
                <a16:creationId xmlns:a16="http://schemas.microsoft.com/office/drawing/2014/main" id="{BFF7E6F5-8469-4143-8D7E-1B0BD241A5B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300000"/>
                    </a14:imgEffect>
                  </a14:imgLayer>
                </a14:imgProps>
              </a:ext>
              <a:ext uri="{28A0092B-C50C-407E-A947-70E740481C1C}">
                <a14:useLocalDpi xmlns:a14="http://schemas.microsoft.com/office/drawing/2010/main" val="0"/>
              </a:ext>
            </a:extLst>
          </a:blip>
          <a:stretch>
            <a:fillRect/>
          </a:stretch>
        </p:blipFill>
        <p:spPr>
          <a:xfrm>
            <a:off x="420073" y="1556819"/>
            <a:ext cx="2061051" cy="4726503"/>
          </a:xfrm>
          <a:prstGeom prst="rect">
            <a:avLst/>
          </a:prstGeom>
        </p:spPr>
      </p:pic>
      <p:sp>
        <p:nvSpPr>
          <p:cNvPr id="54" name="Rectangle 53">
            <a:extLst>
              <a:ext uri="{FF2B5EF4-FFF2-40B4-BE49-F238E27FC236}">
                <a16:creationId xmlns:a16="http://schemas.microsoft.com/office/drawing/2014/main" id="{1A6F7762-36D9-4E59-A27E-41C391DB27C9}"/>
              </a:ext>
            </a:extLst>
          </p:cNvPr>
          <p:cNvSpPr/>
          <p:nvPr/>
        </p:nvSpPr>
        <p:spPr>
          <a:xfrm>
            <a:off x="1706781" y="1693925"/>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Cathode</a:t>
            </a:r>
          </a:p>
        </p:txBody>
      </p:sp>
      <p:sp>
        <p:nvSpPr>
          <p:cNvPr id="55" name="Rectangle 54">
            <a:extLst>
              <a:ext uri="{FF2B5EF4-FFF2-40B4-BE49-F238E27FC236}">
                <a16:creationId xmlns:a16="http://schemas.microsoft.com/office/drawing/2014/main" id="{F3F0536F-09B7-413F-902E-109484857F2E}"/>
              </a:ext>
            </a:extLst>
          </p:cNvPr>
          <p:cNvSpPr/>
          <p:nvPr/>
        </p:nvSpPr>
        <p:spPr>
          <a:xfrm>
            <a:off x="1571396" y="2352640"/>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ETL</a:t>
            </a:r>
          </a:p>
        </p:txBody>
      </p:sp>
      <p:sp>
        <p:nvSpPr>
          <p:cNvPr id="56" name="Rectangle 55">
            <a:extLst>
              <a:ext uri="{FF2B5EF4-FFF2-40B4-BE49-F238E27FC236}">
                <a16:creationId xmlns:a16="http://schemas.microsoft.com/office/drawing/2014/main" id="{6551DF68-6093-4C1B-80AC-35AFB555CEB6}"/>
              </a:ext>
            </a:extLst>
          </p:cNvPr>
          <p:cNvSpPr/>
          <p:nvPr/>
        </p:nvSpPr>
        <p:spPr>
          <a:xfrm>
            <a:off x="2060355" y="2957188"/>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Emission layer</a:t>
            </a:r>
          </a:p>
        </p:txBody>
      </p:sp>
      <p:sp>
        <p:nvSpPr>
          <p:cNvPr id="57" name="Rectangle 56">
            <a:extLst>
              <a:ext uri="{FF2B5EF4-FFF2-40B4-BE49-F238E27FC236}">
                <a16:creationId xmlns:a16="http://schemas.microsoft.com/office/drawing/2014/main" id="{B149B4FA-D902-464C-AF3E-8A96AE18BE03}"/>
              </a:ext>
            </a:extLst>
          </p:cNvPr>
          <p:cNvSpPr/>
          <p:nvPr/>
        </p:nvSpPr>
        <p:spPr>
          <a:xfrm>
            <a:off x="1592104" y="3666761"/>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HTL</a:t>
            </a:r>
          </a:p>
        </p:txBody>
      </p:sp>
      <p:sp>
        <p:nvSpPr>
          <p:cNvPr id="58" name="Rectangle 57">
            <a:extLst>
              <a:ext uri="{FF2B5EF4-FFF2-40B4-BE49-F238E27FC236}">
                <a16:creationId xmlns:a16="http://schemas.microsoft.com/office/drawing/2014/main" id="{6EF9DEB0-218D-4775-A2F1-8AAFE803E3D7}"/>
              </a:ext>
            </a:extLst>
          </p:cNvPr>
          <p:cNvSpPr/>
          <p:nvPr/>
        </p:nvSpPr>
        <p:spPr>
          <a:xfrm>
            <a:off x="1561134" y="4332975"/>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HIL</a:t>
            </a:r>
          </a:p>
        </p:txBody>
      </p:sp>
      <p:sp>
        <p:nvSpPr>
          <p:cNvPr id="59" name="Rectangle 58">
            <a:extLst>
              <a:ext uri="{FF2B5EF4-FFF2-40B4-BE49-F238E27FC236}">
                <a16:creationId xmlns:a16="http://schemas.microsoft.com/office/drawing/2014/main" id="{621FDE3C-F923-4048-AABB-FCEBDCDA145A}"/>
              </a:ext>
            </a:extLst>
          </p:cNvPr>
          <p:cNvSpPr/>
          <p:nvPr/>
        </p:nvSpPr>
        <p:spPr>
          <a:xfrm>
            <a:off x="1706781" y="4927787"/>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Anode</a:t>
            </a:r>
          </a:p>
        </p:txBody>
      </p:sp>
      <p:sp>
        <p:nvSpPr>
          <p:cNvPr id="60" name="Rectangle 59">
            <a:extLst>
              <a:ext uri="{FF2B5EF4-FFF2-40B4-BE49-F238E27FC236}">
                <a16:creationId xmlns:a16="http://schemas.microsoft.com/office/drawing/2014/main" id="{97E9EB8F-01F5-44ED-B0E3-E6C08238179A}"/>
              </a:ext>
            </a:extLst>
          </p:cNvPr>
          <p:cNvSpPr/>
          <p:nvPr/>
        </p:nvSpPr>
        <p:spPr>
          <a:xfrm>
            <a:off x="1874895" y="5596303"/>
            <a:ext cx="2218569" cy="307777"/>
          </a:xfrm>
          <a:prstGeom prst="rect">
            <a:avLst/>
          </a:prstGeom>
          <a:noFill/>
        </p:spPr>
        <p:txBody>
          <a:bodyPr wrap="square" lIns="60960" tIns="30480" rIns="60960" bIns="30480">
            <a:spAutoFit/>
          </a:bodyPr>
          <a:lstStyle/>
          <a:p>
            <a:pPr algn="ctr" defTabSz="609554"/>
            <a:r>
              <a:rPr lang="en-US" sz="1600" dirty="0">
                <a:ln w="0"/>
                <a:solidFill>
                  <a:srgbClr val="002060"/>
                </a:solidFill>
                <a:effectLst>
                  <a:outerShdw blurRad="38100" dist="19050" dir="2700000" algn="tl" rotWithShape="0">
                    <a:prstClr val="black">
                      <a:alpha val="40000"/>
                    </a:prstClr>
                  </a:outerShdw>
                </a:effectLst>
                <a:latin typeface="Arial"/>
              </a:rPr>
              <a:t>Substrate</a:t>
            </a:r>
          </a:p>
        </p:txBody>
      </p:sp>
      <p:pic>
        <p:nvPicPr>
          <p:cNvPr id="61" name="Picture 60">
            <a:extLst>
              <a:ext uri="{FF2B5EF4-FFF2-40B4-BE49-F238E27FC236}">
                <a16:creationId xmlns:a16="http://schemas.microsoft.com/office/drawing/2014/main" id="{13192198-BB80-4234-BC6F-00B18A606936}"/>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920764" y="3596205"/>
            <a:ext cx="4130155" cy="2970939"/>
          </a:xfrm>
          <a:prstGeom prst="rect">
            <a:avLst/>
          </a:prstGeom>
        </p:spPr>
      </p:pic>
      <p:sp>
        <p:nvSpPr>
          <p:cNvPr id="2" name="Slide Number Placeholder 1">
            <a:extLst>
              <a:ext uri="{FF2B5EF4-FFF2-40B4-BE49-F238E27FC236}">
                <a16:creationId xmlns:a16="http://schemas.microsoft.com/office/drawing/2014/main" id="{0BEC3B8D-C339-FD9A-3D06-EF14523181F2}"/>
              </a:ext>
            </a:extLst>
          </p:cNvPr>
          <p:cNvSpPr>
            <a:spLocks noGrp="1"/>
          </p:cNvSpPr>
          <p:nvPr>
            <p:ph type="sldNum" sz="quarter" idx="12"/>
          </p:nvPr>
        </p:nvSpPr>
        <p:spPr/>
        <p:txBody>
          <a:bodyPr/>
          <a:lstStyle/>
          <a:p>
            <a:fld id="{2066355A-084C-D24E-9AD2-7E4FC41EA627}" type="slidenum">
              <a:rPr lang="en-US" smtClean="0"/>
              <a:t>3</a:t>
            </a:fld>
            <a:endParaRPr lang="en-US"/>
          </a:p>
        </p:txBody>
      </p:sp>
    </p:spTree>
    <p:extLst>
      <p:ext uri="{BB962C8B-B14F-4D97-AF65-F5344CB8AC3E}">
        <p14:creationId xmlns:p14="http://schemas.microsoft.com/office/powerpoint/2010/main" val="36722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2488"/>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Calibri"/>
            </a:endParaRPr>
          </a:p>
        </p:txBody>
      </p:sp>
      <p:sp>
        <p:nvSpPr>
          <p:cNvPr id="12" name="Text Placeholder 1">
            <a:extLst>
              <a:ext uri="{FF2B5EF4-FFF2-40B4-BE49-F238E27FC236}">
                <a16:creationId xmlns:a16="http://schemas.microsoft.com/office/drawing/2014/main" id="{37D56F00-6168-4868-BCF6-7687CC2541AF}"/>
              </a:ext>
            </a:extLst>
          </p:cNvPr>
          <p:cNvSpPr txBox="1">
            <a:spLocks/>
          </p:cNvSpPr>
          <p:nvPr/>
        </p:nvSpPr>
        <p:spPr>
          <a:xfrm>
            <a:off x="480000" y="85717"/>
            <a:ext cx="7715465" cy="482831"/>
          </a:xfrm>
          <a:prstGeom prst="rect">
            <a:avLst/>
          </a:prstGeom>
        </p:spPr>
        <p:txBody>
          <a:bodyPr vert="horz" lIns="121920" tIns="60960" rIns="121920" bIns="60960" rtlCol="0" anchor="ctr">
            <a:noAutofit/>
          </a:bodyPr>
          <a:lstStyle>
            <a:defPPr>
              <a:defRPr lang="en-US"/>
            </a:defPPr>
            <a:lvl1pPr marL="0" algn="l" defTabSz="914400" rtl="0" eaLnBrk="1" latinLnBrk="0" hangingPunct="1">
              <a:defRPr sz="2400" kern="1200">
                <a:solidFill>
                  <a:schemeClr val="tx1">
                    <a:tint val="75000"/>
                  </a:schemeClr>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a:lstStyle>
          <a:p>
            <a:pPr defTabSz="609630"/>
            <a:r>
              <a:rPr lang="en-US" sz="3600" b="1" u="sng" dirty="0">
                <a:solidFill>
                  <a:prstClr val="white"/>
                </a:solidFill>
                <a:latin typeface="Times New Roman" panose="02020603050405020304" pitchFamily="18" charset="0"/>
                <a:cs typeface="Times New Roman" panose="02020603050405020304" pitchFamily="18" charset="0"/>
              </a:rPr>
              <a:t>Essentials for efficient LEDs</a:t>
            </a:r>
          </a:p>
        </p:txBody>
      </p:sp>
      <p:grpSp>
        <p:nvGrpSpPr>
          <p:cNvPr id="13" name="그룹 5">
            <a:extLst>
              <a:ext uri="{FF2B5EF4-FFF2-40B4-BE49-F238E27FC236}">
                <a16:creationId xmlns:a16="http://schemas.microsoft.com/office/drawing/2014/main" id="{C01DB6EE-252B-4953-A74B-5D1F315F963A}"/>
              </a:ext>
            </a:extLst>
          </p:cNvPr>
          <p:cNvGrpSpPr/>
          <p:nvPr/>
        </p:nvGrpSpPr>
        <p:grpSpPr>
          <a:xfrm>
            <a:off x="5297710" y="1137511"/>
            <a:ext cx="2083333" cy="3674828"/>
            <a:chOff x="3539504" y="1812927"/>
            <a:chExt cx="2156062" cy="3480435"/>
          </a:xfrm>
        </p:grpSpPr>
        <p:grpSp>
          <p:nvGrpSpPr>
            <p:cNvPr id="17" name="Group 16">
              <a:extLst>
                <a:ext uri="{FF2B5EF4-FFF2-40B4-BE49-F238E27FC236}">
                  <a16:creationId xmlns:a16="http://schemas.microsoft.com/office/drawing/2014/main" id="{E47119A1-1B2C-4DB5-9E29-7D59EB5C031E}"/>
                </a:ext>
              </a:extLst>
            </p:cNvPr>
            <p:cNvGrpSpPr/>
            <p:nvPr/>
          </p:nvGrpSpPr>
          <p:grpSpPr>
            <a:xfrm>
              <a:off x="3539504" y="4043430"/>
              <a:ext cx="757285" cy="1249932"/>
              <a:chOff x="3319643" y="3717032"/>
              <a:chExt cx="641101" cy="1058168"/>
            </a:xfrm>
          </p:grpSpPr>
          <p:sp>
            <p:nvSpPr>
              <p:cNvPr id="30" name="Round Same Side Corner Rectangle 3">
                <a:extLst>
                  <a:ext uri="{FF2B5EF4-FFF2-40B4-BE49-F238E27FC236}">
                    <a16:creationId xmlns:a16="http://schemas.microsoft.com/office/drawing/2014/main" id="{DF5071DB-F592-4D79-BD17-37A13F5A67E0}"/>
                  </a:ext>
                </a:extLst>
              </p:cNvPr>
              <p:cNvSpPr/>
              <p:nvPr/>
            </p:nvSpPr>
            <p:spPr>
              <a:xfrm rot="10800000">
                <a:off x="3777403" y="4005064"/>
                <a:ext cx="183341" cy="770136"/>
              </a:xfrm>
              <a:prstGeom prst="round2SameRect">
                <a:avLst>
                  <a:gd name="adj1" fmla="val 50000"/>
                  <a:gd name="adj2"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ko-KR" altLang="en-US">
                  <a:solidFill>
                    <a:prstClr val="white"/>
                  </a:solidFill>
                  <a:latin typeface="Calibri"/>
                  <a:ea typeface="맑은 고딕" panose="020B0503020000020004" pitchFamily="34" charset="-127"/>
                </a:endParaRPr>
              </a:p>
            </p:txBody>
          </p:sp>
          <p:sp>
            <p:nvSpPr>
              <p:cNvPr id="31" name="Oval 30">
                <a:extLst>
                  <a:ext uri="{FF2B5EF4-FFF2-40B4-BE49-F238E27FC236}">
                    <a16:creationId xmlns:a16="http://schemas.microsoft.com/office/drawing/2014/main" id="{4198AF31-1C7D-43A1-82E4-28088B76A350}"/>
                  </a:ext>
                </a:extLst>
              </p:cNvPr>
              <p:cNvSpPr/>
              <p:nvPr/>
            </p:nvSpPr>
            <p:spPr>
              <a:xfrm>
                <a:off x="3319643" y="3717032"/>
                <a:ext cx="576064" cy="576064"/>
              </a:xfrm>
              <a:prstGeom prst="ellipse">
                <a:avLst/>
              </a:prstGeom>
              <a:solidFill>
                <a:schemeClr val="bg1"/>
              </a:solidFill>
              <a:ln w="152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r>
                  <a:rPr lang="en-IN" altLang="ko-KR" sz="2667" b="1" dirty="0">
                    <a:solidFill>
                      <a:prstClr val="black"/>
                    </a:solidFill>
                    <a:latin typeface="Calibri"/>
                    <a:ea typeface="맑은 고딕" panose="020B0503020000020004" pitchFamily="34" charset="-127"/>
                  </a:rPr>
                  <a:t>5</a:t>
                </a:r>
                <a:endParaRPr lang="ko-KR" altLang="en-US" b="1" dirty="0">
                  <a:solidFill>
                    <a:prstClr val="black"/>
                  </a:solidFill>
                  <a:latin typeface="Calibri"/>
                  <a:ea typeface="맑은 고딕" panose="020B0503020000020004" pitchFamily="34" charset="-127"/>
                </a:endParaRPr>
              </a:p>
            </p:txBody>
          </p:sp>
        </p:grpSp>
        <p:grpSp>
          <p:nvGrpSpPr>
            <p:cNvPr id="18" name="Group 17">
              <a:extLst>
                <a:ext uri="{FF2B5EF4-FFF2-40B4-BE49-F238E27FC236}">
                  <a16:creationId xmlns:a16="http://schemas.microsoft.com/office/drawing/2014/main" id="{CEC24C51-4DB8-4A19-A9DE-A330770986A6}"/>
                </a:ext>
              </a:extLst>
            </p:cNvPr>
            <p:cNvGrpSpPr/>
            <p:nvPr/>
          </p:nvGrpSpPr>
          <p:grpSpPr>
            <a:xfrm>
              <a:off x="3753192" y="2929372"/>
              <a:ext cx="756214" cy="2363990"/>
              <a:chOff x="3503484" y="2773890"/>
              <a:chExt cx="640195" cy="2001310"/>
            </a:xfrm>
          </p:grpSpPr>
          <p:sp>
            <p:nvSpPr>
              <p:cNvPr id="28" name="Round Same Side Corner Rectangle 8">
                <a:extLst>
                  <a:ext uri="{FF2B5EF4-FFF2-40B4-BE49-F238E27FC236}">
                    <a16:creationId xmlns:a16="http://schemas.microsoft.com/office/drawing/2014/main" id="{4E919E19-71CB-4289-A18C-E6D6AB9BE1CA}"/>
                  </a:ext>
                </a:extLst>
              </p:cNvPr>
              <p:cNvSpPr/>
              <p:nvPr/>
            </p:nvSpPr>
            <p:spPr>
              <a:xfrm rot="10800000">
                <a:off x="3960338" y="3061922"/>
                <a:ext cx="183341" cy="1713278"/>
              </a:xfrm>
              <a:prstGeom prst="round2SameRect">
                <a:avLst>
                  <a:gd name="adj1" fmla="val 50000"/>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ko-KR" altLang="en-US">
                  <a:solidFill>
                    <a:prstClr val="white"/>
                  </a:solidFill>
                  <a:latin typeface="Calibri"/>
                  <a:ea typeface="맑은 고딕" panose="020B0503020000020004" pitchFamily="34" charset="-127"/>
                </a:endParaRPr>
              </a:p>
            </p:txBody>
          </p:sp>
          <p:sp>
            <p:nvSpPr>
              <p:cNvPr id="29" name="Oval 28">
                <a:extLst>
                  <a:ext uri="{FF2B5EF4-FFF2-40B4-BE49-F238E27FC236}">
                    <a16:creationId xmlns:a16="http://schemas.microsoft.com/office/drawing/2014/main" id="{24B1B825-8E58-48C6-BC94-548C8944AE47}"/>
                  </a:ext>
                </a:extLst>
              </p:cNvPr>
              <p:cNvSpPr/>
              <p:nvPr/>
            </p:nvSpPr>
            <p:spPr>
              <a:xfrm>
                <a:off x="3503484" y="2773890"/>
                <a:ext cx="576064" cy="576064"/>
              </a:xfrm>
              <a:prstGeom prst="ellipse">
                <a:avLst/>
              </a:prstGeom>
              <a:solidFill>
                <a:schemeClr val="bg1"/>
              </a:solidFill>
              <a:ln w="152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r>
                  <a:rPr lang="en-IN" altLang="ko-KR" sz="2667" b="1" dirty="0">
                    <a:solidFill>
                      <a:prstClr val="black"/>
                    </a:solidFill>
                    <a:latin typeface="Calibri"/>
                    <a:ea typeface="맑은 고딕" panose="020B0503020000020004" pitchFamily="34" charset="-127"/>
                  </a:rPr>
                  <a:t>3</a:t>
                </a:r>
                <a:endParaRPr lang="ko-KR" altLang="en-US" sz="1600" b="1" dirty="0">
                  <a:solidFill>
                    <a:prstClr val="black"/>
                  </a:solidFill>
                  <a:latin typeface="Calibri"/>
                  <a:ea typeface="맑은 고딕" panose="020B0503020000020004" pitchFamily="34" charset="-127"/>
                </a:endParaRPr>
              </a:p>
            </p:txBody>
          </p:sp>
        </p:grpSp>
        <p:grpSp>
          <p:nvGrpSpPr>
            <p:cNvPr id="19" name="Group 18">
              <a:extLst>
                <a:ext uri="{FF2B5EF4-FFF2-40B4-BE49-F238E27FC236}">
                  <a16:creationId xmlns:a16="http://schemas.microsoft.com/office/drawing/2014/main" id="{05E72EB3-D560-419F-AEED-56F6F5830336}"/>
                </a:ext>
              </a:extLst>
            </p:cNvPr>
            <p:cNvGrpSpPr/>
            <p:nvPr/>
          </p:nvGrpSpPr>
          <p:grpSpPr>
            <a:xfrm>
              <a:off x="3991278" y="1812927"/>
              <a:ext cx="731832" cy="3478053"/>
              <a:chOff x="3707063" y="1830748"/>
              <a:chExt cx="619554" cy="2944452"/>
            </a:xfrm>
          </p:grpSpPr>
          <p:sp>
            <p:nvSpPr>
              <p:cNvPr id="26" name="Round Same Side Corner Rectangle 9">
                <a:extLst>
                  <a:ext uri="{FF2B5EF4-FFF2-40B4-BE49-F238E27FC236}">
                    <a16:creationId xmlns:a16="http://schemas.microsoft.com/office/drawing/2014/main" id="{55384261-F12B-4780-9D62-32FAD9E0639C}"/>
                  </a:ext>
                </a:extLst>
              </p:cNvPr>
              <p:cNvSpPr/>
              <p:nvPr/>
            </p:nvSpPr>
            <p:spPr>
              <a:xfrm rot="10800000">
                <a:off x="4143276" y="2118780"/>
                <a:ext cx="183341" cy="2656420"/>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ko-KR" altLang="en-US">
                  <a:solidFill>
                    <a:prstClr val="white"/>
                  </a:solidFill>
                  <a:latin typeface="Calibri"/>
                  <a:ea typeface="맑은 고딕" panose="020B0503020000020004" pitchFamily="34" charset="-127"/>
                </a:endParaRPr>
              </a:p>
            </p:txBody>
          </p:sp>
          <p:sp>
            <p:nvSpPr>
              <p:cNvPr id="27" name="Oval 26">
                <a:extLst>
                  <a:ext uri="{FF2B5EF4-FFF2-40B4-BE49-F238E27FC236}">
                    <a16:creationId xmlns:a16="http://schemas.microsoft.com/office/drawing/2014/main" id="{39210719-A0F7-4971-AE36-4DDD9EEA314E}"/>
                  </a:ext>
                </a:extLst>
              </p:cNvPr>
              <p:cNvSpPr/>
              <p:nvPr/>
            </p:nvSpPr>
            <p:spPr>
              <a:xfrm>
                <a:off x="3707063" y="1830748"/>
                <a:ext cx="576064" cy="576064"/>
              </a:xfrm>
              <a:prstGeom prst="ellipse">
                <a:avLst/>
              </a:prstGeom>
              <a:solidFill>
                <a:schemeClr val="bg1"/>
              </a:solidFill>
              <a:ln w="152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r>
                  <a:rPr lang="en-IN" altLang="ko-KR" sz="2667" b="1" dirty="0">
                    <a:solidFill>
                      <a:prstClr val="black"/>
                    </a:solidFill>
                    <a:latin typeface="Calibri"/>
                    <a:ea typeface="맑은 고딕" panose="020B0503020000020004" pitchFamily="34" charset="-127"/>
                  </a:rPr>
                  <a:t>1</a:t>
                </a:r>
                <a:endParaRPr lang="ko-KR" altLang="en-US" sz="2667" b="1" dirty="0">
                  <a:solidFill>
                    <a:prstClr val="black"/>
                  </a:solidFill>
                  <a:latin typeface="Calibri"/>
                  <a:ea typeface="맑은 고딕" panose="020B0503020000020004" pitchFamily="34" charset="-127"/>
                </a:endParaRPr>
              </a:p>
            </p:txBody>
          </p:sp>
        </p:grpSp>
        <p:grpSp>
          <p:nvGrpSpPr>
            <p:cNvPr id="20" name="Group 19">
              <a:extLst>
                <a:ext uri="{FF2B5EF4-FFF2-40B4-BE49-F238E27FC236}">
                  <a16:creationId xmlns:a16="http://schemas.microsoft.com/office/drawing/2014/main" id="{F43F1FC8-2F20-4BE9-AA29-AB60DAA231E5}"/>
                </a:ext>
              </a:extLst>
            </p:cNvPr>
            <p:cNvGrpSpPr/>
            <p:nvPr/>
          </p:nvGrpSpPr>
          <p:grpSpPr>
            <a:xfrm>
              <a:off x="4722450" y="2359182"/>
              <a:ext cx="696965" cy="2934178"/>
              <a:chOff x="4326213" y="2291182"/>
              <a:chExt cx="590035" cy="2484018"/>
            </a:xfrm>
          </p:grpSpPr>
          <p:sp>
            <p:nvSpPr>
              <p:cNvPr id="24" name="Round Same Side Corner Rectangle 10">
                <a:extLst>
                  <a:ext uri="{FF2B5EF4-FFF2-40B4-BE49-F238E27FC236}">
                    <a16:creationId xmlns:a16="http://schemas.microsoft.com/office/drawing/2014/main" id="{940A268C-CEAD-4DD4-BFB5-0AC05A24085A}"/>
                  </a:ext>
                </a:extLst>
              </p:cNvPr>
              <p:cNvSpPr/>
              <p:nvPr/>
            </p:nvSpPr>
            <p:spPr>
              <a:xfrm rot="10800000">
                <a:off x="4326213" y="2590351"/>
                <a:ext cx="183341" cy="2184849"/>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ko-KR" altLang="en-US" dirty="0">
                  <a:solidFill>
                    <a:prstClr val="white"/>
                  </a:solidFill>
                  <a:latin typeface="Calibri"/>
                  <a:ea typeface="맑은 고딕" panose="020B0503020000020004" pitchFamily="34" charset="-127"/>
                </a:endParaRPr>
              </a:p>
            </p:txBody>
          </p:sp>
          <p:sp>
            <p:nvSpPr>
              <p:cNvPr id="25" name="Oval 24">
                <a:extLst>
                  <a:ext uri="{FF2B5EF4-FFF2-40B4-BE49-F238E27FC236}">
                    <a16:creationId xmlns:a16="http://schemas.microsoft.com/office/drawing/2014/main" id="{0369F8DD-1DB7-4C16-9199-BD833852A87F}"/>
                  </a:ext>
                </a:extLst>
              </p:cNvPr>
              <p:cNvSpPr/>
              <p:nvPr/>
            </p:nvSpPr>
            <p:spPr>
              <a:xfrm>
                <a:off x="4340184" y="2291182"/>
                <a:ext cx="576064" cy="576064"/>
              </a:xfrm>
              <a:prstGeom prst="ellipse">
                <a:avLst/>
              </a:prstGeom>
              <a:solidFill>
                <a:schemeClr val="bg1"/>
              </a:solidFill>
              <a:ln w="152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r>
                  <a:rPr lang="en-IN" altLang="ko-KR" sz="2667" b="1" dirty="0">
                    <a:solidFill>
                      <a:prstClr val="black"/>
                    </a:solidFill>
                    <a:latin typeface="Calibri"/>
                    <a:ea typeface="맑은 고딕" panose="020B0503020000020004" pitchFamily="34" charset="-127"/>
                  </a:rPr>
                  <a:t>2</a:t>
                </a:r>
                <a:endParaRPr lang="ko-KR" altLang="en-US" dirty="0">
                  <a:solidFill>
                    <a:prstClr val="white"/>
                  </a:solidFill>
                  <a:latin typeface="Calibri"/>
                  <a:ea typeface="맑은 고딕" panose="020B0503020000020004" pitchFamily="34" charset="-127"/>
                </a:endParaRPr>
              </a:p>
            </p:txBody>
          </p:sp>
        </p:grpSp>
        <p:grpSp>
          <p:nvGrpSpPr>
            <p:cNvPr id="21" name="Group 20">
              <a:extLst>
                <a:ext uri="{FF2B5EF4-FFF2-40B4-BE49-F238E27FC236}">
                  <a16:creationId xmlns:a16="http://schemas.microsoft.com/office/drawing/2014/main" id="{F537CD80-B89A-40D7-95BC-EA3ABE39FF5A}"/>
                </a:ext>
              </a:extLst>
            </p:cNvPr>
            <p:cNvGrpSpPr/>
            <p:nvPr/>
          </p:nvGrpSpPr>
          <p:grpSpPr>
            <a:xfrm>
              <a:off x="4938107" y="3486400"/>
              <a:ext cx="757459" cy="1806962"/>
              <a:chOff x="4509151" y="3245461"/>
              <a:chExt cx="641249" cy="1529739"/>
            </a:xfrm>
          </p:grpSpPr>
          <p:sp>
            <p:nvSpPr>
              <p:cNvPr id="22" name="Round Same Side Corner Rectangle 11">
                <a:extLst>
                  <a:ext uri="{FF2B5EF4-FFF2-40B4-BE49-F238E27FC236}">
                    <a16:creationId xmlns:a16="http://schemas.microsoft.com/office/drawing/2014/main" id="{FD5DD571-B77B-4FFA-846F-11B9CA424304}"/>
                  </a:ext>
                </a:extLst>
              </p:cNvPr>
              <p:cNvSpPr/>
              <p:nvPr/>
            </p:nvSpPr>
            <p:spPr>
              <a:xfrm rot="10800000">
                <a:off x="4509151" y="3533493"/>
                <a:ext cx="183341" cy="1241707"/>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ko-KR" altLang="en-US">
                  <a:solidFill>
                    <a:prstClr val="white"/>
                  </a:solidFill>
                  <a:latin typeface="Calibri"/>
                  <a:ea typeface="맑은 고딕" panose="020B0503020000020004" pitchFamily="34" charset="-127"/>
                </a:endParaRPr>
              </a:p>
            </p:txBody>
          </p:sp>
          <p:sp>
            <p:nvSpPr>
              <p:cNvPr id="23" name="Oval 22">
                <a:extLst>
                  <a:ext uri="{FF2B5EF4-FFF2-40B4-BE49-F238E27FC236}">
                    <a16:creationId xmlns:a16="http://schemas.microsoft.com/office/drawing/2014/main" id="{824DBD93-84EE-42E6-BE99-FAD006C75942}"/>
                  </a:ext>
                </a:extLst>
              </p:cNvPr>
              <p:cNvSpPr/>
              <p:nvPr/>
            </p:nvSpPr>
            <p:spPr>
              <a:xfrm>
                <a:off x="4574336" y="3245461"/>
                <a:ext cx="576064" cy="576064"/>
              </a:xfrm>
              <a:prstGeom prst="ellipse">
                <a:avLst/>
              </a:prstGeom>
              <a:solidFill>
                <a:schemeClr val="bg1"/>
              </a:solidFill>
              <a:ln w="152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r>
                  <a:rPr lang="en-IN" altLang="ko-KR" sz="2667" b="1" dirty="0">
                    <a:solidFill>
                      <a:prstClr val="black"/>
                    </a:solidFill>
                    <a:latin typeface="Calibri"/>
                    <a:ea typeface="맑은 고딕" panose="020B0503020000020004" pitchFamily="34" charset="-127"/>
                  </a:rPr>
                  <a:t>4</a:t>
                </a:r>
                <a:endParaRPr lang="ko-KR" altLang="en-US" b="1" dirty="0">
                  <a:solidFill>
                    <a:prstClr val="black"/>
                  </a:solidFill>
                  <a:latin typeface="Calibri"/>
                  <a:ea typeface="맑은 고딕" panose="020B0503020000020004" pitchFamily="34" charset="-127"/>
                </a:endParaRPr>
              </a:p>
            </p:txBody>
          </p:sp>
        </p:grpSp>
      </p:grpSp>
      <p:sp>
        <p:nvSpPr>
          <p:cNvPr id="34" name="TextBox 33">
            <a:extLst>
              <a:ext uri="{FF2B5EF4-FFF2-40B4-BE49-F238E27FC236}">
                <a16:creationId xmlns:a16="http://schemas.microsoft.com/office/drawing/2014/main" id="{D72040D1-23F1-4A6D-8703-ED9F53215C5A}"/>
              </a:ext>
            </a:extLst>
          </p:cNvPr>
          <p:cNvSpPr txBox="1"/>
          <p:nvPr/>
        </p:nvSpPr>
        <p:spPr>
          <a:xfrm>
            <a:off x="1295401" y="1260857"/>
            <a:ext cx="4331064" cy="461665"/>
          </a:xfrm>
          <a:prstGeom prst="rect">
            <a:avLst/>
          </a:prstGeom>
          <a:noFill/>
        </p:spPr>
        <p:txBody>
          <a:bodyPr wrap="square" rtlCol="0">
            <a:spAutoFit/>
          </a:bodyPr>
          <a:lstStyle/>
          <a:p>
            <a:pPr algn="r" defTabSz="609630"/>
            <a:r>
              <a:rPr lang="en-US" altLang="ko-KR" sz="2400" b="1" dirty="0">
                <a:solidFill>
                  <a:srgbClr val="8064A2">
                    <a:lumMod val="75000"/>
                  </a:srgbClr>
                </a:solidFill>
                <a:latin typeface="Times New Roman" panose="02020603050405020304" pitchFamily="18" charset="0"/>
                <a:ea typeface="맑은 고딕" panose="020B0503020000020004" pitchFamily="34" charset="-127"/>
                <a:cs typeface="Times New Roman" panose="02020603050405020304" pitchFamily="18" charset="0"/>
              </a:rPr>
              <a:t>Direct band gap semiconductor</a:t>
            </a:r>
          </a:p>
        </p:txBody>
      </p:sp>
      <p:sp>
        <p:nvSpPr>
          <p:cNvPr id="35" name="TextBox 34">
            <a:extLst>
              <a:ext uri="{FF2B5EF4-FFF2-40B4-BE49-F238E27FC236}">
                <a16:creationId xmlns:a16="http://schemas.microsoft.com/office/drawing/2014/main" id="{6371FEC8-A503-4DB6-AFED-ADE5F18F64F3}"/>
              </a:ext>
            </a:extLst>
          </p:cNvPr>
          <p:cNvSpPr txBox="1"/>
          <p:nvPr/>
        </p:nvSpPr>
        <p:spPr>
          <a:xfrm>
            <a:off x="6378732" y="1834874"/>
            <a:ext cx="3633466" cy="461665"/>
          </a:xfrm>
          <a:prstGeom prst="rect">
            <a:avLst/>
          </a:prstGeom>
          <a:noFill/>
        </p:spPr>
        <p:txBody>
          <a:bodyPr wrap="square" rtlCol="0">
            <a:spAutoFit/>
          </a:bodyPr>
          <a:lstStyle/>
          <a:p>
            <a:pPr algn="r" defTabSz="609630"/>
            <a:r>
              <a:rPr lang="en-US" altLang="ko-KR" sz="2400" b="1" dirty="0">
                <a:solidFill>
                  <a:srgbClr val="0070C0"/>
                </a:solidFill>
                <a:latin typeface="Times New Roman" panose="02020603050405020304" pitchFamily="18" charset="0"/>
                <a:ea typeface="맑은 고딕" panose="020B0503020000020004" pitchFamily="34" charset="-127"/>
                <a:cs typeface="Times New Roman" panose="02020603050405020304" pitchFamily="18" charset="0"/>
              </a:rPr>
              <a:t>Optical confinement</a:t>
            </a:r>
          </a:p>
        </p:txBody>
      </p:sp>
      <p:sp>
        <p:nvSpPr>
          <p:cNvPr id="36" name="TextBox 35">
            <a:extLst>
              <a:ext uri="{FF2B5EF4-FFF2-40B4-BE49-F238E27FC236}">
                <a16:creationId xmlns:a16="http://schemas.microsoft.com/office/drawing/2014/main" id="{99DA0BFF-3DA4-43D1-A7DA-8B68159D1C90}"/>
              </a:ext>
            </a:extLst>
          </p:cNvPr>
          <p:cNvSpPr txBox="1"/>
          <p:nvPr/>
        </p:nvSpPr>
        <p:spPr>
          <a:xfrm>
            <a:off x="1722178" y="2376726"/>
            <a:ext cx="3677707" cy="461665"/>
          </a:xfrm>
          <a:prstGeom prst="rect">
            <a:avLst/>
          </a:prstGeom>
          <a:noFill/>
        </p:spPr>
        <p:txBody>
          <a:bodyPr wrap="square" rtlCol="0">
            <a:spAutoFit/>
          </a:bodyPr>
          <a:lstStyle/>
          <a:p>
            <a:pPr algn="r" defTabSz="609630"/>
            <a:r>
              <a:rPr lang="en-US" altLang="ko-KR" sz="2400" b="1" dirty="0">
                <a:solidFill>
                  <a:srgbClr val="9BBB59">
                    <a:lumMod val="75000"/>
                  </a:srgbClr>
                </a:solidFill>
                <a:latin typeface="Times New Roman" panose="02020603050405020304" pitchFamily="18" charset="0"/>
                <a:ea typeface="맑은 고딕" panose="020B0503020000020004" pitchFamily="34" charset="-127"/>
                <a:cs typeface="Times New Roman" panose="02020603050405020304" pitchFamily="18" charset="0"/>
              </a:rPr>
              <a:t>Carrier confinement</a:t>
            </a:r>
          </a:p>
        </p:txBody>
      </p:sp>
      <p:sp>
        <p:nvSpPr>
          <p:cNvPr id="37" name="TextBox 36">
            <a:extLst>
              <a:ext uri="{FF2B5EF4-FFF2-40B4-BE49-F238E27FC236}">
                <a16:creationId xmlns:a16="http://schemas.microsoft.com/office/drawing/2014/main" id="{5CA7584A-57B8-49B8-9B43-5F74D5AEDB35}"/>
              </a:ext>
            </a:extLst>
          </p:cNvPr>
          <p:cNvSpPr txBox="1"/>
          <p:nvPr/>
        </p:nvSpPr>
        <p:spPr>
          <a:xfrm>
            <a:off x="6305312" y="2859179"/>
            <a:ext cx="4731809" cy="830997"/>
          </a:xfrm>
          <a:prstGeom prst="rect">
            <a:avLst/>
          </a:prstGeom>
          <a:noFill/>
        </p:spPr>
        <p:txBody>
          <a:bodyPr wrap="square" rtlCol="0">
            <a:spAutoFit/>
          </a:bodyPr>
          <a:lstStyle/>
          <a:p>
            <a:pPr algn="r" defTabSz="609630"/>
            <a:r>
              <a:rPr lang="en-US" altLang="ko-KR" sz="2400" b="1" dirty="0">
                <a:solidFill>
                  <a:srgbClr val="C0504D">
                    <a:lumMod val="50000"/>
                  </a:srgbClr>
                </a:solidFill>
                <a:latin typeface="Times New Roman" panose="02020603050405020304" pitchFamily="18" charset="0"/>
                <a:ea typeface="맑은 고딕" panose="020B0503020000020004" pitchFamily="34" charset="-127"/>
                <a:cs typeface="Times New Roman" panose="02020603050405020304" pitchFamily="18" charset="0"/>
              </a:rPr>
              <a:t>Higher  internal quantum efficiency </a:t>
            </a:r>
          </a:p>
        </p:txBody>
      </p:sp>
      <p:sp>
        <p:nvSpPr>
          <p:cNvPr id="38" name="Rectangle 37">
            <a:extLst>
              <a:ext uri="{FF2B5EF4-FFF2-40B4-BE49-F238E27FC236}">
                <a16:creationId xmlns:a16="http://schemas.microsoft.com/office/drawing/2014/main" id="{44E490FF-D435-4730-A9AC-651840366542}"/>
              </a:ext>
            </a:extLst>
          </p:cNvPr>
          <p:cNvSpPr/>
          <p:nvPr/>
        </p:nvSpPr>
        <p:spPr>
          <a:xfrm>
            <a:off x="426719" y="3622919"/>
            <a:ext cx="4928785" cy="461665"/>
          </a:xfrm>
          <a:prstGeom prst="rect">
            <a:avLst/>
          </a:prstGeom>
        </p:spPr>
        <p:txBody>
          <a:bodyPr wrap="none">
            <a:spAutoFit/>
          </a:bodyPr>
          <a:lstStyle/>
          <a:p>
            <a:pPr defTabSz="609630"/>
            <a:r>
              <a:rPr lang="en-US" sz="2400" b="1" dirty="0">
                <a:solidFill>
                  <a:srgbClr val="F79646">
                    <a:lumMod val="75000"/>
                  </a:srgbClr>
                </a:solidFill>
                <a:latin typeface="Times New Roman" panose="02020603050405020304" pitchFamily="18" charset="0"/>
                <a:ea typeface="Times New Roman" panose="02020603050405020304" pitchFamily="18" charset="0"/>
              </a:rPr>
              <a:t>Higher external quantum efficiency </a:t>
            </a:r>
            <a:endParaRPr lang="en-IN" sz="2400" b="1" dirty="0">
              <a:solidFill>
                <a:srgbClr val="F79646">
                  <a:lumMod val="75000"/>
                </a:srgbClr>
              </a:solidFill>
              <a:latin typeface="Calibri"/>
            </a:endParaRPr>
          </a:p>
        </p:txBody>
      </p:sp>
      <p:sp>
        <p:nvSpPr>
          <p:cNvPr id="39" name="Rectangle 38">
            <a:extLst>
              <a:ext uri="{FF2B5EF4-FFF2-40B4-BE49-F238E27FC236}">
                <a16:creationId xmlns:a16="http://schemas.microsoft.com/office/drawing/2014/main" id="{139C201B-7E99-43DA-85BC-EA3A8768A5F6}"/>
              </a:ext>
            </a:extLst>
          </p:cNvPr>
          <p:cNvSpPr/>
          <p:nvPr/>
        </p:nvSpPr>
        <p:spPr>
          <a:xfrm>
            <a:off x="4902814" y="4965953"/>
            <a:ext cx="2977885" cy="800219"/>
          </a:xfrm>
          <a:prstGeom prst="rect">
            <a:avLst/>
          </a:prstGeom>
          <a:noFill/>
        </p:spPr>
        <p:txBody>
          <a:bodyPr wrap="square" lIns="60960" tIns="30480" rIns="60960" bIns="30480">
            <a:spAutoFit/>
          </a:bodyPr>
          <a:lstStyle/>
          <a:p>
            <a:pPr algn="ctr" defTabSz="609630"/>
            <a:r>
              <a:rPr lang="en-US" sz="2400" b="1" dirty="0">
                <a:ln w="0"/>
                <a:solidFill>
                  <a:srgbClr val="00B0F0"/>
                </a:solidFill>
                <a:latin typeface="Calibri"/>
              </a:rPr>
              <a:t>Brighter and efficient LEDs</a:t>
            </a:r>
          </a:p>
        </p:txBody>
      </p:sp>
      <p:sp>
        <p:nvSpPr>
          <p:cNvPr id="2" name="Slide Number Placeholder 1">
            <a:extLst>
              <a:ext uri="{FF2B5EF4-FFF2-40B4-BE49-F238E27FC236}">
                <a16:creationId xmlns:a16="http://schemas.microsoft.com/office/drawing/2014/main" id="{5C8B7C84-90AE-B1AD-7DA6-22BB23D9762A}"/>
              </a:ext>
            </a:extLst>
          </p:cNvPr>
          <p:cNvSpPr>
            <a:spLocks noGrp="1"/>
          </p:cNvSpPr>
          <p:nvPr>
            <p:ph type="sldNum" sz="quarter" idx="12"/>
          </p:nvPr>
        </p:nvSpPr>
        <p:spPr/>
        <p:txBody>
          <a:bodyPr/>
          <a:lstStyle/>
          <a:p>
            <a:fld id="{2066355A-084C-D24E-9AD2-7E4FC41EA627}" type="slidenum">
              <a:rPr lang="en-US" smtClean="0"/>
              <a:t>4</a:t>
            </a:fld>
            <a:endParaRPr lang="en-US"/>
          </a:p>
        </p:txBody>
      </p:sp>
    </p:spTree>
    <p:extLst>
      <p:ext uri="{BB962C8B-B14F-4D97-AF65-F5344CB8AC3E}">
        <p14:creationId xmlns:p14="http://schemas.microsoft.com/office/powerpoint/2010/main" val="420355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A5F222-A76F-6D96-6CFC-C7228065FDD1}"/>
              </a:ext>
            </a:extLst>
          </p:cNvPr>
          <p:cNvSpPr txBox="1"/>
          <p:nvPr/>
        </p:nvSpPr>
        <p:spPr>
          <a:xfrm>
            <a:off x="789658" y="2526762"/>
            <a:ext cx="10546557" cy="4524315"/>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sz="1800" dirty="0">
                <a:latin typeface="Arial" panose="020B0604020202020204" pitchFamily="34" charset="0"/>
                <a:cs typeface="Arial" panose="020B0604020202020204" pitchFamily="34" charset="0"/>
              </a:rPr>
              <a:t>The A components occupy the </a:t>
            </a:r>
            <a:r>
              <a:rPr lang="en-US" sz="1800" dirty="0" err="1">
                <a:latin typeface="Arial" panose="020B0604020202020204" pitchFamily="34" charset="0"/>
                <a:cs typeface="Arial" panose="020B0604020202020204" pitchFamily="34" charset="0"/>
              </a:rPr>
              <a:t>cuboctahedral</a:t>
            </a:r>
            <a:r>
              <a:rPr lang="en-US" sz="1800" dirty="0">
                <a:latin typeface="Arial" panose="020B0604020202020204" pitchFamily="34" charset="0"/>
                <a:cs typeface="Arial" panose="020B0604020202020204" pitchFamily="34" charset="0"/>
              </a:rPr>
              <a:t> cavity formed by nearest-neighbor X atoms in AX12 polyhedrons.</a:t>
            </a:r>
          </a:p>
          <a:p>
            <a:pPr marL="285750" indent="-285750">
              <a:lnSpc>
                <a:spcPct val="200000"/>
              </a:lnSpc>
              <a:buFont typeface="Wingdings" panose="05000000000000000000" pitchFamily="2" charset="2"/>
              <a:buChar char="q"/>
            </a:pPr>
            <a:r>
              <a:rPr lang="en-US" dirty="0">
                <a:latin typeface="Arial" panose="020B0604020202020204" pitchFamily="34" charset="0"/>
                <a:cs typeface="Arial" panose="020B0604020202020204" pitchFamily="34" charset="0"/>
              </a:rPr>
              <a:t>Striking Photovoltaic and</a:t>
            </a:r>
            <a:r>
              <a:rPr lang="en-US" sz="1800" dirty="0">
                <a:latin typeface="Arial" panose="020B0604020202020204" pitchFamily="34" charset="0"/>
                <a:cs typeface="Arial" panose="020B0604020202020204" pitchFamily="34" charset="0"/>
              </a:rPr>
              <a:t> optoelectronic properties </a:t>
            </a:r>
          </a:p>
          <a:p>
            <a:pPr marL="285750" indent="-285750">
              <a:lnSpc>
                <a:spcPct val="200000"/>
              </a:lnSpc>
              <a:buFont typeface="Wingdings" panose="05000000000000000000" pitchFamily="2" charset="2"/>
              <a:buChar char="§"/>
            </a:pPr>
            <a:r>
              <a:rPr lang="en-US" dirty="0">
                <a:latin typeface="Arial" panose="020B0604020202020204" pitchFamily="34" charset="0"/>
                <a:cs typeface="Arial" panose="020B0604020202020204" pitchFamily="34" charset="0"/>
              </a:rPr>
              <a:t>H</a:t>
            </a:r>
            <a:r>
              <a:rPr lang="en-US" sz="1800" dirty="0">
                <a:latin typeface="Arial" panose="020B0604020202020204" pitchFamily="34" charset="0"/>
                <a:cs typeface="Arial" panose="020B0604020202020204" pitchFamily="34" charset="0"/>
              </a:rPr>
              <a:t>igh absorption coefficients  </a:t>
            </a:r>
          </a:p>
          <a:p>
            <a:pPr marL="285750" indent="-285750">
              <a:lnSpc>
                <a:spcPct val="200000"/>
              </a:lnSpc>
              <a:buFont typeface="Wingdings" panose="05000000000000000000" pitchFamily="2" charset="2"/>
              <a:buChar char="§"/>
            </a:pPr>
            <a:r>
              <a:rPr lang="en-US" dirty="0">
                <a:latin typeface="Arial" panose="020B0604020202020204" pitchFamily="34" charset="0"/>
                <a:cs typeface="Arial" panose="020B0604020202020204" pitchFamily="34" charset="0"/>
              </a:rPr>
              <a:t>D</a:t>
            </a:r>
            <a:r>
              <a:rPr lang="en-US" sz="1800" dirty="0">
                <a:latin typeface="Arial" panose="020B0604020202020204" pitchFamily="34" charset="0"/>
                <a:cs typeface="Arial" panose="020B0604020202020204" pitchFamily="34" charset="0"/>
              </a:rPr>
              <a:t>efect tolerance</a:t>
            </a:r>
          </a:p>
          <a:p>
            <a:pPr marL="285750" indent="-285750">
              <a:lnSpc>
                <a:spcPct val="200000"/>
              </a:lnSpc>
              <a:buFont typeface="Wingdings" panose="05000000000000000000" pitchFamily="2" charset="2"/>
              <a:buChar char="§"/>
            </a:pPr>
            <a:r>
              <a:rPr lang="en-US" sz="1800" dirty="0">
                <a:latin typeface="Arial" panose="020B0604020202020204" pitchFamily="34" charset="0"/>
                <a:cs typeface="Arial" panose="020B0604020202020204" pitchFamily="34" charset="0"/>
              </a:rPr>
              <a:t>high photoluminescence quantum yield (PLQY)</a:t>
            </a:r>
          </a:p>
          <a:p>
            <a:pPr marL="285750" indent="-285750">
              <a:lnSpc>
                <a:spcPct val="200000"/>
              </a:lnSpc>
              <a:buFont typeface="Wingdings" panose="05000000000000000000" pitchFamily="2" charset="2"/>
              <a:buChar char="q"/>
            </a:pPr>
            <a:r>
              <a:rPr lang="en-US" sz="1800" dirty="0">
                <a:latin typeface="Arial" panose="020B0604020202020204" pitchFamily="34" charset="0"/>
                <a:cs typeface="Arial" panose="020B0604020202020204" pitchFamily="34" charset="0"/>
              </a:rPr>
              <a:t>diversified dimensions such as nanocrystals (NC), nanowires, 2D layers, quasi 2D, and bulk 3D</a:t>
            </a:r>
          </a:p>
          <a:p>
            <a:pPr marL="285750" indent="-285750">
              <a:buFont typeface="Wingdings" panose="05000000000000000000" pitchFamily="2" charset="2"/>
              <a:buChar char="q"/>
            </a:pPr>
            <a:endParaRPr lang="en-IN" sz="1800" dirty="0">
              <a:latin typeface="Arial" panose="020B0604020202020204" pitchFamily="34" charset="0"/>
              <a:cs typeface="Arial" panose="020B0604020202020204" pitchFamily="34" charset="0"/>
            </a:endParaRPr>
          </a:p>
          <a:p>
            <a:endParaRPr lang="en-IN" dirty="0"/>
          </a:p>
        </p:txBody>
      </p:sp>
      <p:sp>
        <p:nvSpPr>
          <p:cNvPr id="12" name="Text Placeholder 1">
            <a:extLst>
              <a:ext uri="{FF2B5EF4-FFF2-40B4-BE49-F238E27FC236}">
                <a16:creationId xmlns:a16="http://schemas.microsoft.com/office/drawing/2014/main" id="{46E75980-6B71-4544-B583-D8DFB3527065}"/>
              </a:ext>
            </a:extLst>
          </p:cNvPr>
          <p:cNvSpPr txBox="1">
            <a:spLocks/>
          </p:cNvSpPr>
          <p:nvPr/>
        </p:nvSpPr>
        <p:spPr>
          <a:xfrm>
            <a:off x="480000" y="120001"/>
            <a:ext cx="10241788" cy="1006438"/>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609646">
              <a:spcBef>
                <a:spcPts val="667"/>
              </a:spcBef>
              <a:defRPr/>
            </a:pPr>
            <a:r>
              <a:rPr lang="en-US" sz="4000" b="1" dirty="0">
                <a:solidFill>
                  <a:schemeClr val="bg1"/>
                </a:solidFill>
                <a:latin typeface="Arial" panose="020B0604020202020204" pitchFamily="34" charset="0"/>
              </a:rPr>
              <a:t>Why perovskites?</a:t>
            </a:r>
          </a:p>
        </p:txBody>
      </p:sp>
      <p:sp>
        <p:nvSpPr>
          <p:cNvPr id="31" name="TextBox 30">
            <a:extLst>
              <a:ext uri="{FF2B5EF4-FFF2-40B4-BE49-F238E27FC236}">
                <a16:creationId xmlns:a16="http://schemas.microsoft.com/office/drawing/2014/main" id="{544D09A8-7DE2-412B-BCA3-8EE3D72E7931}"/>
              </a:ext>
            </a:extLst>
          </p:cNvPr>
          <p:cNvSpPr txBox="1"/>
          <p:nvPr/>
        </p:nvSpPr>
        <p:spPr>
          <a:xfrm>
            <a:off x="3488718" y="7837098"/>
            <a:ext cx="1152000" cy="369332"/>
          </a:xfrm>
          <a:prstGeom prst="rect">
            <a:avLst/>
          </a:prstGeom>
          <a:noFill/>
        </p:spPr>
        <p:txBody>
          <a:bodyPr wrap="square" rtlCol="0">
            <a:spAutoFit/>
          </a:bodyPr>
          <a:lstStyle/>
          <a:p>
            <a:pPr defTabSz="609554"/>
            <a:r>
              <a:rPr lang="en-IN" sz="600">
                <a:solidFill>
                  <a:prstClr val="black"/>
                </a:solidFill>
                <a:latin typeface="Arial"/>
                <a:hlinkClick r:id="rId3" tooltip="https://en.wikipedia.org/wiki/Perovskite_solar_cell"/>
              </a:rPr>
              <a:t>This Photo</a:t>
            </a:r>
            <a:r>
              <a:rPr lang="en-IN" sz="600">
                <a:solidFill>
                  <a:prstClr val="black"/>
                </a:solidFill>
                <a:latin typeface="Arial"/>
              </a:rPr>
              <a:t> by Unknown Author is licensed under </a:t>
            </a:r>
            <a:r>
              <a:rPr lang="en-IN" sz="600">
                <a:solidFill>
                  <a:prstClr val="black"/>
                </a:solidFill>
                <a:latin typeface="Arial"/>
                <a:hlinkClick r:id="rId4" tooltip="https://creativecommons.org/licenses/by-sa/3.0/"/>
              </a:rPr>
              <a:t>CC BY-SA</a:t>
            </a:r>
            <a:endParaRPr lang="en-IN" sz="600">
              <a:solidFill>
                <a:prstClr val="black"/>
              </a:solidFill>
              <a:latin typeface="Arial"/>
            </a:endParaRPr>
          </a:p>
        </p:txBody>
      </p:sp>
      <p:sp>
        <p:nvSpPr>
          <p:cNvPr id="32" name="Rectangle 31">
            <a:extLst>
              <a:ext uri="{FF2B5EF4-FFF2-40B4-BE49-F238E27FC236}">
                <a16:creationId xmlns:a16="http://schemas.microsoft.com/office/drawing/2014/main" id="{E2CAAD6A-4D97-453D-8496-2A4E518C7185}"/>
              </a:ext>
            </a:extLst>
          </p:cNvPr>
          <p:cNvSpPr/>
          <p:nvPr/>
        </p:nvSpPr>
        <p:spPr>
          <a:xfrm>
            <a:off x="789658" y="679337"/>
            <a:ext cx="10307833" cy="1727139"/>
          </a:xfrm>
          <a:prstGeom prst="rect">
            <a:avLst/>
          </a:prstGeom>
        </p:spPr>
        <p:txBody>
          <a:bodyPr wrap="square">
            <a:spAutoFit/>
          </a:bodyPr>
          <a:lstStyle/>
          <a:p>
            <a:pPr marL="304815" indent="-304815" algn="just" defTabSz="609554">
              <a:lnSpc>
                <a:spcPct val="200000"/>
              </a:lnSpc>
              <a:buFont typeface="Wingdings" panose="05000000000000000000" pitchFamily="2" charset="2"/>
              <a:buChar char="q"/>
            </a:pPr>
            <a:r>
              <a:rPr lang="en-US" sz="1867" dirty="0">
                <a:latin typeface="Arial" panose="020B0604020202020204" pitchFamily="34" charset="0"/>
                <a:cs typeface="Arial" panose="020B0604020202020204" pitchFamily="34" charset="0"/>
              </a:rPr>
              <a:t>Halide perovskite’s crystal structure has a general chemical formula ABX3 where A is a monovalent cation, B is a divalent metal cation and X is a monovalent anion (mostly halide).</a:t>
            </a:r>
          </a:p>
          <a:p>
            <a:pPr marL="304815" indent="-304815" algn="just" defTabSz="609554">
              <a:lnSpc>
                <a:spcPct val="200000"/>
              </a:lnSpc>
              <a:buFont typeface="Wingdings" panose="05000000000000000000" pitchFamily="2" charset="2"/>
              <a:buChar char="q"/>
            </a:pPr>
            <a:r>
              <a:rPr lang="en-US" sz="1867" dirty="0">
                <a:latin typeface="Arial" panose="020B0604020202020204" pitchFamily="34" charset="0"/>
                <a:cs typeface="Arial" panose="020B0604020202020204" pitchFamily="34" charset="0"/>
              </a:rPr>
              <a:t>The B-site elements octahedrally coordinated with halides to form BX6 inorganic frameworks. </a:t>
            </a:r>
          </a:p>
        </p:txBody>
      </p:sp>
      <p:sp>
        <p:nvSpPr>
          <p:cNvPr id="3" name="Slide Number Placeholder 2">
            <a:extLst>
              <a:ext uri="{FF2B5EF4-FFF2-40B4-BE49-F238E27FC236}">
                <a16:creationId xmlns:a16="http://schemas.microsoft.com/office/drawing/2014/main" id="{EE0B694E-2551-4CAB-BC74-1F7D4A7B8E7D}"/>
              </a:ext>
            </a:extLst>
          </p:cNvPr>
          <p:cNvSpPr>
            <a:spLocks noGrp="1"/>
          </p:cNvSpPr>
          <p:nvPr>
            <p:ph type="sldNum" sz="quarter" idx="12"/>
          </p:nvPr>
        </p:nvSpPr>
        <p:spPr/>
        <p:txBody>
          <a:bodyPr/>
          <a:lstStyle/>
          <a:p>
            <a:fld id="{2066355A-084C-D24E-9AD2-7E4FC41EA627}" type="slidenum">
              <a:rPr lang="en-US" smtClean="0"/>
              <a:t>5</a:t>
            </a:fld>
            <a:endParaRPr lang="en-US"/>
          </a:p>
        </p:txBody>
      </p:sp>
      <p:sp>
        <p:nvSpPr>
          <p:cNvPr id="35" name="Rectangle 34">
            <a:extLst>
              <a:ext uri="{FF2B5EF4-FFF2-40B4-BE49-F238E27FC236}">
                <a16:creationId xmlns:a16="http://schemas.microsoft.com/office/drawing/2014/main" id="{B792DA7B-C385-0D19-05C7-F42AAF5C6902}"/>
              </a:ext>
            </a:extLst>
          </p:cNvPr>
          <p:cNvSpPr/>
          <p:nvPr/>
        </p:nvSpPr>
        <p:spPr>
          <a:xfrm>
            <a:off x="0" y="2488"/>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Calibri"/>
            </a:endParaRPr>
          </a:p>
        </p:txBody>
      </p:sp>
      <p:sp>
        <p:nvSpPr>
          <p:cNvPr id="37" name="Text Placeholder 1">
            <a:extLst>
              <a:ext uri="{FF2B5EF4-FFF2-40B4-BE49-F238E27FC236}">
                <a16:creationId xmlns:a16="http://schemas.microsoft.com/office/drawing/2014/main" id="{C823B794-0DFB-E485-3F74-209B35669C1A}"/>
              </a:ext>
            </a:extLst>
          </p:cNvPr>
          <p:cNvSpPr txBox="1">
            <a:spLocks/>
          </p:cNvSpPr>
          <p:nvPr/>
        </p:nvSpPr>
        <p:spPr>
          <a:xfrm>
            <a:off x="789658" y="-9652"/>
            <a:ext cx="2445911"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P</a:t>
            </a:r>
            <a:r>
              <a:rPr kumimoji="0" lang="en-US" sz="3600" b="1" i="0" u="sng" strike="noStrike" kern="1200" cap="none" spc="0" normalizeH="0" baseline="0" noProof="0" dirty="0" err="1">
                <a:ln>
                  <a:noFill/>
                </a:ln>
                <a:solidFill>
                  <a:schemeClr val="bg1"/>
                </a:solidFill>
                <a:effectLst/>
                <a:uLnTx/>
                <a:uFillTx/>
                <a:latin typeface="Times New Roman" panose="02020603050405020304" pitchFamily="18" charset="0"/>
                <a:cs typeface="Times New Roman" panose="02020603050405020304" pitchFamily="18" charset="0"/>
              </a:rPr>
              <a:t>erovskites</a:t>
            </a:r>
            <a:endParaRPr kumimoji="0" lang="en-US" sz="3600" b="1" i="0" u="sng"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pic>
        <p:nvPicPr>
          <p:cNvPr id="33" name="Content Placeholder 9">
            <a:extLst>
              <a:ext uri="{FF2B5EF4-FFF2-40B4-BE49-F238E27FC236}">
                <a16:creationId xmlns:a16="http://schemas.microsoft.com/office/drawing/2014/main" id="{706B7477-6D1C-2CB2-E29F-FADB2B1EA5A8}"/>
              </a:ext>
            </a:extLst>
          </p:cNvPr>
          <p:cNvPicPr>
            <a:picLocks noGrp="1" noChangeAspect="1"/>
          </p:cNvPicPr>
          <p:nvPr>
            <p:ph idx="1"/>
          </p:nvPr>
        </p:nvPicPr>
        <p:blipFill>
          <a:blip r:embed="rId5"/>
          <a:stretch>
            <a:fillRect/>
          </a:stretch>
        </p:blipFill>
        <p:spPr>
          <a:xfrm>
            <a:off x="6764248" y="3159371"/>
            <a:ext cx="3575871" cy="2799597"/>
          </a:xfrm>
        </p:spPr>
      </p:pic>
    </p:spTree>
    <p:extLst>
      <p:ext uri="{BB962C8B-B14F-4D97-AF65-F5344CB8AC3E}">
        <p14:creationId xmlns:p14="http://schemas.microsoft.com/office/powerpoint/2010/main" val="2401285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46E75980-6B71-4544-B583-D8DFB3527065}"/>
              </a:ext>
            </a:extLst>
          </p:cNvPr>
          <p:cNvSpPr txBox="1">
            <a:spLocks/>
          </p:cNvSpPr>
          <p:nvPr/>
        </p:nvSpPr>
        <p:spPr>
          <a:xfrm>
            <a:off x="480000" y="120001"/>
            <a:ext cx="10241788" cy="1006438"/>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609646">
              <a:spcBef>
                <a:spcPts val="667"/>
              </a:spcBef>
              <a:defRPr/>
            </a:pPr>
            <a:r>
              <a:rPr lang="en-US" sz="4000" b="1" dirty="0">
                <a:solidFill>
                  <a:schemeClr val="bg1"/>
                </a:solidFill>
                <a:latin typeface="Arial" panose="020B0604020202020204" pitchFamily="34" charset="0"/>
              </a:rPr>
              <a:t>Why perovskites?</a:t>
            </a:r>
          </a:p>
        </p:txBody>
      </p:sp>
      <p:grpSp>
        <p:nvGrpSpPr>
          <p:cNvPr id="2" name="Group 1">
            <a:extLst>
              <a:ext uri="{FF2B5EF4-FFF2-40B4-BE49-F238E27FC236}">
                <a16:creationId xmlns:a16="http://schemas.microsoft.com/office/drawing/2014/main" id="{22BAA8E9-2F10-4440-A804-757914E5395C}"/>
              </a:ext>
            </a:extLst>
          </p:cNvPr>
          <p:cNvGrpSpPr/>
          <p:nvPr/>
        </p:nvGrpSpPr>
        <p:grpSpPr>
          <a:xfrm>
            <a:off x="1715372" y="2803691"/>
            <a:ext cx="8594021" cy="2616998"/>
            <a:chOff x="1232353" y="2470860"/>
            <a:chExt cx="9620771" cy="2524243"/>
          </a:xfrm>
        </p:grpSpPr>
        <p:sp>
          <p:nvSpPr>
            <p:cNvPr id="13" name="Rectangle 12">
              <a:extLst>
                <a:ext uri="{FF2B5EF4-FFF2-40B4-BE49-F238E27FC236}">
                  <a16:creationId xmlns:a16="http://schemas.microsoft.com/office/drawing/2014/main" id="{890AF096-519F-431A-BC1C-414BD3BA5331}"/>
                </a:ext>
              </a:extLst>
            </p:cNvPr>
            <p:cNvSpPr/>
            <p:nvPr/>
          </p:nvSpPr>
          <p:spPr>
            <a:xfrm>
              <a:off x="6035783" y="2940308"/>
              <a:ext cx="108000" cy="2054795"/>
            </a:xfrm>
            <a:prstGeom prst="rect">
              <a:avLst/>
            </a:prstGeom>
            <a:solidFill>
              <a:srgbClr val="00BDFB"/>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a:solidFill>
                  <a:prstClr val="white"/>
                </a:solidFill>
                <a:latin typeface="Arial"/>
              </a:endParaRPr>
            </a:p>
          </p:txBody>
        </p:sp>
        <p:sp>
          <p:nvSpPr>
            <p:cNvPr id="16" name="Rectangle 15">
              <a:extLst>
                <a:ext uri="{FF2B5EF4-FFF2-40B4-BE49-F238E27FC236}">
                  <a16:creationId xmlns:a16="http://schemas.microsoft.com/office/drawing/2014/main" id="{A64840F5-D75C-4F7A-AA38-BEEABF0C25C7}"/>
                </a:ext>
              </a:extLst>
            </p:cNvPr>
            <p:cNvSpPr/>
            <p:nvPr/>
          </p:nvSpPr>
          <p:spPr>
            <a:xfrm>
              <a:off x="5630398" y="3264982"/>
              <a:ext cx="108000" cy="1730121"/>
            </a:xfrm>
            <a:prstGeom prst="rect">
              <a:avLst/>
            </a:prstGeom>
            <a:solidFill>
              <a:srgbClr val="1ED0A6"/>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a:solidFill>
                  <a:prstClr val="white"/>
                </a:solidFill>
                <a:latin typeface="Arial"/>
              </a:endParaRPr>
            </a:p>
          </p:txBody>
        </p:sp>
        <p:sp>
          <p:nvSpPr>
            <p:cNvPr id="17" name="Rectangle 16">
              <a:extLst>
                <a:ext uri="{FF2B5EF4-FFF2-40B4-BE49-F238E27FC236}">
                  <a16:creationId xmlns:a16="http://schemas.microsoft.com/office/drawing/2014/main" id="{63D95D64-B20E-4C0E-9855-22A3815BB836}"/>
                </a:ext>
              </a:extLst>
            </p:cNvPr>
            <p:cNvSpPr/>
            <p:nvPr/>
          </p:nvSpPr>
          <p:spPr>
            <a:xfrm>
              <a:off x="6441168" y="3264982"/>
              <a:ext cx="108000" cy="1730121"/>
            </a:xfrm>
            <a:prstGeom prst="rect">
              <a:avLst/>
            </a:prstGeom>
            <a:solidFill>
              <a:srgbClr val="1ED0A6"/>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dirty="0">
                <a:solidFill>
                  <a:prstClr val="white"/>
                </a:solidFill>
                <a:latin typeface="Arial"/>
              </a:endParaRPr>
            </a:p>
          </p:txBody>
        </p:sp>
        <p:sp>
          <p:nvSpPr>
            <p:cNvPr id="18" name="Rectangle 17">
              <a:extLst>
                <a:ext uri="{FF2B5EF4-FFF2-40B4-BE49-F238E27FC236}">
                  <a16:creationId xmlns:a16="http://schemas.microsoft.com/office/drawing/2014/main" id="{B9BD262D-F6DE-4719-A77F-CFF058A0C61B}"/>
                </a:ext>
              </a:extLst>
            </p:cNvPr>
            <p:cNvSpPr/>
            <p:nvPr/>
          </p:nvSpPr>
          <p:spPr>
            <a:xfrm>
              <a:off x="5225013" y="4059101"/>
              <a:ext cx="108000" cy="936000"/>
            </a:xfrm>
            <a:prstGeom prst="rect">
              <a:avLst/>
            </a:prstGeom>
            <a:solidFill>
              <a:srgbClr val="1C82FF"/>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a:solidFill>
                  <a:prstClr val="white"/>
                </a:solidFill>
                <a:latin typeface="Arial"/>
              </a:endParaRPr>
            </a:p>
          </p:txBody>
        </p:sp>
        <p:sp>
          <p:nvSpPr>
            <p:cNvPr id="19" name="Rectangle 18">
              <a:extLst>
                <a:ext uri="{FF2B5EF4-FFF2-40B4-BE49-F238E27FC236}">
                  <a16:creationId xmlns:a16="http://schemas.microsoft.com/office/drawing/2014/main" id="{DE5C440C-7DB7-44D2-A592-F3284E54E5CD}"/>
                </a:ext>
              </a:extLst>
            </p:cNvPr>
            <p:cNvSpPr/>
            <p:nvPr/>
          </p:nvSpPr>
          <p:spPr>
            <a:xfrm>
              <a:off x="6846553" y="4059101"/>
              <a:ext cx="108000" cy="936000"/>
            </a:xfrm>
            <a:prstGeom prst="rect">
              <a:avLst/>
            </a:prstGeom>
            <a:solidFill>
              <a:srgbClr val="1C82FF"/>
            </a:solidFill>
            <a:ln w="12700" cap="flat" cmpd="sng" algn="ctr">
              <a:noFill/>
              <a:prstDash val="solid"/>
              <a:miter lim="800000"/>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defTabSz="609554">
                <a:defRPr/>
              </a:pPr>
              <a:endParaRPr lang="ko-KR" altLang="en-US" kern="0">
                <a:solidFill>
                  <a:prstClr val="white"/>
                </a:solidFill>
                <a:latin typeface="Arial"/>
              </a:endParaRPr>
            </a:p>
          </p:txBody>
        </p:sp>
        <p:sp>
          <p:nvSpPr>
            <p:cNvPr id="20" name="Pentagon 10">
              <a:extLst>
                <a:ext uri="{FF2B5EF4-FFF2-40B4-BE49-F238E27FC236}">
                  <a16:creationId xmlns:a16="http://schemas.microsoft.com/office/drawing/2014/main" id="{B253BBDA-77AE-46D3-9540-A18E7A151CFC}"/>
                </a:ext>
              </a:extLst>
            </p:cNvPr>
            <p:cNvSpPr/>
            <p:nvPr/>
          </p:nvSpPr>
          <p:spPr>
            <a:xfrm>
              <a:off x="6865961" y="4059101"/>
              <a:ext cx="3868299" cy="484632"/>
            </a:xfrm>
            <a:prstGeom prst="homePlate">
              <a:avLst/>
            </a:prstGeom>
            <a:solidFill>
              <a:sysClr val="window" lastClr="FFFFFF"/>
            </a:solidFill>
            <a:ln w="38100" cap="flat" cmpd="sng" algn="ctr">
              <a:solidFill>
                <a:srgbClr val="1C82FF"/>
              </a:solidFill>
              <a:prstDash val="solid"/>
              <a:miter lim="800000"/>
            </a:ln>
            <a:effectLst/>
          </p:spPr>
          <p:txBody>
            <a:bodyPr rtlCol="0" anchor="ctr"/>
            <a:lstStyle/>
            <a:p>
              <a:pPr algn="ctr" defTabSz="609554">
                <a:defRPr/>
              </a:pPr>
              <a:endParaRPr lang="ko-KR" altLang="en-US" kern="0">
                <a:solidFill>
                  <a:prstClr val="white"/>
                </a:solidFill>
                <a:latin typeface="Arial"/>
              </a:endParaRPr>
            </a:p>
          </p:txBody>
        </p:sp>
        <p:sp>
          <p:nvSpPr>
            <p:cNvPr id="21" name="Pentagon 14">
              <a:extLst>
                <a:ext uri="{FF2B5EF4-FFF2-40B4-BE49-F238E27FC236}">
                  <a16:creationId xmlns:a16="http://schemas.microsoft.com/office/drawing/2014/main" id="{6C62DD1F-C2A1-4DEF-B0F7-3483DB6433AE}"/>
                </a:ext>
              </a:extLst>
            </p:cNvPr>
            <p:cNvSpPr/>
            <p:nvPr/>
          </p:nvSpPr>
          <p:spPr>
            <a:xfrm>
              <a:off x="6456040" y="3274505"/>
              <a:ext cx="2308448" cy="484632"/>
            </a:xfrm>
            <a:prstGeom prst="homePlate">
              <a:avLst/>
            </a:prstGeom>
            <a:solidFill>
              <a:sysClr val="window" lastClr="FFFFFF"/>
            </a:solidFill>
            <a:ln w="38100" cap="flat" cmpd="sng" algn="ctr">
              <a:solidFill>
                <a:srgbClr val="1ED0A6"/>
              </a:solidFill>
              <a:prstDash val="solid"/>
              <a:miter lim="800000"/>
            </a:ln>
            <a:effectLst/>
          </p:spPr>
          <p:txBody>
            <a:bodyPr rtlCol="0" anchor="ctr"/>
            <a:lstStyle/>
            <a:p>
              <a:pPr algn="ctr" defTabSz="609554">
                <a:defRPr/>
              </a:pPr>
              <a:endParaRPr lang="ko-KR" altLang="en-US" kern="0">
                <a:solidFill>
                  <a:prstClr val="white"/>
                </a:solidFill>
                <a:latin typeface="Arial"/>
              </a:endParaRPr>
            </a:p>
          </p:txBody>
        </p:sp>
        <p:sp>
          <p:nvSpPr>
            <p:cNvPr id="22" name="Pentagon 15">
              <a:extLst>
                <a:ext uri="{FF2B5EF4-FFF2-40B4-BE49-F238E27FC236}">
                  <a16:creationId xmlns:a16="http://schemas.microsoft.com/office/drawing/2014/main" id="{97AF1ED0-2E58-44F3-80E1-BC9FA5DA2D80}"/>
                </a:ext>
              </a:extLst>
            </p:cNvPr>
            <p:cNvSpPr/>
            <p:nvPr/>
          </p:nvSpPr>
          <p:spPr>
            <a:xfrm flipH="1">
              <a:off x="1232353" y="4059101"/>
              <a:ext cx="4068000" cy="484632"/>
            </a:xfrm>
            <a:prstGeom prst="homePlate">
              <a:avLst/>
            </a:prstGeom>
            <a:solidFill>
              <a:sysClr val="window" lastClr="FFFFFF"/>
            </a:solidFill>
            <a:ln w="38100" cap="flat" cmpd="sng" algn="ctr">
              <a:solidFill>
                <a:srgbClr val="1C82FF"/>
              </a:solidFill>
              <a:prstDash val="solid"/>
              <a:miter lim="800000"/>
            </a:ln>
            <a:effectLst/>
          </p:spPr>
          <p:txBody>
            <a:bodyPr rtlCol="0" anchor="ctr"/>
            <a:lstStyle/>
            <a:p>
              <a:pPr algn="ctr" defTabSz="609554">
                <a:defRPr/>
              </a:pPr>
              <a:endParaRPr lang="ko-KR" altLang="en-US" kern="0">
                <a:solidFill>
                  <a:prstClr val="white"/>
                </a:solidFill>
                <a:latin typeface="Arial"/>
              </a:endParaRPr>
            </a:p>
          </p:txBody>
        </p:sp>
        <p:sp>
          <p:nvSpPr>
            <p:cNvPr id="23" name="Pentagon 16">
              <a:extLst>
                <a:ext uri="{FF2B5EF4-FFF2-40B4-BE49-F238E27FC236}">
                  <a16:creationId xmlns:a16="http://schemas.microsoft.com/office/drawing/2014/main" id="{EB498FB1-B3D6-41A0-A261-977856DC72E6}"/>
                </a:ext>
              </a:extLst>
            </p:cNvPr>
            <p:cNvSpPr/>
            <p:nvPr/>
          </p:nvSpPr>
          <p:spPr>
            <a:xfrm flipH="1">
              <a:off x="3415406" y="3274505"/>
              <a:ext cx="2302026" cy="484632"/>
            </a:xfrm>
            <a:prstGeom prst="homePlate">
              <a:avLst/>
            </a:prstGeom>
            <a:solidFill>
              <a:sysClr val="window" lastClr="FFFFFF"/>
            </a:solidFill>
            <a:ln w="38100" cap="flat" cmpd="sng" algn="ctr">
              <a:solidFill>
                <a:srgbClr val="1ED0A6"/>
              </a:solidFill>
              <a:prstDash val="solid"/>
              <a:miter lim="800000"/>
            </a:ln>
            <a:effectLst/>
          </p:spPr>
          <p:txBody>
            <a:bodyPr rtlCol="0" anchor="ctr"/>
            <a:lstStyle/>
            <a:p>
              <a:pPr algn="ctr" defTabSz="609554">
                <a:defRPr/>
              </a:pPr>
              <a:endParaRPr lang="ko-KR" altLang="en-US" kern="0" dirty="0">
                <a:solidFill>
                  <a:prstClr val="white"/>
                </a:solidFill>
                <a:latin typeface="Arial"/>
              </a:endParaRPr>
            </a:p>
          </p:txBody>
        </p:sp>
        <p:sp>
          <p:nvSpPr>
            <p:cNvPr id="24" name="Pentagon 30">
              <a:extLst>
                <a:ext uri="{FF2B5EF4-FFF2-40B4-BE49-F238E27FC236}">
                  <a16:creationId xmlns:a16="http://schemas.microsoft.com/office/drawing/2014/main" id="{564BEB2A-662C-4900-9996-535BD708AE98}"/>
                </a:ext>
              </a:extLst>
            </p:cNvPr>
            <p:cNvSpPr/>
            <p:nvPr/>
          </p:nvSpPr>
          <p:spPr>
            <a:xfrm>
              <a:off x="4476002" y="2470860"/>
              <a:ext cx="3211003" cy="484632"/>
            </a:xfrm>
            <a:custGeom>
              <a:avLst/>
              <a:gdLst/>
              <a:ahLst/>
              <a:cxnLst/>
              <a:rect l="l" t="t" r="r" b="b"/>
              <a:pathLst>
                <a:path w="3211003" h="484632">
                  <a:moveTo>
                    <a:pt x="242316" y="0"/>
                  </a:moveTo>
                  <a:lnTo>
                    <a:pt x="1591003" y="0"/>
                  </a:lnTo>
                  <a:lnTo>
                    <a:pt x="1620000" y="0"/>
                  </a:lnTo>
                  <a:lnTo>
                    <a:pt x="2968687" y="0"/>
                  </a:lnTo>
                  <a:lnTo>
                    <a:pt x="3211003" y="242316"/>
                  </a:lnTo>
                  <a:lnTo>
                    <a:pt x="2968687" y="484632"/>
                  </a:lnTo>
                  <a:lnTo>
                    <a:pt x="1620000" y="484632"/>
                  </a:lnTo>
                  <a:lnTo>
                    <a:pt x="1591003" y="484632"/>
                  </a:lnTo>
                  <a:lnTo>
                    <a:pt x="242316" y="484632"/>
                  </a:lnTo>
                  <a:lnTo>
                    <a:pt x="0" y="242316"/>
                  </a:lnTo>
                  <a:close/>
                </a:path>
              </a:pathLst>
            </a:custGeom>
            <a:solidFill>
              <a:srgbClr val="00BDFB"/>
            </a:solidFill>
            <a:ln w="38100" cap="flat" cmpd="sng" algn="ctr">
              <a:solidFill>
                <a:srgbClr val="00BDFB"/>
              </a:solidFill>
              <a:prstDash val="solid"/>
              <a:miter lim="800000"/>
            </a:ln>
            <a:effectLst/>
          </p:spPr>
          <p:txBody>
            <a:bodyPr rtlCol="0" anchor="ctr"/>
            <a:lstStyle/>
            <a:p>
              <a:pPr algn="ctr" defTabSz="609554">
                <a:defRPr/>
              </a:pPr>
              <a:endParaRPr lang="ko-KR" altLang="en-US" kern="0">
                <a:solidFill>
                  <a:prstClr val="white"/>
                </a:solidFill>
                <a:latin typeface="Arial"/>
              </a:endParaRPr>
            </a:p>
          </p:txBody>
        </p:sp>
        <p:sp>
          <p:nvSpPr>
            <p:cNvPr id="25" name="TextBox 24">
              <a:extLst>
                <a:ext uri="{FF2B5EF4-FFF2-40B4-BE49-F238E27FC236}">
                  <a16:creationId xmlns:a16="http://schemas.microsoft.com/office/drawing/2014/main" id="{EAC241D7-B865-46E3-A97A-7BC615B70699}"/>
                </a:ext>
              </a:extLst>
            </p:cNvPr>
            <p:cNvSpPr txBox="1"/>
            <p:nvPr/>
          </p:nvSpPr>
          <p:spPr>
            <a:xfrm>
              <a:off x="4679469" y="2551259"/>
              <a:ext cx="2804068" cy="326554"/>
            </a:xfrm>
            <a:prstGeom prst="rect">
              <a:avLst/>
            </a:prstGeom>
            <a:noFill/>
          </p:spPr>
          <p:txBody>
            <a:bodyPr wrap="square" rtlCol="0">
              <a:spAutoFit/>
            </a:bodyPr>
            <a:lstStyle/>
            <a:p>
              <a:pPr algn="ctr" defTabSz="609554"/>
              <a:r>
                <a:rPr lang="en-US" altLang="ko-KR" sz="1600" b="1" dirty="0">
                  <a:solidFill>
                    <a:prstClr val="white"/>
                  </a:solidFill>
                  <a:latin typeface="Arial"/>
                  <a:cs typeface="Arial" pitchFamily="34" charset="0"/>
                </a:rPr>
                <a:t>Photoluminescence</a:t>
              </a:r>
              <a:r>
                <a:rPr lang="en-US" altLang="ko-KR" sz="1200" b="1" dirty="0">
                  <a:solidFill>
                    <a:prstClr val="white"/>
                  </a:solidFill>
                  <a:latin typeface="Arial"/>
                  <a:cs typeface="Arial" pitchFamily="34" charset="0"/>
                </a:rPr>
                <a:t> </a:t>
              </a:r>
              <a:r>
                <a:rPr lang="en-US" altLang="ko-KR" sz="1600" b="1" dirty="0">
                  <a:solidFill>
                    <a:prstClr val="white"/>
                  </a:solidFill>
                  <a:latin typeface="Arial"/>
                  <a:cs typeface="Arial" pitchFamily="34" charset="0"/>
                </a:rPr>
                <a:t>QY</a:t>
              </a:r>
              <a:endParaRPr lang="ko-KR" altLang="en-US" sz="1600" b="1" dirty="0">
                <a:solidFill>
                  <a:prstClr val="white"/>
                </a:solidFill>
                <a:latin typeface="Arial"/>
                <a:cs typeface="Arial" pitchFamily="34" charset="0"/>
              </a:endParaRPr>
            </a:p>
          </p:txBody>
        </p:sp>
        <p:sp>
          <p:nvSpPr>
            <p:cNvPr id="26" name="TextBox 25">
              <a:extLst>
                <a:ext uri="{FF2B5EF4-FFF2-40B4-BE49-F238E27FC236}">
                  <a16:creationId xmlns:a16="http://schemas.microsoft.com/office/drawing/2014/main" id="{EC5FA901-EDE4-4BC2-B522-0C6C3A738852}"/>
                </a:ext>
              </a:extLst>
            </p:cNvPr>
            <p:cNvSpPr txBox="1"/>
            <p:nvPr/>
          </p:nvSpPr>
          <p:spPr>
            <a:xfrm>
              <a:off x="3491227" y="3224714"/>
              <a:ext cx="2374898" cy="564049"/>
            </a:xfrm>
            <a:prstGeom prst="rect">
              <a:avLst/>
            </a:prstGeom>
            <a:noFill/>
          </p:spPr>
          <p:txBody>
            <a:bodyPr wrap="square" rtlCol="0">
              <a:spAutoFit/>
            </a:bodyPr>
            <a:lstStyle/>
            <a:p>
              <a:pPr algn="ctr" defTabSz="609554"/>
              <a:r>
                <a:rPr lang="en-US" altLang="ko-KR" sz="1600" b="1" dirty="0">
                  <a:solidFill>
                    <a:prstClr val="black">
                      <a:lumMod val="75000"/>
                      <a:lumOff val="25000"/>
                    </a:prstClr>
                  </a:solidFill>
                  <a:latin typeface="Arial"/>
                  <a:cs typeface="Arial" pitchFamily="34" charset="0"/>
                </a:rPr>
                <a:t> Size tunable band gaps</a:t>
              </a:r>
              <a:endParaRPr lang="ko-KR" altLang="en-US" sz="1600" b="1" dirty="0">
                <a:solidFill>
                  <a:prstClr val="black">
                    <a:lumMod val="75000"/>
                    <a:lumOff val="25000"/>
                  </a:prstClr>
                </a:solidFill>
                <a:latin typeface="Arial"/>
                <a:cs typeface="Arial" pitchFamily="34" charset="0"/>
              </a:endParaRPr>
            </a:p>
          </p:txBody>
        </p:sp>
        <p:sp>
          <p:nvSpPr>
            <p:cNvPr id="27" name="TextBox 26">
              <a:extLst>
                <a:ext uri="{FF2B5EF4-FFF2-40B4-BE49-F238E27FC236}">
                  <a16:creationId xmlns:a16="http://schemas.microsoft.com/office/drawing/2014/main" id="{C98B10CD-5726-45BA-BB9A-2558A308226A}"/>
                </a:ext>
              </a:extLst>
            </p:cNvPr>
            <p:cNvSpPr txBox="1"/>
            <p:nvPr/>
          </p:nvSpPr>
          <p:spPr>
            <a:xfrm>
              <a:off x="1249112" y="4160379"/>
              <a:ext cx="4176000" cy="326554"/>
            </a:xfrm>
            <a:prstGeom prst="rect">
              <a:avLst/>
            </a:prstGeom>
            <a:noFill/>
          </p:spPr>
          <p:txBody>
            <a:bodyPr wrap="square" rtlCol="0">
              <a:spAutoFit/>
            </a:bodyPr>
            <a:lstStyle/>
            <a:p>
              <a:pPr algn="ctr" defTabSz="609554"/>
              <a:r>
                <a:rPr lang="en-US" altLang="ko-KR" sz="1600" b="1" dirty="0">
                  <a:solidFill>
                    <a:prstClr val="black">
                      <a:lumMod val="75000"/>
                      <a:lumOff val="25000"/>
                    </a:prstClr>
                  </a:solidFill>
                  <a:latin typeface="Arial"/>
                  <a:cs typeface="Arial" pitchFamily="34" charset="0"/>
                </a:rPr>
                <a:t>Suppressed defect formation </a:t>
              </a:r>
              <a:endParaRPr lang="ko-KR" altLang="en-US" sz="1600" b="1" dirty="0">
                <a:solidFill>
                  <a:prstClr val="black">
                    <a:lumMod val="75000"/>
                    <a:lumOff val="25000"/>
                  </a:prstClr>
                </a:solidFill>
                <a:latin typeface="Arial"/>
                <a:cs typeface="Arial" pitchFamily="34" charset="0"/>
              </a:endParaRPr>
            </a:p>
          </p:txBody>
        </p:sp>
        <p:sp>
          <p:nvSpPr>
            <p:cNvPr id="28" name="TextBox 27">
              <a:extLst>
                <a:ext uri="{FF2B5EF4-FFF2-40B4-BE49-F238E27FC236}">
                  <a16:creationId xmlns:a16="http://schemas.microsoft.com/office/drawing/2014/main" id="{7D9EEDA8-C7D4-4AF8-A91D-5852E3AD13C7}"/>
                </a:ext>
              </a:extLst>
            </p:cNvPr>
            <p:cNvSpPr txBox="1"/>
            <p:nvPr/>
          </p:nvSpPr>
          <p:spPr>
            <a:xfrm>
              <a:off x="6675851" y="4146459"/>
              <a:ext cx="4177273" cy="326554"/>
            </a:xfrm>
            <a:prstGeom prst="rect">
              <a:avLst/>
            </a:prstGeom>
            <a:noFill/>
          </p:spPr>
          <p:txBody>
            <a:bodyPr wrap="square" rtlCol="0">
              <a:spAutoFit/>
            </a:bodyPr>
            <a:lstStyle/>
            <a:p>
              <a:pPr algn="ctr" defTabSz="609554"/>
              <a:r>
                <a:rPr lang="en-US" altLang="ko-KR" sz="1600" b="1" dirty="0">
                  <a:solidFill>
                    <a:prstClr val="black">
                      <a:lumMod val="75000"/>
                      <a:lumOff val="25000"/>
                    </a:prstClr>
                  </a:solidFill>
                  <a:latin typeface="Arial"/>
                  <a:cs typeface="Arial" pitchFamily="34" charset="0"/>
                </a:rPr>
                <a:t>Low non-radiative recombination </a:t>
              </a:r>
              <a:endParaRPr lang="ko-KR" altLang="en-US" sz="1600" b="1" dirty="0">
                <a:solidFill>
                  <a:prstClr val="black">
                    <a:lumMod val="75000"/>
                    <a:lumOff val="25000"/>
                  </a:prstClr>
                </a:solidFill>
                <a:latin typeface="Arial"/>
                <a:cs typeface="Arial" pitchFamily="34" charset="0"/>
              </a:endParaRPr>
            </a:p>
          </p:txBody>
        </p:sp>
        <p:sp>
          <p:nvSpPr>
            <p:cNvPr id="29" name="TextBox 28">
              <a:extLst>
                <a:ext uri="{FF2B5EF4-FFF2-40B4-BE49-F238E27FC236}">
                  <a16:creationId xmlns:a16="http://schemas.microsoft.com/office/drawing/2014/main" id="{83C1ADBA-22F6-4154-8C56-B04DF89D8E3F}"/>
                </a:ext>
              </a:extLst>
            </p:cNvPr>
            <p:cNvSpPr txBox="1"/>
            <p:nvPr/>
          </p:nvSpPr>
          <p:spPr>
            <a:xfrm>
              <a:off x="6576397" y="3366594"/>
              <a:ext cx="2064019" cy="326554"/>
            </a:xfrm>
            <a:prstGeom prst="rect">
              <a:avLst/>
            </a:prstGeom>
            <a:noFill/>
          </p:spPr>
          <p:txBody>
            <a:bodyPr wrap="square" rtlCol="0">
              <a:spAutoFit/>
            </a:bodyPr>
            <a:lstStyle/>
            <a:p>
              <a:pPr algn="ctr" defTabSz="609554"/>
              <a:r>
                <a:rPr lang="en-US" altLang="ko-KR" sz="1600" b="1" dirty="0">
                  <a:solidFill>
                    <a:prstClr val="black">
                      <a:lumMod val="75000"/>
                      <a:lumOff val="25000"/>
                    </a:prstClr>
                  </a:solidFill>
                  <a:latin typeface="Arial"/>
                  <a:cs typeface="Arial" pitchFamily="34" charset="0"/>
                </a:rPr>
                <a:t>High color purity</a:t>
              </a:r>
              <a:endParaRPr lang="ko-KR" altLang="en-US" sz="1600" b="1" dirty="0">
                <a:solidFill>
                  <a:prstClr val="black">
                    <a:lumMod val="75000"/>
                    <a:lumOff val="25000"/>
                  </a:prstClr>
                </a:solidFill>
                <a:latin typeface="Arial"/>
                <a:cs typeface="Arial" pitchFamily="34" charset="0"/>
              </a:endParaRPr>
            </a:p>
          </p:txBody>
        </p:sp>
      </p:grpSp>
      <p:sp>
        <p:nvSpPr>
          <p:cNvPr id="31" name="TextBox 30">
            <a:extLst>
              <a:ext uri="{FF2B5EF4-FFF2-40B4-BE49-F238E27FC236}">
                <a16:creationId xmlns:a16="http://schemas.microsoft.com/office/drawing/2014/main" id="{544D09A8-7DE2-412B-BCA3-8EE3D72E7931}"/>
              </a:ext>
            </a:extLst>
          </p:cNvPr>
          <p:cNvSpPr txBox="1"/>
          <p:nvPr/>
        </p:nvSpPr>
        <p:spPr>
          <a:xfrm>
            <a:off x="3488718" y="7837098"/>
            <a:ext cx="1152000" cy="369332"/>
          </a:xfrm>
          <a:prstGeom prst="rect">
            <a:avLst/>
          </a:prstGeom>
          <a:noFill/>
        </p:spPr>
        <p:txBody>
          <a:bodyPr wrap="square" rtlCol="0">
            <a:spAutoFit/>
          </a:bodyPr>
          <a:lstStyle/>
          <a:p>
            <a:pPr defTabSz="609554"/>
            <a:r>
              <a:rPr lang="en-IN" sz="600">
                <a:solidFill>
                  <a:prstClr val="black"/>
                </a:solidFill>
                <a:latin typeface="Arial"/>
                <a:hlinkClick r:id="rId3" tooltip="https://en.wikipedia.org/wiki/Perovskite_solar_cell"/>
              </a:rPr>
              <a:t>This Photo</a:t>
            </a:r>
            <a:r>
              <a:rPr lang="en-IN" sz="600">
                <a:solidFill>
                  <a:prstClr val="black"/>
                </a:solidFill>
                <a:latin typeface="Arial"/>
              </a:rPr>
              <a:t> by Unknown Author is licensed under </a:t>
            </a:r>
            <a:r>
              <a:rPr lang="en-IN" sz="600">
                <a:solidFill>
                  <a:prstClr val="black"/>
                </a:solidFill>
                <a:latin typeface="Arial"/>
                <a:hlinkClick r:id="rId4" tooltip="https://creativecommons.org/licenses/by-sa/3.0/"/>
              </a:rPr>
              <a:t>CC BY-SA</a:t>
            </a:r>
            <a:endParaRPr lang="en-IN" sz="600">
              <a:solidFill>
                <a:prstClr val="black"/>
              </a:solidFill>
              <a:latin typeface="Arial"/>
            </a:endParaRPr>
          </a:p>
        </p:txBody>
      </p:sp>
      <p:sp>
        <p:nvSpPr>
          <p:cNvPr id="32" name="Rectangle 31">
            <a:extLst>
              <a:ext uri="{FF2B5EF4-FFF2-40B4-BE49-F238E27FC236}">
                <a16:creationId xmlns:a16="http://schemas.microsoft.com/office/drawing/2014/main" id="{E2CAAD6A-4D97-453D-8496-2A4E518C7185}"/>
              </a:ext>
            </a:extLst>
          </p:cNvPr>
          <p:cNvSpPr/>
          <p:nvPr/>
        </p:nvSpPr>
        <p:spPr>
          <a:xfrm>
            <a:off x="648041" y="530277"/>
            <a:ext cx="10895918" cy="2301784"/>
          </a:xfrm>
          <a:prstGeom prst="rect">
            <a:avLst/>
          </a:prstGeom>
        </p:spPr>
        <p:txBody>
          <a:bodyPr wrap="square">
            <a:spAutoFit/>
          </a:bodyPr>
          <a:lstStyle/>
          <a:p>
            <a:pPr marL="342900" indent="-342900" algn="just" defTabSz="609554">
              <a:lnSpc>
                <a:spcPct val="200000"/>
              </a:lnSpc>
              <a:buFont typeface="Wingdings" panose="05000000000000000000" pitchFamily="2" charset="2"/>
              <a:buChar char="q"/>
            </a:pPr>
            <a:r>
              <a:rPr lang="en-US" sz="1867" dirty="0">
                <a:latin typeface="Arial" panose="020B0604020202020204" pitchFamily="34" charset="0"/>
                <a:cs typeface="Arial" panose="020B0604020202020204" pitchFamily="34" charset="0"/>
              </a:rPr>
              <a:t>Nanosized crystals of perovskites exhibit quantum-confinement effects that can be exploited to tune the optical properties much like in other semiconductors. </a:t>
            </a:r>
          </a:p>
          <a:p>
            <a:pPr marL="304815" indent="-304815" algn="just" defTabSz="609554">
              <a:lnSpc>
                <a:spcPct val="200000"/>
              </a:lnSpc>
              <a:buFont typeface="Wingdings" panose="05000000000000000000" pitchFamily="2" charset="2"/>
              <a:buChar char="q"/>
            </a:pPr>
            <a:r>
              <a:rPr lang="en-US" sz="1867" dirty="0">
                <a:latin typeface="Arial" panose="020B0604020202020204" pitchFamily="34" charset="0"/>
                <a:cs typeface="Arial" panose="020B0604020202020204" pitchFamily="34" charset="0"/>
              </a:rPr>
              <a:t>The structural dimensionality of perovskites is easily tunable from 3D to 0D using long-chain alkylammonium cations in their synthesis </a:t>
            </a:r>
          </a:p>
        </p:txBody>
      </p:sp>
      <p:sp>
        <p:nvSpPr>
          <p:cNvPr id="3" name="Slide Number Placeholder 2">
            <a:extLst>
              <a:ext uri="{FF2B5EF4-FFF2-40B4-BE49-F238E27FC236}">
                <a16:creationId xmlns:a16="http://schemas.microsoft.com/office/drawing/2014/main" id="{EE0B694E-2551-4CAB-BC74-1F7D4A7B8E7D}"/>
              </a:ext>
            </a:extLst>
          </p:cNvPr>
          <p:cNvSpPr>
            <a:spLocks noGrp="1"/>
          </p:cNvSpPr>
          <p:nvPr>
            <p:ph type="sldNum" sz="quarter" idx="12"/>
          </p:nvPr>
        </p:nvSpPr>
        <p:spPr/>
        <p:txBody>
          <a:bodyPr/>
          <a:lstStyle/>
          <a:p>
            <a:fld id="{2066355A-084C-D24E-9AD2-7E4FC41EA627}" type="slidenum">
              <a:rPr lang="en-US" smtClean="0"/>
              <a:t>6</a:t>
            </a:fld>
            <a:endParaRPr lang="en-US"/>
          </a:p>
        </p:txBody>
      </p:sp>
      <p:sp>
        <p:nvSpPr>
          <p:cNvPr id="35" name="Rectangle 34">
            <a:extLst>
              <a:ext uri="{FF2B5EF4-FFF2-40B4-BE49-F238E27FC236}">
                <a16:creationId xmlns:a16="http://schemas.microsoft.com/office/drawing/2014/main" id="{B792DA7B-C385-0D19-05C7-F42AAF5C6902}"/>
              </a:ext>
            </a:extLst>
          </p:cNvPr>
          <p:cNvSpPr/>
          <p:nvPr/>
        </p:nvSpPr>
        <p:spPr>
          <a:xfrm>
            <a:off x="0" y="2488"/>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Calibri"/>
            </a:endParaRPr>
          </a:p>
        </p:txBody>
      </p:sp>
      <p:sp>
        <p:nvSpPr>
          <p:cNvPr id="37" name="Text Placeholder 1">
            <a:extLst>
              <a:ext uri="{FF2B5EF4-FFF2-40B4-BE49-F238E27FC236}">
                <a16:creationId xmlns:a16="http://schemas.microsoft.com/office/drawing/2014/main" id="{C823B794-0DFB-E485-3F74-209B35669C1A}"/>
              </a:ext>
            </a:extLst>
          </p:cNvPr>
          <p:cNvSpPr txBox="1">
            <a:spLocks/>
          </p:cNvSpPr>
          <p:nvPr/>
        </p:nvSpPr>
        <p:spPr>
          <a:xfrm>
            <a:off x="-1696073" y="-22672"/>
            <a:ext cx="9806751"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P</a:t>
            </a:r>
            <a:r>
              <a:rPr kumimoji="0" lang="en-US" sz="3600" b="1" i="0" u="sng" strike="noStrike" kern="1200" cap="none" spc="0" normalizeH="0" baseline="0" noProof="0" dirty="0" err="1">
                <a:ln>
                  <a:noFill/>
                </a:ln>
                <a:solidFill>
                  <a:schemeClr val="bg1"/>
                </a:solidFill>
                <a:effectLst/>
                <a:uLnTx/>
                <a:uFillTx/>
                <a:latin typeface="Times New Roman" panose="02020603050405020304" pitchFamily="18" charset="0"/>
                <a:cs typeface="Times New Roman" panose="02020603050405020304" pitchFamily="18" charset="0"/>
              </a:rPr>
              <a:t>erovskites</a:t>
            </a:r>
            <a:r>
              <a:rPr kumimoji="0" lang="en-US" sz="3600" b="1" i="0" u="sng"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Nanocrystals</a:t>
            </a:r>
          </a:p>
        </p:txBody>
      </p:sp>
      <p:pic>
        <p:nvPicPr>
          <p:cNvPr id="7" name="Picture 6">
            <a:extLst>
              <a:ext uri="{FF2B5EF4-FFF2-40B4-BE49-F238E27FC236}">
                <a16:creationId xmlns:a16="http://schemas.microsoft.com/office/drawing/2014/main" id="{1CD41E5F-13B3-63A4-B232-79DEA135DE43}"/>
              </a:ext>
            </a:extLst>
          </p:cNvPr>
          <p:cNvPicPr>
            <a:picLocks noChangeAspect="1"/>
          </p:cNvPicPr>
          <p:nvPr/>
        </p:nvPicPr>
        <p:blipFill>
          <a:blip r:embed="rId5"/>
          <a:stretch>
            <a:fillRect/>
          </a:stretch>
        </p:blipFill>
        <p:spPr>
          <a:xfrm>
            <a:off x="4899963" y="4523841"/>
            <a:ext cx="2294094" cy="2281151"/>
          </a:xfrm>
          <a:prstGeom prst="rect">
            <a:avLst/>
          </a:prstGeom>
        </p:spPr>
      </p:pic>
    </p:spTree>
    <p:extLst>
      <p:ext uri="{BB962C8B-B14F-4D97-AF65-F5344CB8AC3E}">
        <p14:creationId xmlns:p14="http://schemas.microsoft.com/office/powerpoint/2010/main" val="3854385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1F7024-4039-7F2E-0F43-D86A8C90A550}"/>
              </a:ext>
            </a:extLst>
          </p:cNvPr>
          <p:cNvPicPr>
            <a:picLocks noGrp="1" noChangeAspect="1"/>
          </p:cNvPicPr>
          <p:nvPr>
            <p:ph idx="1"/>
          </p:nvPr>
        </p:nvPicPr>
        <p:blipFill>
          <a:blip r:embed="rId2">
            <a:duotone>
              <a:schemeClr val="accent5">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60010" y="2639629"/>
            <a:ext cx="1752435" cy="2163500"/>
          </a:xfrm>
          <a:prstGeom prst="rect">
            <a:avLst/>
          </a:prstGeom>
        </p:spPr>
      </p:pic>
      <p:grpSp>
        <p:nvGrpSpPr>
          <p:cNvPr id="6" name="Group 5">
            <a:extLst>
              <a:ext uri="{FF2B5EF4-FFF2-40B4-BE49-F238E27FC236}">
                <a16:creationId xmlns:a16="http://schemas.microsoft.com/office/drawing/2014/main" id="{EFF22EDE-AB77-3BD7-3CED-DA7A384CD44A}"/>
              </a:ext>
            </a:extLst>
          </p:cNvPr>
          <p:cNvGrpSpPr/>
          <p:nvPr/>
        </p:nvGrpSpPr>
        <p:grpSpPr>
          <a:xfrm>
            <a:off x="4939550" y="1594340"/>
            <a:ext cx="2212571" cy="3847382"/>
            <a:chOff x="2992406" y="1053819"/>
            <a:chExt cx="2008210" cy="4018087"/>
          </a:xfrm>
        </p:grpSpPr>
        <mc:AlternateContent xmlns:mc="http://schemas.openxmlformats.org/markup-compatibility/2006">
          <mc:Choice xmlns:am3d="http://schemas.microsoft.com/office/drawing/2017/model3d" Requires="am3d">
            <p:graphicFrame>
              <p:nvGraphicFramePr>
                <p:cNvPr id="7" name="3D Model 6" descr="Magnetic Stirrer">
                  <a:extLst>
                    <a:ext uri="{FF2B5EF4-FFF2-40B4-BE49-F238E27FC236}">
                      <a16:creationId xmlns:a16="http://schemas.microsoft.com/office/drawing/2014/main" id="{88CA9D15-AFFB-2AF7-1B64-ADE83EEB7FC4}"/>
                    </a:ext>
                  </a:extLst>
                </p:cNvPr>
                <p:cNvGraphicFramePr>
                  <a:graphicFrameLocks noChangeAspect="1"/>
                </p:cNvGraphicFramePr>
                <p:nvPr>
                  <p:extLst>
                    <p:ext uri="{D42A27DB-BD31-4B8C-83A1-F6EECF244321}">
                      <p14:modId xmlns:p14="http://schemas.microsoft.com/office/powerpoint/2010/main" val="646458528"/>
                    </p:ext>
                  </p:extLst>
                </p:nvPr>
              </p:nvGraphicFramePr>
              <p:xfrm>
                <a:off x="2992406" y="4080054"/>
                <a:ext cx="2008210" cy="991852"/>
              </p:xfrm>
              <a:graphic>
                <a:graphicData uri="http://schemas.microsoft.com/office/drawing/2017/model3d">
                  <am3d:model3d r:embed="rId4">
                    <am3d:spPr>
                      <a:xfrm>
                        <a:off x="0" y="0"/>
                        <a:ext cx="2212571" cy="949714"/>
                      </a:xfrm>
                      <a:prstGeom prst="rect">
                        <a:avLst/>
                      </a:prstGeom>
                    </am3d:spPr>
                    <am3d:camera>
                      <am3d:pos x="0" y="0" z="67477980"/>
                      <am3d:up dx="0" dy="36000000" dz="0"/>
                      <am3d:lookAt x="0" y="0" z="0"/>
                      <am3d:perspective fov="2700000"/>
                    </am3d:camera>
                    <am3d:trans>
                      <am3d:meterPerModelUnit n="3076923" d="1000000"/>
                      <am3d:preTrans dx="0" dy="-6576921" dz="0"/>
                      <am3d:scale>
                        <am3d:sx n="1000000" d="1000000"/>
                        <am3d:sy n="1000000" d="1000000"/>
                        <am3d:sz n="1000000" d="1000000"/>
                      </am3d:scale>
                      <am3d:rot ax="330169" ay="-65259" az="-6288"/>
                      <am3d:postTrans dx="0" dy="0" dz="0"/>
                    </am3d:trans>
                    <am3d:attrSrcUrl r:id="rId5"/>
                    <am3d:raster rName="Office3DRenderer" rVer="16.0.8326">
                      <am3d:blip r:embed="rId6"/>
                    </am3d:raster>
                    <am3d:objViewport viewportSz="241331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Magnetic Stirrer">
                  <a:extLst>
                    <a:ext uri="{FF2B5EF4-FFF2-40B4-BE49-F238E27FC236}">
                      <a16:creationId xmlns:a16="http://schemas.microsoft.com/office/drawing/2014/main" id="{88CA9D15-AFFB-2AF7-1B64-ADE83EEB7FC4}"/>
                    </a:ext>
                  </a:extLst>
                </p:cNvPr>
                <p:cNvPicPr>
                  <a:picLocks noGrp="1" noRot="1" noChangeAspect="1" noMove="1" noResize="1" noEditPoints="1" noAdjustHandles="1" noChangeArrowheads="1" noChangeShapeType="1" noCrop="1"/>
                </p:cNvPicPr>
                <p:nvPr/>
              </p:nvPicPr>
              <p:blipFill>
                <a:blip r:embed="rId6"/>
                <a:stretch>
                  <a:fillRect/>
                </a:stretch>
              </p:blipFill>
              <p:spPr>
                <a:xfrm>
                  <a:off x="4939550" y="4492008"/>
                  <a:ext cx="2212571" cy="949714"/>
                </a:xfrm>
                <a:prstGeom prst="rect">
                  <a:avLst/>
                </a:prstGeom>
              </p:spPr>
            </p:pic>
          </mc:Fallback>
        </mc:AlternateContent>
        <p:pic>
          <p:nvPicPr>
            <p:cNvPr id="8" name="Picture 7">
              <a:extLst>
                <a:ext uri="{FF2B5EF4-FFF2-40B4-BE49-F238E27FC236}">
                  <a16:creationId xmlns:a16="http://schemas.microsoft.com/office/drawing/2014/main" id="{656BE6FF-7FFA-D1DF-5F83-CC3A5A092690}"/>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38276" y="2208606"/>
              <a:ext cx="1701566" cy="2100698"/>
            </a:xfrm>
            <a:prstGeom prst="rect">
              <a:avLst/>
            </a:prstGeom>
          </p:spPr>
        </p:pic>
        <p:pic>
          <p:nvPicPr>
            <p:cNvPr id="9" name="Picture 8">
              <a:extLst>
                <a:ext uri="{FF2B5EF4-FFF2-40B4-BE49-F238E27FC236}">
                  <a16:creationId xmlns:a16="http://schemas.microsoft.com/office/drawing/2014/main" id="{F70DF3F4-63A3-B9F6-1853-7F63C87A1F2D}"/>
                </a:ext>
              </a:extLst>
            </p:cNvPr>
            <p:cNvPicPr>
              <a:picLocks noChangeAspect="1"/>
            </p:cNvPicPr>
            <p:nvPr/>
          </p:nvPicPr>
          <p:blipFill>
            <a:blip r:embed="rId7"/>
            <a:stretch>
              <a:fillRect/>
            </a:stretch>
          </p:blipFill>
          <p:spPr>
            <a:xfrm>
              <a:off x="4346575" y="1053819"/>
              <a:ext cx="310923" cy="1646063"/>
            </a:xfrm>
            <a:prstGeom prst="rect">
              <a:avLst/>
            </a:prstGeom>
          </p:spPr>
        </p:pic>
      </p:grpSp>
      <mc:AlternateContent xmlns:mc="http://schemas.openxmlformats.org/markup-compatibility/2006">
        <mc:Choice xmlns:am3d="http://schemas.microsoft.com/office/drawing/2017/model3d" Requires="am3d">
          <p:graphicFrame>
            <p:nvGraphicFramePr>
              <p:cNvPr id="10" name="3D Model 9" descr="Magnetic Stirrer">
                <a:extLst>
                  <a:ext uri="{FF2B5EF4-FFF2-40B4-BE49-F238E27FC236}">
                    <a16:creationId xmlns:a16="http://schemas.microsoft.com/office/drawing/2014/main" id="{5615497C-AF35-6287-BBC0-7407CBB7B74C}"/>
                  </a:ext>
                </a:extLst>
              </p:cNvPr>
              <p:cNvGraphicFramePr>
                <a:graphicFrameLocks noChangeAspect="1"/>
              </p:cNvGraphicFramePr>
              <p:nvPr>
                <p:extLst>
                  <p:ext uri="{D42A27DB-BD31-4B8C-83A1-F6EECF244321}">
                    <p14:modId xmlns:p14="http://schemas.microsoft.com/office/powerpoint/2010/main" val="467112586"/>
                  </p:ext>
                </p:extLst>
              </p:nvPr>
            </p:nvGraphicFramePr>
            <p:xfrm>
              <a:off x="1120590" y="4530969"/>
              <a:ext cx="1775009" cy="1064798"/>
            </p:xfrm>
            <a:graphic>
              <a:graphicData uri="http://schemas.microsoft.com/office/drawing/2017/model3d">
                <am3d:model3d r:embed="rId4">
                  <am3d:spPr>
                    <a:xfrm>
                      <a:off x="0" y="0"/>
                      <a:ext cx="1775009" cy="1064798"/>
                    </a:xfrm>
                    <a:prstGeom prst="rect">
                      <a:avLst/>
                    </a:prstGeom>
                  </am3d:spPr>
                  <am3d:camera>
                    <am3d:pos x="0" y="0" z="67477980"/>
                    <am3d:up dx="0" dy="36000000" dz="0"/>
                    <am3d:lookAt x="0" y="0" z="0"/>
                    <am3d:perspective fov="2700000"/>
                  </am3d:camera>
                  <am3d:trans>
                    <am3d:meterPerModelUnit n="3076923" d="1000000"/>
                    <am3d:preTrans dx="0" dy="-6576921" dz="0"/>
                    <am3d:scale>
                      <am3d:sx n="1000000" d="1000000"/>
                      <am3d:sy n="1000000" d="1000000"/>
                      <am3d:sz n="1000000" d="1000000"/>
                    </am3d:scale>
                    <am3d:rot ax="679686" ay="-301664" az="-60351"/>
                    <am3d:postTrans dx="0" dy="0" dz="0"/>
                  </am3d:trans>
                  <am3d:attrSrcUrl r:id="rId5"/>
                  <am3d:raster rName="Office3DRenderer" rVer="16.0.8326">
                    <am3d:blip r:embed="rId8"/>
                  </am3d:raster>
                  <am3d:objViewport viewportSz="195177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Magnetic Stirrer">
                <a:extLst>
                  <a:ext uri="{FF2B5EF4-FFF2-40B4-BE49-F238E27FC236}">
                    <a16:creationId xmlns:a16="http://schemas.microsoft.com/office/drawing/2014/main" id="{5615497C-AF35-6287-BBC0-7407CBB7B74C}"/>
                  </a:ext>
                </a:extLst>
              </p:cNvPr>
              <p:cNvPicPr>
                <a:picLocks noGrp="1" noRot="1" noChangeAspect="1" noMove="1" noResize="1" noEditPoints="1" noAdjustHandles="1" noChangeArrowheads="1" noChangeShapeType="1" noCrop="1"/>
              </p:cNvPicPr>
              <p:nvPr/>
            </p:nvPicPr>
            <p:blipFill>
              <a:blip r:embed="rId8"/>
              <a:stretch>
                <a:fillRect/>
              </a:stretch>
            </p:blipFill>
            <p:spPr>
              <a:xfrm>
                <a:off x="1120590" y="4530969"/>
                <a:ext cx="1775009" cy="1064798"/>
              </a:xfrm>
              <a:prstGeom prst="rect">
                <a:avLst/>
              </a:prstGeom>
            </p:spPr>
          </p:pic>
        </mc:Fallback>
      </mc:AlternateContent>
      <p:grpSp>
        <p:nvGrpSpPr>
          <p:cNvPr id="11" name="Group 10">
            <a:extLst>
              <a:ext uri="{FF2B5EF4-FFF2-40B4-BE49-F238E27FC236}">
                <a16:creationId xmlns:a16="http://schemas.microsoft.com/office/drawing/2014/main" id="{B64AA886-931A-6F3D-605B-6F9AC28A536F}"/>
              </a:ext>
            </a:extLst>
          </p:cNvPr>
          <p:cNvGrpSpPr/>
          <p:nvPr/>
        </p:nvGrpSpPr>
        <p:grpSpPr>
          <a:xfrm>
            <a:off x="8965632" y="2814917"/>
            <a:ext cx="2266358" cy="2484747"/>
            <a:chOff x="6010635" y="1623149"/>
            <a:chExt cx="2388993" cy="3148381"/>
          </a:xfrm>
        </p:grpSpPr>
        <p:sp>
          <p:nvSpPr>
            <p:cNvPr id="12" name="Parallelogram 15">
              <a:extLst>
                <a:ext uri="{FF2B5EF4-FFF2-40B4-BE49-F238E27FC236}">
                  <a16:creationId xmlns:a16="http://schemas.microsoft.com/office/drawing/2014/main" id="{45DB09F9-53FF-97C3-A4A8-97620626313A}"/>
                </a:ext>
              </a:extLst>
            </p:cNvPr>
            <p:cNvSpPr/>
            <p:nvPr/>
          </p:nvSpPr>
          <p:spPr>
            <a:xfrm flipH="1">
              <a:off x="7208815" y="2043497"/>
              <a:ext cx="420627" cy="420627"/>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pic>
          <p:nvPicPr>
            <p:cNvPr id="13" name="Picture 12">
              <a:extLst>
                <a:ext uri="{FF2B5EF4-FFF2-40B4-BE49-F238E27FC236}">
                  <a16:creationId xmlns:a16="http://schemas.microsoft.com/office/drawing/2014/main" id="{614A9893-D741-6BC7-00D2-621A6569D650}"/>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40282" y="2126479"/>
              <a:ext cx="1499102" cy="1850743"/>
            </a:xfrm>
            <a:prstGeom prst="rect">
              <a:avLst/>
            </a:prstGeom>
          </p:spPr>
        </p:pic>
        <p:pic>
          <p:nvPicPr>
            <p:cNvPr id="14" name="Picture 13">
              <a:extLst>
                <a:ext uri="{FF2B5EF4-FFF2-40B4-BE49-F238E27FC236}">
                  <a16:creationId xmlns:a16="http://schemas.microsoft.com/office/drawing/2014/main" id="{5B01B81F-A030-B571-4370-CAEE67E669EA}"/>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6010635" y="1623149"/>
              <a:ext cx="2388993" cy="3148381"/>
            </a:xfrm>
            <a:prstGeom prst="rect">
              <a:avLst/>
            </a:prstGeom>
          </p:spPr>
        </p:pic>
        <p:pic>
          <p:nvPicPr>
            <p:cNvPr id="15" name="Picture 14">
              <a:extLst>
                <a:ext uri="{FF2B5EF4-FFF2-40B4-BE49-F238E27FC236}">
                  <a16:creationId xmlns:a16="http://schemas.microsoft.com/office/drawing/2014/main" id="{92BE2220-4F41-EA44-E3D3-F034E1205C4F}"/>
                </a:ext>
              </a:extLst>
            </p:cNvPr>
            <p:cNvPicPr>
              <a:picLocks noChangeAspect="1"/>
            </p:cNvPicPr>
            <p:nvPr/>
          </p:nvPicPr>
          <p:blipFill>
            <a:blip r:embed="rId11" cstate="print">
              <a:duotone>
                <a:schemeClr val="bg2">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6337828" y="3509668"/>
              <a:ext cx="1970295" cy="1130225"/>
            </a:xfrm>
            <a:prstGeom prst="rect">
              <a:avLst/>
            </a:prstGeom>
            <a:effectLst>
              <a:softEdge rad="127000"/>
            </a:effectLst>
          </p:spPr>
        </p:pic>
      </p:grpSp>
      <p:cxnSp>
        <p:nvCxnSpPr>
          <p:cNvPr id="17" name="Straight Arrow Connector 16">
            <a:extLst>
              <a:ext uri="{FF2B5EF4-FFF2-40B4-BE49-F238E27FC236}">
                <a16:creationId xmlns:a16="http://schemas.microsoft.com/office/drawing/2014/main" id="{8014C7FE-E8A9-53B2-CB10-8C7CB2A477B2}"/>
              </a:ext>
            </a:extLst>
          </p:cNvPr>
          <p:cNvCxnSpPr>
            <a:cxnSpLocks/>
          </p:cNvCxnSpPr>
          <p:nvPr/>
        </p:nvCxnSpPr>
        <p:spPr>
          <a:xfrm>
            <a:off x="2814918" y="4057291"/>
            <a:ext cx="207084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1BAD230-8433-4728-4E0C-EB069ADB777A}"/>
              </a:ext>
            </a:extLst>
          </p:cNvPr>
          <p:cNvCxnSpPr>
            <a:cxnSpLocks/>
            <a:endCxn id="14" idx="1"/>
          </p:cNvCxnSpPr>
          <p:nvPr/>
        </p:nvCxnSpPr>
        <p:spPr>
          <a:xfrm>
            <a:off x="7082118" y="4057291"/>
            <a:ext cx="18835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Oval 26">
            <a:extLst>
              <a:ext uri="{FF2B5EF4-FFF2-40B4-BE49-F238E27FC236}">
                <a16:creationId xmlns:a16="http://schemas.microsoft.com/office/drawing/2014/main" id="{202B29A3-1FDA-E1B4-7B09-2F2CAB0CF525}"/>
              </a:ext>
            </a:extLst>
          </p:cNvPr>
          <p:cNvSpPr/>
          <p:nvPr/>
        </p:nvSpPr>
        <p:spPr>
          <a:xfrm>
            <a:off x="613739" y="948261"/>
            <a:ext cx="2528046" cy="1370076"/>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PbX2+ODE+OLA +</a:t>
            </a:r>
          </a:p>
          <a:p>
            <a:pPr algn="ctr"/>
            <a:r>
              <a:rPr lang="en-IN" dirty="0"/>
              <a:t>OA+TOP             </a:t>
            </a:r>
          </a:p>
        </p:txBody>
      </p:sp>
      <p:sp>
        <p:nvSpPr>
          <p:cNvPr id="28" name="Isosceles Triangle 27">
            <a:extLst>
              <a:ext uri="{FF2B5EF4-FFF2-40B4-BE49-F238E27FC236}">
                <a16:creationId xmlns:a16="http://schemas.microsoft.com/office/drawing/2014/main" id="{149CCAE8-8EB0-AD6E-443D-A7A54470EA83}"/>
              </a:ext>
            </a:extLst>
          </p:cNvPr>
          <p:cNvSpPr/>
          <p:nvPr/>
        </p:nvSpPr>
        <p:spPr>
          <a:xfrm>
            <a:off x="3730180" y="3641684"/>
            <a:ext cx="322729" cy="30078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30" name="Straight Arrow Connector 29">
            <a:extLst>
              <a:ext uri="{FF2B5EF4-FFF2-40B4-BE49-F238E27FC236}">
                <a16:creationId xmlns:a16="http://schemas.microsoft.com/office/drawing/2014/main" id="{32493557-6C0B-AA25-9D83-561F16A133E5}"/>
              </a:ext>
            </a:extLst>
          </p:cNvPr>
          <p:cNvCxnSpPr>
            <a:cxnSpLocks/>
            <a:stCxn id="27" idx="4"/>
          </p:cNvCxnSpPr>
          <p:nvPr/>
        </p:nvCxnSpPr>
        <p:spPr>
          <a:xfrm>
            <a:off x="1877762" y="2318337"/>
            <a:ext cx="0" cy="473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4B5FF64-123C-6AD0-C370-6B323D146899}"/>
              </a:ext>
            </a:extLst>
          </p:cNvPr>
          <p:cNvSpPr txBox="1"/>
          <p:nvPr/>
        </p:nvSpPr>
        <p:spPr>
          <a:xfrm>
            <a:off x="7473139" y="3641683"/>
            <a:ext cx="1421700" cy="369332"/>
          </a:xfrm>
          <a:prstGeom prst="rect">
            <a:avLst/>
          </a:prstGeom>
          <a:noFill/>
        </p:spPr>
        <p:txBody>
          <a:bodyPr wrap="square" rtlCol="0">
            <a:spAutoFit/>
          </a:bodyPr>
          <a:lstStyle/>
          <a:p>
            <a:r>
              <a:rPr lang="en-IN" dirty="0"/>
              <a:t>5 seconds</a:t>
            </a:r>
          </a:p>
        </p:txBody>
      </p:sp>
      <p:sp>
        <p:nvSpPr>
          <p:cNvPr id="33" name="TextBox 32">
            <a:extLst>
              <a:ext uri="{FF2B5EF4-FFF2-40B4-BE49-F238E27FC236}">
                <a16:creationId xmlns:a16="http://schemas.microsoft.com/office/drawing/2014/main" id="{7FE388CF-3F04-4F93-CCF3-3931BD84F870}"/>
              </a:ext>
            </a:extLst>
          </p:cNvPr>
          <p:cNvSpPr txBox="1"/>
          <p:nvPr/>
        </p:nvSpPr>
        <p:spPr>
          <a:xfrm>
            <a:off x="848199" y="5517074"/>
            <a:ext cx="2294964" cy="1200329"/>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Dry</a:t>
            </a:r>
            <a:r>
              <a:rPr lang="en-US" sz="1800" dirty="0">
                <a:latin typeface="Arial" panose="020B0604020202020204" pitchFamily="34" charset="0"/>
                <a:ea typeface="Calibri" panose="020F0502020204030204" pitchFamily="34" charset="0"/>
                <a:cs typeface="Arial" panose="020B0604020202020204" pitchFamily="34" charset="0"/>
              </a:rPr>
              <a:t> under vacuum for 1 </a:t>
            </a:r>
            <a:r>
              <a:rPr lang="en-US" sz="1800" dirty="0" err="1">
                <a:latin typeface="Arial" panose="020B0604020202020204" pitchFamily="34" charset="0"/>
                <a:ea typeface="Calibri" panose="020F0502020204030204" pitchFamily="34" charset="0"/>
                <a:cs typeface="Arial" panose="020B0604020202020204" pitchFamily="34" charset="0"/>
              </a:rPr>
              <a:t>hr</a:t>
            </a:r>
            <a:r>
              <a:rPr lang="en-US" sz="1800" dirty="0">
                <a:latin typeface="Arial" panose="020B0604020202020204" pitchFamily="34" charset="0"/>
                <a:ea typeface="Calibri" panose="020F0502020204030204" pitchFamily="34" charset="0"/>
                <a:cs typeface="Arial" panose="020B0604020202020204" pitchFamily="34" charset="0"/>
              </a:rPr>
              <a:t> at 120 °C, and then heat under N</a:t>
            </a:r>
            <a:r>
              <a:rPr lang="en-US" sz="1800" baseline="-25000" dirty="0">
                <a:latin typeface="Arial" panose="020B0604020202020204" pitchFamily="34" charset="0"/>
                <a:ea typeface="Calibri" panose="020F0502020204030204" pitchFamily="34" charset="0"/>
                <a:cs typeface="Arial" panose="020B0604020202020204" pitchFamily="34" charset="0"/>
              </a:rPr>
              <a:t>2</a:t>
            </a:r>
            <a:r>
              <a:rPr lang="en-US" sz="1800" dirty="0">
                <a:latin typeface="Arial" panose="020B0604020202020204" pitchFamily="34" charset="0"/>
                <a:ea typeface="Calibri" panose="020F0502020204030204" pitchFamily="34" charset="0"/>
                <a:cs typeface="Arial" panose="020B0604020202020204" pitchFamily="34" charset="0"/>
              </a:rPr>
              <a:t> at 120 °C</a:t>
            </a:r>
            <a:endParaRPr lang="en-IN" sz="180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606B120-FA06-DCCE-761D-198175BC0979}"/>
              </a:ext>
            </a:extLst>
          </p:cNvPr>
          <p:cNvSpPr txBox="1"/>
          <p:nvPr/>
        </p:nvSpPr>
        <p:spPr>
          <a:xfrm>
            <a:off x="6866103" y="1923412"/>
            <a:ext cx="1102054" cy="646331"/>
          </a:xfrm>
          <a:prstGeom prst="rect">
            <a:avLst/>
          </a:prstGeom>
          <a:noFill/>
        </p:spPr>
        <p:txBody>
          <a:bodyPr wrap="square" rtlCol="0">
            <a:spAutoFit/>
          </a:bodyPr>
          <a:lstStyle/>
          <a:p>
            <a:r>
              <a:rPr lang="en-IN" dirty="0"/>
              <a:t>Cs-oleate</a:t>
            </a:r>
          </a:p>
          <a:p>
            <a:r>
              <a:rPr lang="en-IN" dirty="0"/>
              <a:t>solution</a:t>
            </a:r>
          </a:p>
        </p:txBody>
      </p:sp>
      <p:sp>
        <p:nvSpPr>
          <p:cNvPr id="35" name="Rectangle 34">
            <a:extLst>
              <a:ext uri="{FF2B5EF4-FFF2-40B4-BE49-F238E27FC236}">
                <a16:creationId xmlns:a16="http://schemas.microsoft.com/office/drawing/2014/main" id="{1D56188D-2AFE-BC05-D798-63CFB752E2E3}"/>
              </a:ext>
            </a:extLst>
          </p:cNvPr>
          <p:cNvSpPr/>
          <p:nvPr/>
        </p:nvSpPr>
        <p:spPr>
          <a:xfrm>
            <a:off x="8605429" y="891436"/>
            <a:ext cx="3227295" cy="134353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X=</a:t>
            </a:r>
            <a:r>
              <a:rPr lang="en-IN" dirty="0" err="1"/>
              <a:t>I,Cl,Br</a:t>
            </a:r>
            <a:endParaRPr lang="en-IN" dirty="0"/>
          </a:p>
          <a:p>
            <a:pPr algn="ctr"/>
            <a:r>
              <a:rPr lang="en-IN" dirty="0" err="1"/>
              <a:t>Oleyamine</a:t>
            </a:r>
            <a:r>
              <a:rPr lang="en-IN" dirty="0"/>
              <a:t>(OLA),</a:t>
            </a:r>
          </a:p>
          <a:p>
            <a:pPr algn="ctr"/>
            <a:r>
              <a:rPr lang="en-IN" dirty="0"/>
              <a:t>1-Octadecene (ODE),</a:t>
            </a:r>
          </a:p>
          <a:p>
            <a:pPr algn="ctr"/>
            <a:r>
              <a:rPr lang="en-IN" dirty="0"/>
              <a:t>Tri-n-</a:t>
            </a:r>
            <a:r>
              <a:rPr lang="en-IN" dirty="0" err="1"/>
              <a:t>octylphosphine</a:t>
            </a:r>
            <a:r>
              <a:rPr lang="en-IN" dirty="0"/>
              <a:t>(TOP)</a:t>
            </a:r>
          </a:p>
        </p:txBody>
      </p:sp>
      <p:sp>
        <p:nvSpPr>
          <p:cNvPr id="36" name="TextBox 35">
            <a:extLst>
              <a:ext uri="{FF2B5EF4-FFF2-40B4-BE49-F238E27FC236}">
                <a16:creationId xmlns:a16="http://schemas.microsoft.com/office/drawing/2014/main" id="{FB5B85B5-9AFA-9183-DDC2-911625ACE687}"/>
              </a:ext>
            </a:extLst>
          </p:cNvPr>
          <p:cNvSpPr txBox="1"/>
          <p:nvPr/>
        </p:nvSpPr>
        <p:spPr>
          <a:xfrm>
            <a:off x="4944379" y="5515374"/>
            <a:ext cx="2357718" cy="1200329"/>
          </a:xfrm>
          <a:prstGeom prst="rect">
            <a:avLst/>
          </a:prstGeom>
          <a:noFill/>
        </p:spPr>
        <p:txBody>
          <a:bodyPr wrap="square" rtlCol="0">
            <a:spAutoFit/>
          </a:bodyPr>
          <a:lstStyle/>
          <a:p>
            <a:r>
              <a:rPr lang="en-US" sz="1800" dirty="0">
                <a:latin typeface="Arial" panose="020B0604020202020204" pitchFamily="34" charset="0"/>
                <a:ea typeface="Calibri" panose="020F0502020204030204" pitchFamily="34" charset="0"/>
                <a:cs typeface="Arial" panose="020B0604020202020204" pitchFamily="34" charset="0"/>
              </a:rPr>
              <a:t>Maintained at 170°C temperature for 5 minutes and add Cs-oleate</a:t>
            </a:r>
            <a:endParaRPr lang="en-IN" dirty="0"/>
          </a:p>
        </p:txBody>
      </p:sp>
      <p:sp>
        <p:nvSpPr>
          <p:cNvPr id="37" name="TextBox 36">
            <a:extLst>
              <a:ext uri="{FF2B5EF4-FFF2-40B4-BE49-F238E27FC236}">
                <a16:creationId xmlns:a16="http://schemas.microsoft.com/office/drawing/2014/main" id="{F8ACE3CD-8E88-F3FC-6C51-6157210454AF}"/>
              </a:ext>
            </a:extLst>
          </p:cNvPr>
          <p:cNvSpPr txBox="1"/>
          <p:nvPr/>
        </p:nvSpPr>
        <p:spPr>
          <a:xfrm>
            <a:off x="9287433" y="5365155"/>
            <a:ext cx="2357719" cy="1015663"/>
          </a:xfrm>
          <a:prstGeom prst="rect">
            <a:avLst/>
          </a:prstGeom>
          <a:noFill/>
        </p:spPr>
        <p:txBody>
          <a:bodyPr wrap="square" rtlCol="0">
            <a:spAutoFit/>
          </a:bodyPr>
          <a:lstStyle/>
          <a:p>
            <a:r>
              <a:rPr lang="en-IN" sz="2000" dirty="0"/>
              <a:t>Cool the reaction mixture in ice-water bath</a:t>
            </a:r>
          </a:p>
        </p:txBody>
      </p:sp>
      <p:sp>
        <p:nvSpPr>
          <p:cNvPr id="31" name="Rectangle 30">
            <a:extLst>
              <a:ext uri="{FF2B5EF4-FFF2-40B4-BE49-F238E27FC236}">
                <a16:creationId xmlns:a16="http://schemas.microsoft.com/office/drawing/2014/main" id="{1CA1269C-38AA-D7DA-F3DE-3135C4AC81FA}"/>
              </a:ext>
            </a:extLst>
          </p:cNvPr>
          <p:cNvSpPr/>
          <p:nvPr/>
        </p:nvSpPr>
        <p:spPr>
          <a:xfrm>
            <a:off x="3792" y="14204"/>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Calibri"/>
            </a:endParaRPr>
          </a:p>
        </p:txBody>
      </p:sp>
      <p:sp>
        <p:nvSpPr>
          <p:cNvPr id="39" name="Text Placeholder 1">
            <a:extLst>
              <a:ext uri="{FF2B5EF4-FFF2-40B4-BE49-F238E27FC236}">
                <a16:creationId xmlns:a16="http://schemas.microsoft.com/office/drawing/2014/main" id="{58A97286-2B75-8D49-2517-87CC9D4A3BB2}"/>
              </a:ext>
            </a:extLst>
          </p:cNvPr>
          <p:cNvSpPr txBox="1">
            <a:spLocks/>
          </p:cNvSpPr>
          <p:nvPr/>
        </p:nvSpPr>
        <p:spPr>
          <a:xfrm>
            <a:off x="519955" y="-22672"/>
            <a:ext cx="4942999"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Synthesis Procedure</a:t>
            </a:r>
            <a:endParaRPr kumimoji="0" lang="en-US" sz="3600" b="1" i="0" u="sng"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20" name="Slide Number Placeholder 19">
            <a:extLst>
              <a:ext uri="{FF2B5EF4-FFF2-40B4-BE49-F238E27FC236}">
                <a16:creationId xmlns:a16="http://schemas.microsoft.com/office/drawing/2014/main" id="{2A7FF5AF-3754-1E78-CDD6-DFB18F564693}"/>
              </a:ext>
            </a:extLst>
          </p:cNvPr>
          <p:cNvSpPr>
            <a:spLocks noGrp="1"/>
          </p:cNvSpPr>
          <p:nvPr>
            <p:ph type="sldNum" sz="quarter" idx="12"/>
          </p:nvPr>
        </p:nvSpPr>
        <p:spPr/>
        <p:txBody>
          <a:bodyPr/>
          <a:lstStyle/>
          <a:p>
            <a:fld id="{1613D59D-1F26-43DA-B4F8-670F7817FB5A}" type="slidenum">
              <a:rPr lang="en-IN" smtClean="0"/>
              <a:t>7</a:t>
            </a:fld>
            <a:endParaRPr lang="en-IN"/>
          </a:p>
        </p:txBody>
      </p:sp>
    </p:spTree>
    <p:extLst>
      <p:ext uri="{BB962C8B-B14F-4D97-AF65-F5344CB8AC3E}">
        <p14:creationId xmlns:p14="http://schemas.microsoft.com/office/powerpoint/2010/main" val="204641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60220-3FC5-5A4E-0802-7E022C0C526A}"/>
              </a:ext>
            </a:extLst>
          </p:cNvPr>
          <p:cNvSpPr>
            <a:spLocks noGrp="1"/>
          </p:cNvSpPr>
          <p:nvPr>
            <p:ph idx="1"/>
          </p:nvPr>
        </p:nvSpPr>
        <p:spPr>
          <a:xfrm>
            <a:off x="309282" y="779930"/>
            <a:ext cx="11573435" cy="2561148"/>
          </a:xfrm>
        </p:spPr>
        <p:txBody>
          <a:bodyPr/>
          <a:lstStyle/>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rPr>
              <a:t>I</a:t>
            </a:r>
            <a:r>
              <a:rPr lang="en-IN" sz="1800" dirty="0">
                <a:effectLst/>
                <a:latin typeface="Times New Roman" panose="02020603050405020304" pitchFamily="18" charset="0"/>
                <a:ea typeface="Calibri" panose="020F0502020204030204" pitchFamily="34" charset="0"/>
              </a:rPr>
              <a:t>nitially CsPbI3,CsPbBr3 and</a:t>
            </a:r>
            <a:r>
              <a:rPr lang="en-IN" sz="1800" baseline="-25000" dirty="0">
                <a:effectLst/>
                <a:latin typeface="Times New Roman" panose="02020603050405020304" pitchFamily="18" charset="0"/>
                <a:ea typeface="Calibri" panose="020F0502020204030204" pitchFamily="34" charset="0"/>
              </a:rPr>
              <a:t>,</a:t>
            </a:r>
            <a:r>
              <a:rPr lang="en-IN" sz="1800" dirty="0">
                <a:effectLst/>
                <a:latin typeface="Times New Roman" panose="02020603050405020304" pitchFamily="18" charset="0"/>
                <a:ea typeface="Calibri" panose="020F0502020204030204" pitchFamily="34" charset="0"/>
              </a:rPr>
              <a:t>CsPbCl</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were synthesized with the standard synthesis procedure. </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rPr>
              <a:t>However, due to the high sensitivity of CsPbI</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and CsPbCl</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to temperature, radiation, and humidity they have undergone ligand loss and the phase transformation which eventually led to the loss of their luminescence within a short duration. </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rPr>
              <a:t>Therefore, we considered only CsPbBr</a:t>
            </a:r>
            <a:r>
              <a:rPr lang="en-IN" sz="1800" baseline="-25000" dirty="0">
                <a:effectLst/>
                <a:latin typeface="Times New Roman" panose="02020603050405020304" pitchFamily="18" charset="0"/>
                <a:ea typeface="Calibri" panose="020F0502020204030204" pitchFamily="34" charset="0"/>
              </a:rPr>
              <a:t>3 </a:t>
            </a:r>
            <a:r>
              <a:rPr lang="en-IN" sz="1800" dirty="0">
                <a:effectLst/>
                <a:latin typeface="Times New Roman" panose="02020603050405020304" pitchFamily="18" charset="0"/>
                <a:ea typeface="Calibri" panose="020F0502020204030204" pitchFamily="34" charset="0"/>
              </a:rPr>
              <a:t>NCs further and synthesized </a:t>
            </a:r>
            <a:r>
              <a:rPr lang="en-IN" sz="1800" dirty="0" err="1">
                <a:effectLst/>
                <a:latin typeface="Times New Roman" panose="02020603050405020304" pitchFamily="18" charset="0"/>
                <a:ea typeface="Calibri" panose="020F0502020204030204" pitchFamily="34" charset="0"/>
              </a:rPr>
              <a:t>GuSCN</a:t>
            </a:r>
            <a:r>
              <a:rPr lang="en-IN" sz="1800" dirty="0">
                <a:effectLst/>
                <a:latin typeface="Times New Roman" panose="02020603050405020304" pitchFamily="18" charset="0"/>
                <a:ea typeface="Calibri" panose="020F0502020204030204" pitchFamily="34" charset="0"/>
              </a:rPr>
              <a:t>(5%): 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along with the pristine CsPbBr</a:t>
            </a:r>
            <a:r>
              <a:rPr lang="en-IN" sz="1800" baseline="-25000" dirty="0">
                <a:effectLst/>
                <a:latin typeface="Times New Roman" panose="02020603050405020304" pitchFamily="18" charset="0"/>
                <a:ea typeface="Calibri" panose="020F0502020204030204" pitchFamily="34" charset="0"/>
              </a:rPr>
              <a:t>3 </a:t>
            </a:r>
            <a:r>
              <a:rPr lang="en-IN" sz="1800" dirty="0">
                <a:effectLst/>
                <a:latin typeface="Times New Roman" panose="02020603050405020304" pitchFamily="18" charset="0"/>
                <a:ea typeface="Calibri" panose="020F0502020204030204" pitchFamily="34" charset="0"/>
              </a:rPr>
              <a:t>NCs by including </a:t>
            </a:r>
            <a:r>
              <a:rPr lang="en-IN" sz="1800" dirty="0" err="1">
                <a:effectLst/>
                <a:latin typeface="Times New Roman" panose="02020603050405020304" pitchFamily="18" charset="0"/>
                <a:ea typeface="Calibri" panose="020F0502020204030204" pitchFamily="34" charset="0"/>
              </a:rPr>
              <a:t>GuSCN</a:t>
            </a:r>
            <a:r>
              <a:rPr lang="en-IN" sz="1800" dirty="0">
                <a:effectLst/>
                <a:latin typeface="Times New Roman" panose="02020603050405020304" pitchFamily="18" charset="0"/>
                <a:ea typeface="Calibri" panose="020F0502020204030204" pitchFamily="34" charset="0"/>
              </a:rPr>
              <a:t> salt in the reaction mixture. </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rPr>
              <a:t>Then the crude NCs were washed using toluene and then stored in toluene for </a:t>
            </a:r>
            <a:r>
              <a:rPr lang="en-IN" sz="1800" dirty="0" err="1">
                <a:effectLst/>
                <a:latin typeface="Times New Roman" panose="02020603050405020304" pitchFamily="18" charset="0"/>
                <a:ea typeface="Calibri" panose="020F0502020204030204" pitchFamily="34" charset="0"/>
              </a:rPr>
              <a:t>charcterizations</a:t>
            </a:r>
            <a:r>
              <a:rPr lang="en-IN" sz="1800" dirty="0">
                <a:effectLst/>
                <a:latin typeface="Times New Roman" panose="02020603050405020304" pitchFamily="18" charset="0"/>
                <a:ea typeface="Calibri" panose="020F0502020204030204" pitchFamily="34" charset="0"/>
              </a:rPr>
              <a:t>.</a:t>
            </a:r>
          </a:p>
          <a:p>
            <a:pPr>
              <a:buFont typeface="Wingdings" panose="05000000000000000000" pitchFamily="2" charset="2"/>
              <a:buChar char="q"/>
            </a:pPr>
            <a:endParaRPr lang="en-IN" sz="1800" dirty="0">
              <a:effectLst/>
              <a:latin typeface="Times New Roman" panose="02020603050405020304" pitchFamily="18" charset="0"/>
              <a:ea typeface="Calibri" panose="020F0502020204030204" pitchFamily="34" charset="0"/>
            </a:endParaRPr>
          </a:p>
        </p:txBody>
      </p:sp>
      <p:sp>
        <p:nvSpPr>
          <p:cNvPr id="9" name="Rectangle 8">
            <a:extLst>
              <a:ext uri="{FF2B5EF4-FFF2-40B4-BE49-F238E27FC236}">
                <a16:creationId xmlns:a16="http://schemas.microsoft.com/office/drawing/2014/main" id="{2E3CAE77-AABD-EC62-83E0-13156DEBF86F}"/>
              </a:ext>
            </a:extLst>
          </p:cNvPr>
          <p:cNvSpPr/>
          <p:nvPr/>
        </p:nvSpPr>
        <p:spPr>
          <a:xfrm>
            <a:off x="3792" y="14204"/>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Times" panose="02020603050405020304" pitchFamily="18" charset="0"/>
              <a:cs typeface="Times" panose="02020603050405020304" pitchFamily="18" charset="0"/>
            </a:endParaRPr>
          </a:p>
        </p:txBody>
      </p:sp>
      <p:sp>
        <p:nvSpPr>
          <p:cNvPr id="12" name="Text Placeholder 1">
            <a:extLst>
              <a:ext uri="{FF2B5EF4-FFF2-40B4-BE49-F238E27FC236}">
                <a16:creationId xmlns:a16="http://schemas.microsoft.com/office/drawing/2014/main" id="{F8659057-79AA-B771-2EFE-6DEED6D3A6A3}"/>
              </a:ext>
            </a:extLst>
          </p:cNvPr>
          <p:cNvSpPr txBox="1">
            <a:spLocks/>
          </p:cNvSpPr>
          <p:nvPr/>
        </p:nvSpPr>
        <p:spPr>
          <a:xfrm>
            <a:off x="519955" y="-22672"/>
            <a:ext cx="4942999"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Results and Discussion</a:t>
            </a:r>
          </a:p>
        </p:txBody>
      </p:sp>
      <p:graphicFrame>
        <p:nvGraphicFramePr>
          <p:cNvPr id="14" name="Content Placeholder 7">
            <a:extLst>
              <a:ext uri="{FF2B5EF4-FFF2-40B4-BE49-F238E27FC236}">
                <a16:creationId xmlns:a16="http://schemas.microsoft.com/office/drawing/2014/main" id="{10D4AF9E-000F-CFFB-2325-E87616ED42D4}"/>
              </a:ext>
            </a:extLst>
          </p:cNvPr>
          <p:cNvGraphicFramePr>
            <a:graphicFrameLocks noChangeAspect="1"/>
          </p:cNvGraphicFramePr>
          <p:nvPr>
            <p:extLst>
              <p:ext uri="{D42A27DB-BD31-4B8C-83A1-F6EECF244321}">
                <p14:modId xmlns:p14="http://schemas.microsoft.com/office/powerpoint/2010/main" val="3355558669"/>
              </p:ext>
            </p:extLst>
          </p:nvPr>
        </p:nvGraphicFramePr>
        <p:xfrm>
          <a:off x="3727939" y="2652931"/>
          <a:ext cx="4811391" cy="3681591"/>
        </p:xfrm>
        <a:graphic>
          <a:graphicData uri="http://schemas.openxmlformats.org/presentationml/2006/ole">
            <mc:AlternateContent xmlns:mc="http://schemas.openxmlformats.org/markup-compatibility/2006">
              <mc:Choice xmlns:v="urn:schemas-microsoft-com:vml" Requires="v">
                <p:oleObj name="Graph" r:id="rId2" imgW="3920760" imgH="3000960" progId="Origin95.Graph">
                  <p:embed/>
                </p:oleObj>
              </mc:Choice>
              <mc:Fallback>
                <p:oleObj name="Graph" r:id="rId2" imgW="3920760" imgH="3000960" progId="Origin95.Graph">
                  <p:embed/>
                  <p:pic>
                    <p:nvPicPr>
                      <p:cNvPr id="8" name="Content Placeholder 7">
                        <a:extLst>
                          <a:ext uri="{FF2B5EF4-FFF2-40B4-BE49-F238E27FC236}">
                            <a16:creationId xmlns:a16="http://schemas.microsoft.com/office/drawing/2014/main" id="{145B2E7A-B054-5CD9-A99B-AFE6204A6C2F}"/>
                          </a:ext>
                        </a:extLst>
                      </p:cNvPr>
                      <p:cNvPicPr/>
                      <p:nvPr/>
                    </p:nvPicPr>
                    <p:blipFill>
                      <a:blip r:embed="rId3"/>
                      <a:stretch>
                        <a:fillRect/>
                      </a:stretch>
                    </p:blipFill>
                    <p:spPr>
                      <a:xfrm>
                        <a:off x="3727939" y="2652931"/>
                        <a:ext cx="4811391" cy="3681591"/>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994D5D0-EAB6-C4B2-58BF-172B1AD165AC}"/>
              </a:ext>
            </a:extLst>
          </p:cNvPr>
          <p:cNvGraphicFramePr>
            <a:graphicFrameLocks noChangeAspect="1"/>
          </p:cNvGraphicFramePr>
          <p:nvPr>
            <p:extLst>
              <p:ext uri="{D42A27DB-BD31-4B8C-83A1-F6EECF244321}">
                <p14:modId xmlns:p14="http://schemas.microsoft.com/office/powerpoint/2010/main" val="718024955"/>
              </p:ext>
            </p:extLst>
          </p:nvPr>
        </p:nvGraphicFramePr>
        <p:xfrm>
          <a:off x="7623353" y="2606356"/>
          <a:ext cx="4811391" cy="3681591"/>
        </p:xfrm>
        <a:graphic>
          <a:graphicData uri="http://schemas.openxmlformats.org/presentationml/2006/ole">
            <mc:AlternateContent xmlns:mc="http://schemas.openxmlformats.org/markup-compatibility/2006">
              <mc:Choice xmlns:v="urn:schemas-microsoft-com:vml" Requires="v">
                <p:oleObj name="Graph" r:id="rId4" imgW="3920760" imgH="3000960" progId="Origin95.Graph">
                  <p:embed/>
                </p:oleObj>
              </mc:Choice>
              <mc:Fallback>
                <p:oleObj name="Graph" r:id="rId4" imgW="3920760" imgH="3000960" progId="Origin95.Graph">
                  <p:embed/>
                  <p:pic>
                    <p:nvPicPr>
                      <p:cNvPr id="9" name="Object 8">
                        <a:extLst>
                          <a:ext uri="{FF2B5EF4-FFF2-40B4-BE49-F238E27FC236}">
                            <a16:creationId xmlns:a16="http://schemas.microsoft.com/office/drawing/2014/main" id="{E2A494B7-26C6-1158-9675-AF42D49A7AD1}"/>
                          </a:ext>
                        </a:extLst>
                      </p:cNvPr>
                      <p:cNvPicPr/>
                      <p:nvPr/>
                    </p:nvPicPr>
                    <p:blipFill>
                      <a:blip r:embed="rId5"/>
                      <a:stretch>
                        <a:fillRect/>
                      </a:stretch>
                    </p:blipFill>
                    <p:spPr>
                      <a:xfrm>
                        <a:off x="7623353" y="2606356"/>
                        <a:ext cx="4811391" cy="3681591"/>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FDD9AE8D-C9B5-21F2-851C-C03FB47D520B}"/>
              </a:ext>
            </a:extLst>
          </p:cNvPr>
          <p:cNvSpPr txBox="1"/>
          <p:nvPr/>
        </p:nvSpPr>
        <p:spPr>
          <a:xfrm>
            <a:off x="4121933" y="6104675"/>
            <a:ext cx="4331057" cy="646331"/>
          </a:xfrm>
          <a:prstGeom prst="rect">
            <a:avLst/>
          </a:prstGeom>
          <a:noFill/>
        </p:spPr>
        <p:txBody>
          <a:bodyPr wrap="square" rtlCol="0">
            <a:spAutoFit/>
          </a:bodyPr>
          <a:lstStyle/>
          <a:p>
            <a:pPr algn="ctr"/>
            <a:r>
              <a:rPr lang="en-IN" dirty="0" err="1">
                <a:latin typeface="Times" panose="02020603050405020304" pitchFamily="18" charset="0"/>
                <a:cs typeface="Times" panose="02020603050405020304" pitchFamily="18" charset="0"/>
              </a:rPr>
              <a:t>Uv</a:t>
            </a:r>
            <a:r>
              <a:rPr lang="en-IN" dirty="0">
                <a:latin typeface="Times" panose="02020603050405020304" pitchFamily="18" charset="0"/>
                <a:cs typeface="Times" panose="02020603050405020304" pitchFamily="18" charset="0"/>
              </a:rPr>
              <a:t>-Vis absorption spectra </a:t>
            </a:r>
          </a:p>
          <a:p>
            <a:pPr algn="ctr"/>
            <a:r>
              <a:rPr lang="en-IN" dirty="0">
                <a:latin typeface="Times" panose="02020603050405020304" pitchFamily="18" charset="0"/>
                <a:cs typeface="Times" panose="02020603050405020304" pitchFamily="18" charset="0"/>
              </a:rPr>
              <a:t>for CsPbBr3 NCs</a:t>
            </a:r>
          </a:p>
        </p:txBody>
      </p:sp>
      <p:sp>
        <p:nvSpPr>
          <p:cNvPr id="17" name="TextBox 16">
            <a:extLst>
              <a:ext uri="{FF2B5EF4-FFF2-40B4-BE49-F238E27FC236}">
                <a16:creationId xmlns:a16="http://schemas.microsoft.com/office/drawing/2014/main" id="{E818B4BD-4B17-937B-B6F5-229FBD8D2E59}"/>
              </a:ext>
            </a:extLst>
          </p:cNvPr>
          <p:cNvSpPr txBox="1"/>
          <p:nvPr/>
        </p:nvSpPr>
        <p:spPr>
          <a:xfrm>
            <a:off x="8174173" y="6104675"/>
            <a:ext cx="4331057" cy="646331"/>
          </a:xfrm>
          <a:prstGeom prst="rect">
            <a:avLst/>
          </a:prstGeom>
          <a:noFill/>
        </p:spPr>
        <p:txBody>
          <a:bodyPr wrap="square" rtlCol="0">
            <a:spAutoFit/>
          </a:bodyPr>
          <a:lstStyle/>
          <a:p>
            <a:pPr algn="ctr"/>
            <a:r>
              <a:rPr lang="en-IN" dirty="0" err="1">
                <a:latin typeface="Times" panose="02020603050405020304" pitchFamily="18" charset="0"/>
                <a:cs typeface="Times" panose="02020603050405020304" pitchFamily="18" charset="0"/>
              </a:rPr>
              <a:t>Uv</a:t>
            </a:r>
            <a:r>
              <a:rPr lang="en-IN" dirty="0">
                <a:latin typeface="Times" panose="02020603050405020304" pitchFamily="18" charset="0"/>
                <a:cs typeface="Times" panose="02020603050405020304" pitchFamily="18" charset="0"/>
              </a:rPr>
              <a:t>-Vis absorption spectra </a:t>
            </a:r>
            <a:r>
              <a:rPr lang="en-IN" dirty="0" err="1">
                <a:latin typeface="Times" panose="02020603050405020304" pitchFamily="18" charset="0"/>
                <a:cs typeface="Times" panose="02020603050405020304" pitchFamily="18" charset="0"/>
              </a:rPr>
              <a:t>forGuSCN</a:t>
            </a:r>
            <a:r>
              <a:rPr lang="en-IN" dirty="0">
                <a:latin typeface="Times" panose="02020603050405020304" pitchFamily="18" charset="0"/>
                <a:cs typeface="Times" panose="02020603050405020304" pitchFamily="18" charset="0"/>
              </a:rPr>
              <a:t>(5%):CsPbBr3 NCs</a:t>
            </a:r>
          </a:p>
        </p:txBody>
      </p:sp>
      <p:sp>
        <p:nvSpPr>
          <p:cNvPr id="7" name="TextBox 6">
            <a:extLst>
              <a:ext uri="{FF2B5EF4-FFF2-40B4-BE49-F238E27FC236}">
                <a16:creationId xmlns:a16="http://schemas.microsoft.com/office/drawing/2014/main" id="{C1028D27-DA9D-9597-F46A-C72B99C243B6}"/>
              </a:ext>
            </a:extLst>
          </p:cNvPr>
          <p:cNvSpPr txBox="1"/>
          <p:nvPr/>
        </p:nvSpPr>
        <p:spPr>
          <a:xfrm>
            <a:off x="320663" y="3291716"/>
            <a:ext cx="3407276" cy="3416320"/>
          </a:xfrm>
          <a:prstGeom prst="rect">
            <a:avLst/>
          </a:prstGeom>
          <a:noFill/>
        </p:spPr>
        <p:txBody>
          <a:bodyPr wrap="square" rtlCol="0">
            <a:spAutoFit/>
          </a:bodyPr>
          <a:lstStyle/>
          <a:p>
            <a:pPr marL="285750" indent="-285750" algn="jus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rPr>
              <a:t>In UV- Vis absorption spectra, both the absorption spectra are broad </a:t>
            </a:r>
          </a:p>
          <a:p>
            <a:pPr marL="285750" indent="-285750" algn="jus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IN" sz="1800" i="1" baseline="-25000" dirty="0">
                <a:effectLst/>
                <a:latin typeface="Times New Roman" panose="02020603050405020304" pitchFamily="18" charset="0"/>
                <a:ea typeface="Calibri" panose="020F0502020204030204" pitchFamily="34" charset="0"/>
              </a:rPr>
              <a:t>max</a:t>
            </a:r>
            <a:r>
              <a:rPr lang="en-IN" sz="1800" dirty="0">
                <a:effectLst/>
                <a:latin typeface="Times New Roman" panose="02020603050405020304" pitchFamily="18" charset="0"/>
                <a:ea typeface="Calibri" panose="020F0502020204030204" pitchFamily="34" charset="0"/>
              </a:rPr>
              <a:t> for 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and </a:t>
            </a:r>
            <a:r>
              <a:rPr lang="en-IN" sz="1800" dirty="0" err="1">
                <a:effectLst/>
                <a:latin typeface="Times New Roman" panose="02020603050405020304" pitchFamily="18" charset="0"/>
                <a:ea typeface="Calibri" panose="020F0502020204030204" pitchFamily="34" charset="0"/>
              </a:rPr>
              <a:t>GuSCN</a:t>
            </a:r>
            <a:r>
              <a:rPr lang="en-IN" sz="1800" dirty="0">
                <a:effectLst/>
                <a:latin typeface="Times New Roman" panose="02020603050405020304" pitchFamily="18" charset="0"/>
                <a:ea typeface="Calibri" panose="020F0502020204030204" pitchFamily="34" charset="0"/>
              </a:rPr>
              <a:t>(5%): 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are 505 nm and 507 nm </a:t>
            </a:r>
          </a:p>
          <a:p>
            <a:pPr marL="285750" indent="-285750" algn="just">
              <a:buFont typeface="Wingdings" panose="05000000000000000000" pitchFamily="2" charset="2"/>
              <a:buChar char="§"/>
            </a:pPr>
            <a:r>
              <a:rPr lang="en-IN" sz="1800" dirty="0">
                <a:solidFill>
                  <a:srgbClr val="000000"/>
                </a:solidFill>
                <a:effectLst/>
                <a:latin typeface="Times New Roman" panose="02020603050405020304" pitchFamily="18" charset="0"/>
                <a:ea typeface="Calibri" panose="020F0502020204030204" pitchFamily="34" charset="0"/>
              </a:rPr>
              <a:t>In the case of PL, the emission peaks for </a:t>
            </a:r>
            <a:r>
              <a:rPr lang="en-IN" sz="1800" dirty="0">
                <a:effectLst/>
                <a:latin typeface="Times New Roman" panose="02020603050405020304" pitchFamily="18" charset="0"/>
                <a:ea typeface="Calibri" panose="020F0502020204030204" pitchFamily="34" charset="0"/>
              </a:rPr>
              <a:t>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and </a:t>
            </a:r>
            <a:r>
              <a:rPr lang="en-IN" sz="1800" dirty="0" err="1">
                <a:effectLst/>
                <a:latin typeface="Times New Roman" panose="02020603050405020304" pitchFamily="18" charset="0"/>
                <a:ea typeface="Calibri" panose="020F0502020204030204" pitchFamily="34" charset="0"/>
              </a:rPr>
              <a:t>GuSCN</a:t>
            </a:r>
            <a:r>
              <a:rPr lang="en-IN" sz="1800" dirty="0">
                <a:effectLst/>
                <a:latin typeface="Times New Roman" panose="02020603050405020304" pitchFamily="18" charset="0"/>
                <a:ea typeface="Calibri" panose="020F0502020204030204" pitchFamily="34" charset="0"/>
              </a:rPr>
              <a:t>(5%): 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are 510 nm and 514nm, respectively.</a:t>
            </a:r>
          </a:p>
          <a:p>
            <a:endParaRPr lang="en-IN" sz="1800" dirty="0">
              <a:effectLst/>
              <a:latin typeface="Times New Roman" panose="02020603050405020304" pitchFamily="18" charset="0"/>
              <a:ea typeface="Calibri" panose="020F0502020204030204" pitchFamily="34" charset="0"/>
            </a:endParaRPr>
          </a:p>
        </p:txBody>
      </p:sp>
      <p:sp>
        <p:nvSpPr>
          <p:cNvPr id="18" name="Slide Number Placeholder 17">
            <a:extLst>
              <a:ext uri="{FF2B5EF4-FFF2-40B4-BE49-F238E27FC236}">
                <a16:creationId xmlns:a16="http://schemas.microsoft.com/office/drawing/2014/main" id="{ABA7168B-819E-A976-4F8A-171D742B7A10}"/>
              </a:ext>
            </a:extLst>
          </p:cNvPr>
          <p:cNvSpPr>
            <a:spLocks noGrp="1"/>
          </p:cNvSpPr>
          <p:nvPr>
            <p:ph type="sldNum" sz="quarter" idx="12"/>
          </p:nvPr>
        </p:nvSpPr>
        <p:spPr/>
        <p:txBody>
          <a:bodyPr/>
          <a:lstStyle/>
          <a:p>
            <a:fld id="{1613D59D-1F26-43DA-B4F8-670F7817FB5A}" type="slidenum">
              <a:rPr lang="en-IN" smtClean="0"/>
              <a:t>8</a:t>
            </a:fld>
            <a:endParaRPr lang="en-IN" dirty="0"/>
          </a:p>
        </p:txBody>
      </p:sp>
    </p:spTree>
    <p:extLst>
      <p:ext uri="{BB962C8B-B14F-4D97-AF65-F5344CB8AC3E}">
        <p14:creationId xmlns:p14="http://schemas.microsoft.com/office/powerpoint/2010/main" val="2862196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B177392-40C5-BD39-3B36-C5D2AA5E12FB}"/>
              </a:ext>
            </a:extLst>
          </p:cNvPr>
          <p:cNvSpPr/>
          <p:nvPr/>
        </p:nvSpPr>
        <p:spPr>
          <a:xfrm>
            <a:off x="3792" y="14204"/>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Times" panose="02020603050405020304" pitchFamily="18" charset="0"/>
              <a:cs typeface="Times" panose="02020603050405020304" pitchFamily="18" charset="0"/>
            </a:endParaRPr>
          </a:p>
        </p:txBody>
      </p:sp>
      <p:sp>
        <p:nvSpPr>
          <p:cNvPr id="10" name="Slide Number Placeholder 9">
            <a:extLst>
              <a:ext uri="{FF2B5EF4-FFF2-40B4-BE49-F238E27FC236}">
                <a16:creationId xmlns:a16="http://schemas.microsoft.com/office/drawing/2014/main" id="{D3BA7A3B-2AE5-7B68-C9B3-52802AC4EEC9}"/>
              </a:ext>
            </a:extLst>
          </p:cNvPr>
          <p:cNvSpPr>
            <a:spLocks noGrp="1"/>
          </p:cNvSpPr>
          <p:nvPr>
            <p:ph type="sldNum" sz="quarter" idx="12"/>
          </p:nvPr>
        </p:nvSpPr>
        <p:spPr/>
        <p:txBody>
          <a:bodyPr/>
          <a:lstStyle/>
          <a:p>
            <a:fld id="{1613D59D-1F26-43DA-B4F8-670F7817FB5A}" type="slidenum">
              <a:rPr lang="en-IN" smtClean="0"/>
              <a:t>9</a:t>
            </a:fld>
            <a:endParaRPr lang="en-IN"/>
          </a:p>
        </p:txBody>
      </p:sp>
      <p:pic>
        <p:nvPicPr>
          <p:cNvPr id="14" name="Picture 13">
            <a:extLst>
              <a:ext uri="{FF2B5EF4-FFF2-40B4-BE49-F238E27FC236}">
                <a16:creationId xmlns:a16="http://schemas.microsoft.com/office/drawing/2014/main" id="{091F1FCF-7AFC-5535-6549-49884E978A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3049" y="1005083"/>
            <a:ext cx="10949352" cy="3522601"/>
          </a:xfrm>
          <a:prstGeom prst="rect">
            <a:avLst/>
          </a:prstGeom>
          <a:noFill/>
        </p:spPr>
      </p:pic>
      <p:sp>
        <p:nvSpPr>
          <p:cNvPr id="7" name="TextBox 6">
            <a:extLst>
              <a:ext uri="{FF2B5EF4-FFF2-40B4-BE49-F238E27FC236}">
                <a16:creationId xmlns:a16="http://schemas.microsoft.com/office/drawing/2014/main" id="{02EC2112-F98D-D123-5D18-509050EBE598}"/>
              </a:ext>
            </a:extLst>
          </p:cNvPr>
          <p:cNvSpPr txBox="1"/>
          <p:nvPr/>
        </p:nvSpPr>
        <p:spPr>
          <a:xfrm>
            <a:off x="651512" y="5365045"/>
            <a:ext cx="10888976"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From the TEM images we confirmed the narrow distribution of the NCs sizes that are in the range of 13 nm to 16 nm, which promotes pure color emission.</a:t>
            </a:r>
            <a:endParaRPr lang="en-IN" dirty="0"/>
          </a:p>
        </p:txBody>
      </p:sp>
      <p:sp>
        <p:nvSpPr>
          <p:cNvPr id="16" name="TextBox 15">
            <a:extLst>
              <a:ext uri="{FF2B5EF4-FFF2-40B4-BE49-F238E27FC236}">
                <a16:creationId xmlns:a16="http://schemas.microsoft.com/office/drawing/2014/main" id="{F5E76574-2EE6-5341-1481-824AC768D0DD}"/>
              </a:ext>
            </a:extLst>
          </p:cNvPr>
          <p:cNvSpPr txBox="1"/>
          <p:nvPr/>
        </p:nvSpPr>
        <p:spPr>
          <a:xfrm>
            <a:off x="2965941" y="4639436"/>
            <a:ext cx="10888976" cy="369332"/>
          </a:xfrm>
          <a:prstGeom prst="rect">
            <a:avLst/>
          </a:prstGeom>
          <a:noFill/>
        </p:spPr>
        <p:txBody>
          <a:bodyPr wrap="square" rtlCol="0">
            <a:spAutoFit/>
          </a:bodyPr>
          <a:lstStyle/>
          <a:p>
            <a:r>
              <a:rPr lang="en-US" dirty="0"/>
              <a:t>Transmission Electron Microscopy (TEM) images of CsPbBr3 NCs </a:t>
            </a:r>
            <a:endParaRPr lang="en-IN" dirty="0"/>
          </a:p>
        </p:txBody>
      </p:sp>
    </p:spTree>
    <p:extLst>
      <p:ext uri="{BB962C8B-B14F-4D97-AF65-F5344CB8AC3E}">
        <p14:creationId xmlns:p14="http://schemas.microsoft.com/office/powerpoint/2010/main" val="253111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98D2F-91D5-7B43-468C-C44002CA7FC3}"/>
              </a:ext>
            </a:extLst>
          </p:cNvPr>
          <p:cNvSpPr>
            <a:spLocks noGrp="1"/>
          </p:cNvSpPr>
          <p:nvPr>
            <p:ph idx="1"/>
          </p:nvPr>
        </p:nvSpPr>
        <p:spPr>
          <a:xfrm>
            <a:off x="986119" y="1157203"/>
            <a:ext cx="9799112" cy="5029203"/>
          </a:xfrm>
        </p:spPr>
        <p:txBody>
          <a:bodyPr/>
          <a:lstStyle/>
          <a:p>
            <a:pPr marL="0" indent="0">
              <a:buNone/>
            </a:pPr>
            <a:r>
              <a:rPr lang="en-IN" sz="1800" dirty="0">
                <a:effectLst/>
                <a:latin typeface="Times New Roman" panose="02020603050405020304" pitchFamily="18" charset="0"/>
                <a:ea typeface="Calibri" panose="020F0502020204030204" pitchFamily="34" charset="0"/>
              </a:rPr>
              <a:t>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t>
            </a:r>
            <a:r>
              <a:rPr lang="en-IN" sz="1800" dirty="0">
                <a:solidFill>
                  <a:srgbClr val="000000"/>
                </a:solidFill>
                <a:effectLst/>
                <a:latin typeface="Times New Roman" panose="02020603050405020304" pitchFamily="18" charset="0"/>
                <a:ea typeface="Calibri" panose="020F0502020204030204" pitchFamily="34" charset="0"/>
              </a:rPr>
              <a:t>were chosen to perform post-synthesis treatment utilizing various passivating agents that include </a:t>
            </a:r>
          </a:p>
          <a:p>
            <a:pPr>
              <a:buFont typeface="Wingdings" panose="05000000000000000000" pitchFamily="2" charset="2"/>
              <a:buChar char="§"/>
            </a:pPr>
            <a:r>
              <a:rPr lang="en-IN" sz="1800" dirty="0">
                <a:solidFill>
                  <a:srgbClr val="000000"/>
                </a:solidFill>
                <a:effectLst/>
                <a:latin typeface="Times New Roman" panose="02020603050405020304" pitchFamily="18" charset="0"/>
                <a:ea typeface="Calibri" panose="020F0502020204030204" pitchFamily="34" charset="0"/>
              </a:rPr>
              <a:t>YCl</a:t>
            </a:r>
            <a:r>
              <a:rPr lang="en-IN" sz="1800" baseline="-25000" dirty="0">
                <a:solidFill>
                  <a:srgbClr val="000000"/>
                </a:solidFill>
                <a:effectLst/>
                <a:latin typeface="Times New Roman" panose="02020603050405020304" pitchFamily="18" charset="0"/>
                <a:ea typeface="Calibri" panose="020F0502020204030204" pitchFamily="34" charset="0"/>
              </a:rPr>
              <a:t>3</a:t>
            </a:r>
            <a:r>
              <a:rPr lang="en-IN" sz="1800" baseline="-25000" dirty="0">
                <a:solidFill>
                  <a:srgbClr val="000000"/>
                </a:solidFill>
                <a:latin typeface="Times New Roman" panose="02020603050405020304" pitchFamily="18" charset="0"/>
                <a:ea typeface="Calibri" panose="020F0502020204030204" pitchFamily="34" charset="0"/>
              </a:rPr>
              <a:t>                </a:t>
            </a:r>
            <a:r>
              <a:rPr lang="en-IN" sz="1800" dirty="0">
                <a:solidFill>
                  <a:srgbClr val="000000"/>
                </a:solidFill>
                <a:effectLst/>
                <a:latin typeface="Times New Roman" panose="02020603050405020304" pitchFamily="18" charset="0"/>
                <a:ea typeface="Calibri" panose="020F0502020204030204" pitchFamily="34" charset="0"/>
              </a:rPr>
              <a:t>PDABr</a:t>
            </a:r>
            <a:r>
              <a:rPr lang="en-IN" sz="1800" baseline="-25000" dirty="0">
                <a:solidFill>
                  <a:srgbClr val="000000"/>
                </a:solidFill>
                <a:effectLst/>
                <a:latin typeface="Times New Roman" panose="02020603050405020304" pitchFamily="18" charset="0"/>
                <a:ea typeface="Calibri" panose="020F0502020204030204" pitchFamily="34" charset="0"/>
              </a:rPr>
              <a:t>2</a:t>
            </a:r>
            <a:r>
              <a:rPr lang="en-IN" sz="1800" baseline="-25000" dirty="0">
                <a:solidFill>
                  <a:srgbClr val="000000"/>
                </a:solidFill>
                <a:latin typeface="Times New Roman" panose="02020603050405020304" pitchFamily="18" charset="0"/>
                <a:ea typeface="Calibri" panose="020F0502020204030204" pitchFamily="34" charset="0"/>
              </a:rPr>
              <a:t>	</a:t>
            </a:r>
            <a:r>
              <a:rPr lang="en-IN" sz="1800" dirty="0" err="1">
                <a:solidFill>
                  <a:srgbClr val="000000"/>
                </a:solidFill>
                <a:effectLst/>
                <a:latin typeface="Times New Roman" panose="02020603050405020304" pitchFamily="18" charset="0"/>
                <a:ea typeface="Calibri" panose="020F0502020204030204" pitchFamily="34" charset="0"/>
              </a:rPr>
              <a:t>GuSCN</a:t>
            </a:r>
            <a:r>
              <a:rPr lang="en-IN" sz="1800" dirty="0">
                <a:solidFill>
                  <a:srgbClr val="000000"/>
                </a:solidFill>
                <a:latin typeface="Times New Roman" panose="02020603050405020304" pitchFamily="18" charset="0"/>
                <a:ea typeface="Calibri" panose="020F0502020204030204" pitchFamily="34" charset="0"/>
              </a:rPr>
              <a:t>		</a:t>
            </a:r>
            <a:r>
              <a:rPr lang="en-IN" sz="1800" dirty="0">
                <a:solidFill>
                  <a:srgbClr val="000000"/>
                </a:solidFill>
                <a:effectLst/>
                <a:latin typeface="Times New Roman" panose="02020603050405020304" pitchFamily="18" charset="0"/>
                <a:ea typeface="Calibri" panose="020F0502020204030204" pitchFamily="34" charset="0"/>
              </a:rPr>
              <a:t>KSCN	</a:t>
            </a:r>
            <a:r>
              <a:rPr lang="en-IN" sz="1800" dirty="0">
                <a:solidFill>
                  <a:srgbClr val="000000"/>
                </a:solidFill>
                <a:latin typeface="Times New Roman" panose="02020603050405020304" pitchFamily="18" charset="0"/>
                <a:ea typeface="Calibri" panose="020F0502020204030204" pitchFamily="34" charset="0"/>
              </a:rPr>
              <a:t>     </a:t>
            </a:r>
            <a:r>
              <a:rPr lang="en-IN" sz="1800" dirty="0">
                <a:solidFill>
                  <a:srgbClr val="000000"/>
                </a:solidFill>
                <a:effectLst/>
                <a:latin typeface="Times New Roman" panose="02020603050405020304" pitchFamily="18" charset="0"/>
                <a:ea typeface="Calibri" panose="020F0502020204030204" pitchFamily="34" charset="0"/>
              </a:rPr>
              <a:t>Choline Bromide	NH</a:t>
            </a:r>
            <a:r>
              <a:rPr lang="en-IN" sz="1800" baseline="-25000" dirty="0">
                <a:solidFill>
                  <a:srgbClr val="000000"/>
                </a:solidFill>
                <a:effectLst/>
                <a:latin typeface="Times New Roman" panose="02020603050405020304" pitchFamily="18" charset="0"/>
                <a:ea typeface="Calibri" panose="020F0502020204030204" pitchFamily="34" charset="0"/>
              </a:rPr>
              <a:t>4</a:t>
            </a:r>
            <a:r>
              <a:rPr lang="en-IN" sz="1800" dirty="0">
                <a:solidFill>
                  <a:srgbClr val="000000"/>
                </a:solidFill>
                <a:effectLst/>
                <a:latin typeface="Times New Roman" panose="02020603050405020304" pitchFamily="18" charset="0"/>
                <a:ea typeface="Calibri" panose="020F0502020204030204" pitchFamily="34" charset="0"/>
              </a:rPr>
              <a:t>SCN </a:t>
            </a:r>
          </a:p>
          <a:p>
            <a:pPr marL="0" indent="0">
              <a:buNone/>
            </a:pPr>
            <a:endParaRPr lang="en-IN"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en-IN" sz="1800" dirty="0">
              <a:solidFill>
                <a:srgbClr val="000000"/>
              </a:solidFill>
              <a:latin typeface="Times New Roman" panose="02020603050405020304" pitchFamily="18" charset="0"/>
              <a:ea typeface="Calibri" panose="020F0502020204030204" pitchFamily="34" charset="0"/>
            </a:endParaRPr>
          </a:p>
          <a:p>
            <a:pPr marL="0" indent="0">
              <a:buNone/>
            </a:pPr>
            <a:endParaRPr lang="en-IN"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en-IN" sz="1800" dirty="0">
              <a:solidFill>
                <a:srgbClr val="000000"/>
              </a:solidFill>
              <a:latin typeface="Times New Roman" panose="02020603050405020304" pitchFamily="18" charset="0"/>
              <a:ea typeface="Calibri" panose="020F0502020204030204" pitchFamily="34" charset="0"/>
            </a:endParaRPr>
          </a:p>
          <a:p>
            <a:pPr marL="0" indent="0">
              <a:buNone/>
            </a:pPr>
            <a:endParaRPr lang="en-IN"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en-IN" sz="1800" dirty="0">
              <a:solidFill>
                <a:srgbClr val="000000"/>
              </a:solidFill>
              <a:latin typeface="Times New Roman" panose="02020603050405020304" pitchFamily="18" charset="0"/>
              <a:ea typeface="Calibri" panose="020F0502020204030204" pitchFamily="34" charset="0"/>
            </a:endParaRPr>
          </a:p>
          <a:p>
            <a:pPr marL="0" indent="0">
              <a:buNone/>
            </a:pPr>
            <a:r>
              <a:rPr lang="en-IN" sz="1800" dirty="0">
                <a:solidFill>
                  <a:srgbClr val="000000"/>
                </a:solidFill>
                <a:effectLst/>
                <a:latin typeface="Times New Roman" panose="02020603050405020304" pitchFamily="18" charset="0"/>
                <a:ea typeface="Calibri" panose="020F0502020204030204" pitchFamily="34" charset="0"/>
              </a:rPr>
              <a:t>Herein, we added 0.25, 0.5, 0.75, 1.0, 1.25, 1.5, 1.75, 2.0, 2.25 millimoles of each compound individually to the pristine </a:t>
            </a:r>
            <a:r>
              <a:rPr lang="en-IN" sz="1800" dirty="0">
                <a:effectLst/>
                <a:latin typeface="Times New Roman" panose="02020603050405020304" pitchFamily="18" charset="0"/>
                <a:ea typeface="Calibri" panose="020F0502020204030204" pitchFamily="34" charset="0"/>
              </a:rPr>
              <a:t>CsPbBr</a:t>
            </a:r>
            <a:r>
              <a:rPr lang="en-IN" sz="1800" baseline="-25000" dirty="0">
                <a:effectLst/>
                <a:latin typeface="Times New Roman" panose="02020603050405020304" pitchFamily="18" charset="0"/>
                <a:ea typeface="Calibri" panose="020F0502020204030204" pitchFamily="34" charset="0"/>
              </a:rPr>
              <a:t>3</a:t>
            </a:r>
            <a:r>
              <a:rPr lang="en-IN" sz="1800" dirty="0">
                <a:effectLst/>
                <a:latin typeface="Times New Roman" panose="02020603050405020304" pitchFamily="18" charset="0"/>
                <a:ea typeface="Calibri" panose="020F0502020204030204" pitchFamily="34" charset="0"/>
              </a:rPr>
              <a:t> NCs. and investigated the change in photoluminescence that could demonstrate the surface modifications happened to the NCs.</a:t>
            </a:r>
          </a:p>
          <a:p>
            <a:endParaRPr lang="en-IN" sz="1800" dirty="0">
              <a:latin typeface="Times New Roman" panose="02020603050405020304" pitchFamily="18" charset="0"/>
            </a:endParaRPr>
          </a:p>
          <a:p>
            <a:endParaRPr lang="en-IN" sz="1800" dirty="0">
              <a:latin typeface="Times New Roman" panose="02020603050405020304" pitchFamily="18" charset="0"/>
            </a:endParaRPr>
          </a:p>
          <a:p>
            <a:endParaRPr lang="en-IN" sz="1800" dirty="0">
              <a:latin typeface="Times New Roman" panose="02020603050405020304" pitchFamily="18" charset="0"/>
            </a:endParaRPr>
          </a:p>
          <a:p>
            <a:endParaRPr lang="en-IN" sz="1800" dirty="0">
              <a:latin typeface="Times New Roman" panose="02020603050405020304" pitchFamily="18" charset="0"/>
            </a:endParaRPr>
          </a:p>
          <a:p>
            <a:endParaRPr lang="en-IN" dirty="0"/>
          </a:p>
        </p:txBody>
      </p:sp>
      <p:sp>
        <p:nvSpPr>
          <p:cNvPr id="5" name="Arrow: Pentagon 4">
            <a:extLst>
              <a:ext uri="{FF2B5EF4-FFF2-40B4-BE49-F238E27FC236}">
                <a16:creationId xmlns:a16="http://schemas.microsoft.com/office/drawing/2014/main" id="{ACCCB99C-3547-FC7C-E69B-FB1782B61037}"/>
              </a:ext>
            </a:extLst>
          </p:cNvPr>
          <p:cNvSpPr/>
          <p:nvPr/>
        </p:nvSpPr>
        <p:spPr>
          <a:xfrm>
            <a:off x="134471" y="1186684"/>
            <a:ext cx="779930" cy="349623"/>
          </a:xfrm>
          <a:prstGeom prst="homePlat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Pentagon 5">
            <a:extLst>
              <a:ext uri="{FF2B5EF4-FFF2-40B4-BE49-F238E27FC236}">
                <a16:creationId xmlns:a16="http://schemas.microsoft.com/office/drawing/2014/main" id="{6AE56F9B-3F5D-4C67-9CFA-CB077EADD0AE}"/>
              </a:ext>
            </a:extLst>
          </p:cNvPr>
          <p:cNvSpPr/>
          <p:nvPr/>
        </p:nvSpPr>
        <p:spPr>
          <a:xfrm>
            <a:off x="134471" y="4450210"/>
            <a:ext cx="779930" cy="349623"/>
          </a:xfrm>
          <a:prstGeom prst="homePlat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EB177392-40C5-BD39-3B36-C5D2AA5E12FB}"/>
              </a:ext>
            </a:extLst>
          </p:cNvPr>
          <p:cNvSpPr/>
          <p:nvPr/>
        </p:nvSpPr>
        <p:spPr>
          <a:xfrm>
            <a:off x="3792" y="14204"/>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Times" panose="02020603050405020304" pitchFamily="18" charset="0"/>
              <a:cs typeface="Times" panose="02020603050405020304" pitchFamily="18" charset="0"/>
            </a:endParaRPr>
          </a:p>
        </p:txBody>
      </p:sp>
      <p:sp>
        <p:nvSpPr>
          <p:cNvPr id="14" name="Text Placeholder 1">
            <a:extLst>
              <a:ext uri="{FF2B5EF4-FFF2-40B4-BE49-F238E27FC236}">
                <a16:creationId xmlns:a16="http://schemas.microsoft.com/office/drawing/2014/main" id="{EDB2026C-78CD-C6E4-CA33-20D79DF9E464}"/>
              </a:ext>
            </a:extLst>
          </p:cNvPr>
          <p:cNvSpPr txBox="1">
            <a:spLocks/>
          </p:cNvSpPr>
          <p:nvPr/>
        </p:nvSpPr>
        <p:spPr>
          <a:xfrm>
            <a:off x="712005" y="-29207"/>
            <a:ext cx="4942999"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Post synthesis treatment</a:t>
            </a:r>
          </a:p>
        </p:txBody>
      </p:sp>
      <p:sp>
        <p:nvSpPr>
          <p:cNvPr id="2" name="Slide Number Placeholder 1">
            <a:extLst>
              <a:ext uri="{FF2B5EF4-FFF2-40B4-BE49-F238E27FC236}">
                <a16:creationId xmlns:a16="http://schemas.microsoft.com/office/drawing/2014/main" id="{8FE786F2-BF0E-B4A5-4BE0-8890DC1E522D}"/>
              </a:ext>
            </a:extLst>
          </p:cNvPr>
          <p:cNvSpPr>
            <a:spLocks noGrp="1"/>
          </p:cNvSpPr>
          <p:nvPr>
            <p:ph type="sldNum" sz="quarter" idx="12"/>
          </p:nvPr>
        </p:nvSpPr>
        <p:spPr/>
        <p:txBody>
          <a:bodyPr/>
          <a:lstStyle/>
          <a:p>
            <a:fld id="{1613D59D-1F26-43DA-B4F8-670F7817FB5A}" type="slidenum">
              <a:rPr lang="en-IN" smtClean="0"/>
              <a:t>10</a:t>
            </a:fld>
            <a:endParaRPr lang="en-IN"/>
          </a:p>
        </p:txBody>
      </p:sp>
    </p:spTree>
    <p:extLst>
      <p:ext uri="{BB962C8B-B14F-4D97-AF65-F5344CB8AC3E}">
        <p14:creationId xmlns:p14="http://schemas.microsoft.com/office/powerpoint/2010/main" val="2969256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ED9D2F-9627-7113-4876-944BA813188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13" y="-89648"/>
            <a:ext cx="12093386" cy="5931216"/>
          </a:xfrm>
          <a:prstGeom prst="rect">
            <a:avLst/>
          </a:prstGeom>
          <a:noFill/>
        </p:spPr>
      </p:pic>
      <p:sp>
        <p:nvSpPr>
          <p:cNvPr id="8" name="TextBox 7">
            <a:extLst>
              <a:ext uri="{FF2B5EF4-FFF2-40B4-BE49-F238E27FC236}">
                <a16:creationId xmlns:a16="http://schemas.microsoft.com/office/drawing/2014/main" id="{7083DE8D-092B-CA1B-95EC-E063F21F522F}"/>
              </a:ext>
            </a:extLst>
          </p:cNvPr>
          <p:cNvSpPr txBox="1"/>
          <p:nvPr/>
        </p:nvSpPr>
        <p:spPr>
          <a:xfrm>
            <a:off x="525556" y="5630553"/>
            <a:ext cx="10611367" cy="1200329"/>
          </a:xfrm>
          <a:prstGeom prst="rect">
            <a:avLst/>
          </a:prstGeom>
          <a:noFill/>
        </p:spPr>
        <p:txBody>
          <a:bodyPr wrap="square">
            <a:spAutoFit/>
          </a:bodyPr>
          <a:lstStyle/>
          <a:p>
            <a:pPr marL="285750" indent="-285750">
              <a:buFont typeface="Wingdings" panose="05000000000000000000" pitchFamily="2" charset="2"/>
              <a:buChar char="q"/>
            </a:pPr>
            <a:r>
              <a:rPr lang="en-US" dirty="0"/>
              <a:t>Among all the molecules, PDABr2, KSCN, and NH4SCN have enhanced the emission intensity by 40% approximately may be due to compatible vacant site passivation on the NCs surface. </a:t>
            </a:r>
          </a:p>
          <a:p>
            <a:pPr marL="285750" indent="-285750">
              <a:buFont typeface="Wingdings" panose="05000000000000000000" pitchFamily="2" charset="2"/>
              <a:buChar char="q"/>
            </a:pPr>
            <a:r>
              <a:rPr lang="en-US" dirty="0"/>
              <a:t>In the case of KSCN and NH4SCN slight peak shift was observed while no peak shift was observed for PDABr2, which can be attributed to the halide and pseudo halide involvement there</a:t>
            </a:r>
          </a:p>
        </p:txBody>
      </p:sp>
      <p:sp>
        <p:nvSpPr>
          <p:cNvPr id="9" name="Slide Number Placeholder 8">
            <a:extLst>
              <a:ext uri="{FF2B5EF4-FFF2-40B4-BE49-F238E27FC236}">
                <a16:creationId xmlns:a16="http://schemas.microsoft.com/office/drawing/2014/main" id="{17A7C4E7-D64E-BED7-397B-E1C80E950A7B}"/>
              </a:ext>
            </a:extLst>
          </p:cNvPr>
          <p:cNvSpPr>
            <a:spLocks noGrp="1"/>
          </p:cNvSpPr>
          <p:nvPr>
            <p:ph type="sldNum" sz="quarter" idx="12"/>
          </p:nvPr>
        </p:nvSpPr>
        <p:spPr/>
        <p:txBody>
          <a:bodyPr/>
          <a:lstStyle/>
          <a:p>
            <a:fld id="{1613D59D-1F26-43DA-B4F8-670F7817FB5A}" type="slidenum">
              <a:rPr lang="en-IN" smtClean="0"/>
              <a:t>11</a:t>
            </a:fld>
            <a:endParaRPr lang="en-IN" dirty="0"/>
          </a:p>
        </p:txBody>
      </p:sp>
      <p:sp>
        <p:nvSpPr>
          <p:cNvPr id="13" name="Rectangle 12">
            <a:extLst>
              <a:ext uri="{FF2B5EF4-FFF2-40B4-BE49-F238E27FC236}">
                <a16:creationId xmlns:a16="http://schemas.microsoft.com/office/drawing/2014/main" id="{00A6128C-DEBF-89E3-663E-84CA3BCF708D}"/>
              </a:ext>
            </a:extLst>
          </p:cNvPr>
          <p:cNvSpPr/>
          <p:nvPr/>
        </p:nvSpPr>
        <p:spPr>
          <a:xfrm>
            <a:off x="1418492" y="3428999"/>
            <a:ext cx="410308" cy="568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A310887A-95A0-A971-5166-2128B34B21B3}"/>
              </a:ext>
            </a:extLst>
          </p:cNvPr>
          <p:cNvSpPr/>
          <p:nvPr/>
        </p:nvSpPr>
        <p:spPr>
          <a:xfrm>
            <a:off x="5758443" y="447862"/>
            <a:ext cx="410308" cy="568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275EC9C1-9C52-93E3-C9F1-BE999D709B37}"/>
              </a:ext>
            </a:extLst>
          </p:cNvPr>
          <p:cNvSpPr/>
          <p:nvPr/>
        </p:nvSpPr>
        <p:spPr>
          <a:xfrm>
            <a:off x="9378462" y="602546"/>
            <a:ext cx="410308" cy="568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63D12DA8-1651-8846-8BBC-593DF47D37E2}"/>
              </a:ext>
            </a:extLst>
          </p:cNvPr>
          <p:cNvSpPr/>
          <p:nvPr/>
        </p:nvSpPr>
        <p:spPr>
          <a:xfrm>
            <a:off x="920262" y="3203329"/>
            <a:ext cx="715107" cy="1137139"/>
          </a:xfrm>
          <a:prstGeom prst="ellipse">
            <a:avLst/>
          </a:prstGeom>
          <a:noFill/>
          <a:ln w="2222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4BEB9CB-09D6-E950-B3D5-4125508D68FD}"/>
              </a:ext>
            </a:extLst>
          </p:cNvPr>
          <p:cNvCxnSpPr/>
          <p:nvPr/>
        </p:nvCxnSpPr>
        <p:spPr>
          <a:xfrm flipV="1">
            <a:off x="1453661" y="3428999"/>
            <a:ext cx="0" cy="568570"/>
          </a:xfrm>
          <a:prstGeom prst="straightConnector1">
            <a:avLst/>
          </a:prstGeom>
          <a:ln w="222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4A79DEA-40EE-B1DC-A647-4CA5AC484376}"/>
              </a:ext>
            </a:extLst>
          </p:cNvPr>
          <p:cNvSpPr/>
          <p:nvPr/>
        </p:nvSpPr>
        <p:spPr>
          <a:xfrm>
            <a:off x="5234354" y="292394"/>
            <a:ext cx="715107" cy="1384639"/>
          </a:xfrm>
          <a:prstGeom prst="ellipse">
            <a:avLst/>
          </a:prstGeom>
          <a:noFill/>
          <a:ln w="2222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BA1B8776-B773-96EC-62A6-78AAB63D6D29}"/>
              </a:ext>
            </a:extLst>
          </p:cNvPr>
          <p:cNvCxnSpPr>
            <a:cxnSpLocks/>
          </p:cNvCxnSpPr>
          <p:nvPr/>
        </p:nvCxnSpPr>
        <p:spPr>
          <a:xfrm flipV="1">
            <a:off x="5843954" y="602546"/>
            <a:ext cx="0" cy="568570"/>
          </a:xfrm>
          <a:prstGeom prst="straightConnector1">
            <a:avLst/>
          </a:prstGeom>
          <a:ln w="222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E7A40E6-7697-D90A-DBEB-ABADFAA17973}"/>
              </a:ext>
            </a:extLst>
          </p:cNvPr>
          <p:cNvSpPr/>
          <p:nvPr/>
        </p:nvSpPr>
        <p:spPr>
          <a:xfrm>
            <a:off x="8846094" y="447862"/>
            <a:ext cx="715107" cy="1229171"/>
          </a:xfrm>
          <a:prstGeom prst="ellipse">
            <a:avLst/>
          </a:prstGeom>
          <a:noFill/>
          <a:ln w="2222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4B22C51B-145C-3BD2-6C59-38A7E12311E3}"/>
              </a:ext>
            </a:extLst>
          </p:cNvPr>
          <p:cNvCxnSpPr/>
          <p:nvPr/>
        </p:nvCxnSpPr>
        <p:spPr>
          <a:xfrm flipV="1">
            <a:off x="9438108" y="706860"/>
            <a:ext cx="0" cy="568570"/>
          </a:xfrm>
          <a:prstGeom prst="straightConnector1">
            <a:avLst/>
          </a:prstGeom>
          <a:ln w="2222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52E7A47-546A-E884-708E-C0B7FCCDBF50}"/>
              </a:ext>
            </a:extLst>
          </p:cNvPr>
          <p:cNvCxnSpPr/>
          <p:nvPr/>
        </p:nvCxnSpPr>
        <p:spPr>
          <a:xfrm>
            <a:off x="5503985" y="966064"/>
            <a:ext cx="58856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6670758-4A33-366A-EC6F-4B5C70C7A52D}"/>
              </a:ext>
            </a:extLst>
          </p:cNvPr>
          <p:cNvCxnSpPr/>
          <p:nvPr/>
        </p:nvCxnSpPr>
        <p:spPr>
          <a:xfrm>
            <a:off x="9080555" y="1048125"/>
            <a:ext cx="58856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54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AD2B01-CDCE-A469-03D5-0D4315E4853A}"/>
              </a:ext>
            </a:extLst>
          </p:cNvPr>
          <p:cNvSpPr>
            <a:spLocks noGrp="1"/>
          </p:cNvSpPr>
          <p:nvPr>
            <p:ph type="sldNum" sz="quarter" idx="12"/>
          </p:nvPr>
        </p:nvSpPr>
        <p:spPr/>
        <p:txBody>
          <a:bodyPr/>
          <a:lstStyle/>
          <a:p>
            <a:fld id="{1613D59D-1F26-43DA-B4F8-670F7817FB5A}" type="slidenum">
              <a:rPr lang="en-IN" smtClean="0"/>
              <a:t>12</a:t>
            </a:fld>
            <a:endParaRPr lang="en-IN"/>
          </a:p>
        </p:txBody>
      </p:sp>
      <p:sp>
        <p:nvSpPr>
          <p:cNvPr id="3" name="Rectangle 2">
            <a:extLst>
              <a:ext uri="{FF2B5EF4-FFF2-40B4-BE49-F238E27FC236}">
                <a16:creationId xmlns:a16="http://schemas.microsoft.com/office/drawing/2014/main" id="{4CA16561-DA07-3CCD-EC23-672933FFCC3A}"/>
              </a:ext>
            </a:extLst>
          </p:cNvPr>
          <p:cNvSpPr/>
          <p:nvPr/>
        </p:nvSpPr>
        <p:spPr>
          <a:xfrm>
            <a:off x="3792" y="14204"/>
            <a:ext cx="12192000" cy="694461"/>
          </a:xfrm>
          <a:prstGeom prst="rect">
            <a:avLst/>
          </a:prstGeom>
          <a:gradFill flip="none" rotWithShape="1">
            <a:gsLst>
              <a:gs pos="50000">
                <a:srgbClr val="002060"/>
              </a:gs>
              <a:gs pos="100000">
                <a:srgbClr val="15A1A2">
                  <a:shade val="100000"/>
                  <a:satMod val="115000"/>
                </a:srgbClr>
              </a:gs>
            </a:gsLst>
            <a:lin ang="0" scaled="1"/>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630">
              <a:defRPr/>
            </a:pPr>
            <a:endParaRPr lang="en-US" sz="2400" dirty="0">
              <a:solidFill>
                <a:prstClr val="white"/>
              </a:solidFill>
              <a:latin typeface="Times" panose="02020603050405020304" pitchFamily="18" charset="0"/>
              <a:cs typeface="Times" panose="02020603050405020304" pitchFamily="18" charset="0"/>
            </a:endParaRPr>
          </a:p>
        </p:txBody>
      </p:sp>
      <p:sp>
        <p:nvSpPr>
          <p:cNvPr id="4" name="Text Placeholder 1">
            <a:extLst>
              <a:ext uri="{FF2B5EF4-FFF2-40B4-BE49-F238E27FC236}">
                <a16:creationId xmlns:a16="http://schemas.microsoft.com/office/drawing/2014/main" id="{155876A6-60E7-5343-FEF2-60B1828F5A99}"/>
              </a:ext>
            </a:extLst>
          </p:cNvPr>
          <p:cNvSpPr txBox="1">
            <a:spLocks/>
          </p:cNvSpPr>
          <p:nvPr/>
        </p:nvSpPr>
        <p:spPr>
          <a:xfrm>
            <a:off x="483577" y="11723"/>
            <a:ext cx="3024554" cy="724247"/>
          </a:xfrm>
          <a:prstGeom prst="rect">
            <a:avLst/>
          </a:prstGeom>
        </p:spPr>
        <p:txBody>
          <a:bodyPr anchor="ctr">
            <a:noAutofit/>
          </a:bodyPr>
          <a:lstStyle>
            <a:lvl1pPr marL="0" indent="0" algn="ctr" defTabSz="914423"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3600" b="1" u="sng" dirty="0">
                <a:solidFill>
                  <a:schemeClr val="bg1"/>
                </a:solidFill>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ABAFDDAD-AFAC-0340-3037-4E2CF99C90A7}"/>
              </a:ext>
            </a:extLst>
          </p:cNvPr>
          <p:cNvSpPr txBox="1"/>
          <p:nvPr/>
        </p:nvSpPr>
        <p:spPr>
          <a:xfrm>
            <a:off x="627184" y="1177588"/>
            <a:ext cx="10814539" cy="794384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CsPbI3,CsPbBr3 and,CsPbCl3 NCs were synthesized with the standard synthesis procedure</a:t>
            </a:r>
          </a:p>
          <a:p>
            <a:pPr marL="285750" indent="-285750" algn="just">
              <a:lnSpc>
                <a:spcPct val="150000"/>
              </a:lnSpc>
              <a:buFont typeface="Wingdings" panose="05000000000000000000" pitchFamily="2" charset="2"/>
              <a:buChar char="q"/>
            </a:pPr>
            <a:r>
              <a:rPr lang="en-US" dirty="0"/>
              <a:t>Due to the high sensitivity of CsPbI3 and CsPbCl3 NCs to external stimuli, they have undergone ligand loss and the phase transformation which eventually led to the loss of their luminescence within a short duration. </a:t>
            </a:r>
          </a:p>
          <a:p>
            <a:pPr marL="285750" indent="-285750" algn="just">
              <a:lnSpc>
                <a:spcPct val="150000"/>
              </a:lnSpc>
              <a:buFont typeface="Wingdings" panose="05000000000000000000" pitchFamily="2" charset="2"/>
              <a:buChar char="q"/>
            </a:pPr>
            <a:r>
              <a:rPr lang="en-US" dirty="0"/>
              <a:t>We considered only the CsPbBr</a:t>
            </a:r>
            <a:r>
              <a:rPr lang="en-US" baseline="-25000" dirty="0"/>
              <a:t>3</a:t>
            </a:r>
            <a:r>
              <a:rPr lang="en-US" dirty="0"/>
              <a:t> system for the further studies</a:t>
            </a:r>
          </a:p>
          <a:p>
            <a:pPr marL="285750" indent="-285750" algn="just">
              <a:lnSpc>
                <a:spcPct val="150000"/>
              </a:lnSpc>
              <a:buFont typeface="Wingdings" panose="05000000000000000000" pitchFamily="2" charset="2"/>
              <a:buChar char="q"/>
            </a:pPr>
            <a:r>
              <a:rPr lang="en-US" dirty="0"/>
              <a:t>CsPbBr3 NCs were chosen to perform post-synthesis treatment utilizing various passivating agents to the pristine CsPbBr3 NCs. and investigated the change in photoluminescence that could demonstrate the surface modifications that happened to the NCs.</a:t>
            </a:r>
          </a:p>
          <a:p>
            <a:pPr marL="285750" indent="-285750" algn="just">
              <a:lnSpc>
                <a:spcPct val="150000"/>
              </a:lnSpc>
              <a:buFont typeface="Wingdings" panose="05000000000000000000" pitchFamily="2" charset="2"/>
              <a:buChar char="q"/>
            </a:pPr>
            <a:r>
              <a:rPr lang="en-US" dirty="0"/>
              <a:t>PDABr2, KSCN, and NH4SCN have enhanced the emission intensity by 40% approximately </a:t>
            </a:r>
          </a:p>
          <a:p>
            <a:pPr marL="285750" indent="-285750" algn="just">
              <a:lnSpc>
                <a:spcPct val="150000"/>
              </a:lnSpc>
              <a:buFont typeface="Wingdings" panose="05000000000000000000" pitchFamily="2" charset="2"/>
              <a:buChar char="q"/>
            </a:pPr>
            <a:r>
              <a:rPr lang="en-US" dirty="0"/>
              <a:t>In the case of KSCN and NH4SCN slight peak shift was observed that can be attributed to the halide sites on the surface, wherein PDABr2 bromide is the common anion in the perovskite lattice and the passivating agent, whereas in other both cases pseudo halide SCN¯ was involved which is less electronegative compared to the bromide.</a:t>
            </a:r>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US" dirty="0"/>
          </a:p>
          <a:p>
            <a:pPr marL="285750" indent="-285750" algn="just">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1783760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699EF-953C-3FA0-C94C-3944A20DD091}"/>
              </a:ext>
            </a:extLst>
          </p:cNvPr>
          <p:cNvSpPr>
            <a:spLocks noGrp="1"/>
          </p:cNvSpPr>
          <p:nvPr>
            <p:ph type="title"/>
          </p:nvPr>
        </p:nvSpPr>
        <p:spPr/>
        <p:txBody>
          <a:bodyPr/>
          <a:lstStyle/>
          <a:p>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1002D64-59C0-2248-88AD-3A0D8E2AEA16}"/>
              </a:ext>
            </a:extLst>
          </p:cNvPr>
          <p:cNvSpPr>
            <a:spLocks noGrp="1"/>
          </p:cNvSpPr>
          <p:nvPr>
            <p:ph idx="1"/>
          </p:nvPr>
        </p:nvSpPr>
        <p:spPr>
          <a:xfrm>
            <a:off x="277905" y="1351243"/>
            <a:ext cx="11627223" cy="5120200"/>
          </a:xfrm>
        </p:spPr>
        <p:txBody>
          <a:bodyPr>
            <a:normAutofit fontScale="92500" lnSpcReduction="10000"/>
          </a:bodyPr>
          <a:lstStyle/>
          <a:p>
            <a:pPr marL="63500" marR="71120" indent="384175" algn="just">
              <a:lnSpc>
                <a:spcPct val="150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 owe my sincere thanks 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profound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sense of gratitude to</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MURALI</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BANAVOTH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his guidance, critical suggestions and constant encouragement throughout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work.</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 thank</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 the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faculty</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members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school of chemistry for</a:t>
            </a:r>
            <a:r>
              <a:rPr lang="en-US" sz="1800" spc="3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inspiring</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lectures.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63500" marR="75565" indent="536575" algn="just">
              <a:lnSpc>
                <a:spcPct val="150000"/>
              </a:lnSpc>
              <a:spcBef>
                <a:spcPts val="605"/>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My sincere thanks to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Prof. ASHWINI NANGIA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Dean, School of chemistry 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past Deans of the School for providing the facilities to carry out research work and all the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school faculty members for their help at various times during the course of this work. I also</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thank</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my</a:t>
            </a:r>
            <a:r>
              <a:rPr lang="en-US"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teachers,</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who</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guided</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up</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stage.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63500" marR="71755" indent="460375" algn="just">
              <a:lnSpc>
                <a:spcPct val="150000"/>
              </a:lnSpc>
              <a:spcBef>
                <a:spcPts val="605"/>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 specially thank to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Ranadeep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Raj S for his help during my project tenure. I</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also thank Mr. R. Santhosh, Mr. K. Ravi, Ms.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Sarvani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Jowhar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Khanam</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Mr.</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Ramu</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Naidu</a:t>
            </a:r>
            <a:r>
              <a:rPr lang="en-US" sz="18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help</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encouragement.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63500" marR="70485" algn="just">
              <a:lnSpc>
                <a:spcPct val="152000"/>
              </a:lnSpc>
              <a:spcBef>
                <a:spcPts val="585"/>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 thank my parents for their support and encouragement. Finally, I would like to thank all my</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classmates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friends</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helping</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hangs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during</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my</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course.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br>
              <a:rPr lang="en-US" sz="1800" dirty="0">
                <a:effectLst/>
                <a:latin typeface="Times New Roman" panose="02020603050405020304" pitchFamily="18" charset="0"/>
                <a:ea typeface="Times New Roman" panose="02020603050405020304" pitchFamily="18" charset="0"/>
              </a:rPr>
            </a:br>
            <a:endParaRPr lang="en-IN" dirty="0"/>
          </a:p>
        </p:txBody>
      </p:sp>
      <p:sp>
        <p:nvSpPr>
          <p:cNvPr id="4" name="Rectangle 3">
            <a:extLst>
              <a:ext uri="{FF2B5EF4-FFF2-40B4-BE49-F238E27FC236}">
                <a16:creationId xmlns:a16="http://schemas.microsoft.com/office/drawing/2014/main" id="{0152BBB0-7699-BB89-BD4F-C88C647402D2}"/>
              </a:ext>
            </a:extLst>
          </p:cNvPr>
          <p:cNvSpPr/>
          <p:nvPr/>
        </p:nvSpPr>
        <p:spPr>
          <a:xfrm>
            <a:off x="502024" y="233083"/>
            <a:ext cx="3469342" cy="98611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ACKNOWLEDGEMENT</a:t>
            </a:r>
            <a:endParaRPr lang="en-IN" dirty="0"/>
          </a:p>
        </p:txBody>
      </p:sp>
      <p:sp>
        <p:nvSpPr>
          <p:cNvPr id="8" name="Slide Number Placeholder 7">
            <a:extLst>
              <a:ext uri="{FF2B5EF4-FFF2-40B4-BE49-F238E27FC236}">
                <a16:creationId xmlns:a16="http://schemas.microsoft.com/office/drawing/2014/main" id="{2274576B-07C2-730F-4B70-EA0D7129178E}"/>
              </a:ext>
            </a:extLst>
          </p:cNvPr>
          <p:cNvSpPr>
            <a:spLocks noGrp="1"/>
          </p:cNvSpPr>
          <p:nvPr>
            <p:ph type="sldNum" sz="quarter" idx="12"/>
          </p:nvPr>
        </p:nvSpPr>
        <p:spPr/>
        <p:txBody>
          <a:bodyPr/>
          <a:lstStyle/>
          <a:p>
            <a:fld id="{1613D59D-1F26-43DA-B4F8-670F7817FB5A}" type="slidenum">
              <a:rPr lang="en-IN" smtClean="0"/>
              <a:t>13</a:t>
            </a:fld>
            <a:endParaRPr lang="en-IN"/>
          </a:p>
        </p:txBody>
      </p:sp>
    </p:spTree>
    <p:extLst>
      <p:ext uri="{BB962C8B-B14F-4D97-AF65-F5344CB8AC3E}">
        <p14:creationId xmlns:p14="http://schemas.microsoft.com/office/powerpoint/2010/main" val="2095664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5B9D76-A4CF-2C5D-9F8E-280C0E2CE850}"/>
              </a:ext>
            </a:extLst>
          </p:cNvPr>
          <p:cNvPicPr>
            <a:picLocks noChangeAspect="1"/>
          </p:cNvPicPr>
          <p:nvPr/>
        </p:nvPicPr>
        <p:blipFill>
          <a:blip r:embed="rId2"/>
          <a:stretch>
            <a:fillRect/>
          </a:stretch>
        </p:blipFill>
        <p:spPr>
          <a:xfrm>
            <a:off x="0" y="-140369"/>
            <a:ext cx="12192000" cy="7138737"/>
          </a:xfrm>
          <a:prstGeom prst="rect">
            <a:avLst/>
          </a:prstGeom>
        </p:spPr>
      </p:pic>
      <p:sp>
        <p:nvSpPr>
          <p:cNvPr id="5" name="Slide Number Placeholder 4">
            <a:extLst>
              <a:ext uri="{FF2B5EF4-FFF2-40B4-BE49-F238E27FC236}">
                <a16:creationId xmlns:a16="http://schemas.microsoft.com/office/drawing/2014/main" id="{A0DEFC70-D894-7226-BF6C-917F93A1D235}"/>
              </a:ext>
            </a:extLst>
          </p:cNvPr>
          <p:cNvSpPr>
            <a:spLocks noGrp="1"/>
          </p:cNvSpPr>
          <p:nvPr>
            <p:ph type="sldNum" sz="quarter" idx="12"/>
          </p:nvPr>
        </p:nvSpPr>
        <p:spPr/>
        <p:txBody>
          <a:bodyPr/>
          <a:lstStyle/>
          <a:p>
            <a:fld id="{1613D59D-1F26-43DA-B4F8-670F7817FB5A}" type="slidenum">
              <a:rPr lang="en-IN" smtClean="0"/>
              <a:t>14</a:t>
            </a:fld>
            <a:endParaRPr lang="en-IN"/>
          </a:p>
        </p:txBody>
      </p:sp>
    </p:spTree>
    <p:extLst>
      <p:ext uri="{BB962C8B-B14F-4D97-AF65-F5344CB8AC3E}">
        <p14:creationId xmlns:p14="http://schemas.microsoft.com/office/powerpoint/2010/main" val="2110062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TotalTime>
  <Words>1141</Words>
  <Application>Microsoft Office PowerPoint</Application>
  <PresentationFormat>Widescreen</PresentationFormat>
  <Paragraphs>144</Paragraphs>
  <Slides>14</Slides>
  <Notes>5</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4" baseType="lpstr">
      <vt:lpstr>Arial</vt:lpstr>
      <vt:lpstr>Calibri</vt:lpstr>
      <vt:lpstr>Calibri Light</vt:lpstr>
      <vt:lpstr>Helvitica</vt:lpstr>
      <vt:lpstr>Times</vt:lpstr>
      <vt:lpstr>Times New Roman</vt:lpstr>
      <vt:lpstr>Wingdings</vt:lpstr>
      <vt:lpstr>Office Theme</vt:lpstr>
      <vt:lpstr>1_Office Theme</vt:lpstr>
      <vt:lpstr>Graph</vt:lpstr>
      <vt:lpstr>POST SYNTHESIS TREATMENT OF CsPbBr3 NANOCRYSTALS TO ENHANCE PHOTOLUMINESCENCE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SYNTHESIS TREATMENT OF CsPbBr3 NANOCRYSTALS TO ENHANCE PHOTOLUMINESCENCE</dc:title>
  <dc:creator>AMIT NASKAR</dc:creator>
  <cp:lastModifiedBy>Ranadeep raj sumukam</cp:lastModifiedBy>
  <cp:revision>10</cp:revision>
  <dcterms:created xsi:type="dcterms:W3CDTF">2022-06-11T15:46:02Z</dcterms:created>
  <dcterms:modified xsi:type="dcterms:W3CDTF">2022-06-12T09:53:49Z</dcterms:modified>
</cp:coreProperties>
</file>