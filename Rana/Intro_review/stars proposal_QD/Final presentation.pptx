
<file path=[Content_Types].xml><?xml version="1.0" encoding="utf-8"?>
<Types xmlns="http://schemas.openxmlformats.org/package/2006/content-types">
  <Default Extension="gif" ContentType="image/gif"/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93455" r:id="rId4"/>
    <p:sldMasterId id="2147493467" r:id="rId5"/>
  </p:sldMasterIdLst>
  <p:notesMasterIdLst>
    <p:notesMasterId r:id="rId24"/>
  </p:notesMasterIdLst>
  <p:sldIdLst>
    <p:sldId id="325" r:id="rId6"/>
    <p:sldId id="324" r:id="rId7"/>
    <p:sldId id="323" r:id="rId8"/>
    <p:sldId id="326" r:id="rId9"/>
    <p:sldId id="327" r:id="rId10"/>
    <p:sldId id="329" r:id="rId11"/>
    <p:sldId id="330" r:id="rId12"/>
    <p:sldId id="331" r:id="rId13"/>
    <p:sldId id="343" r:id="rId14"/>
    <p:sldId id="334" r:id="rId15"/>
    <p:sldId id="335" r:id="rId16"/>
    <p:sldId id="336" r:id="rId17"/>
    <p:sldId id="337" r:id="rId18"/>
    <p:sldId id="338" r:id="rId19"/>
    <p:sldId id="339" r:id="rId20"/>
    <p:sldId id="344" r:id="rId21"/>
    <p:sldId id="340" r:id="rId22"/>
    <p:sldId id="332" r:id="rId2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9144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9144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9144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9144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9144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9144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9144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9144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A1A2"/>
    <a:srgbClr val="F2BD66"/>
    <a:srgbClr val="C6CEE1"/>
    <a:srgbClr val="AADAD9"/>
    <a:srgbClr val="567BBE"/>
    <a:srgbClr val="D9D5B6"/>
    <a:srgbClr val="D1D6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51" autoAdjust="0"/>
    <p:restoredTop sz="95289" autoAdjust="0"/>
  </p:normalViewPr>
  <p:slideViewPr>
    <p:cSldViewPr snapToGrid="0" snapToObjects="1">
      <p:cViewPr varScale="1">
        <p:scale>
          <a:sx n="71" d="100"/>
          <a:sy n="71" d="100"/>
        </p:scale>
        <p:origin x="426" y="54"/>
      </p:cViewPr>
      <p:guideLst>
        <p:guide orient="horz" pos="3240"/>
        <p:guide pos="57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9" d="100"/>
        <a:sy n="149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CF3E9B-0D6A-4777-B6BC-B05C47CAFFC1}" type="doc">
      <dgm:prSet loTypeId="urn:microsoft.com/office/officeart/2005/8/layout/venn1" loCatId="relationship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869E26B-477C-4D32-98CB-776FD816F3A0}">
      <dgm:prSet phldrT="[Text]"/>
      <dgm:spPr>
        <a:xfrm>
          <a:off x="408336" y="16736"/>
          <a:ext cx="803362" cy="803362"/>
        </a:xfrm>
        <a:prstGeom prst="ellipse">
          <a:avLst/>
        </a:prstGeom>
      </dgm:spPr>
      <dgm:t>
        <a:bodyPr/>
        <a:lstStyle/>
        <a:p>
          <a:pPr>
            <a:buNone/>
          </a:pPr>
          <a:r>
            <a:rPr lang="en-US">
              <a:latin typeface="Calibri"/>
              <a:ea typeface="+mn-ea"/>
              <a:cs typeface="+mn-cs"/>
            </a:rPr>
            <a:t> </a:t>
          </a:r>
          <a:endParaRPr lang="en-US" dirty="0">
            <a:latin typeface="Calibri"/>
            <a:ea typeface="+mn-ea"/>
            <a:cs typeface="+mn-cs"/>
          </a:endParaRPr>
        </a:p>
      </dgm:t>
    </dgm:pt>
    <dgm:pt modelId="{59B03708-E648-46D0-A897-B527FEAD3912}" type="parTrans" cxnId="{E36CCAE4-6EB4-402A-96E9-8DFCA67E847E}">
      <dgm:prSet/>
      <dgm:spPr/>
      <dgm:t>
        <a:bodyPr/>
        <a:lstStyle/>
        <a:p>
          <a:endParaRPr lang="en-US"/>
        </a:p>
      </dgm:t>
    </dgm:pt>
    <dgm:pt modelId="{288CE524-6CAC-4B5C-B598-E6F8F8FF9483}" type="sibTrans" cxnId="{E36CCAE4-6EB4-402A-96E9-8DFCA67E847E}">
      <dgm:prSet/>
      <dgm:spPr/>
      <dgm:t>
        <a:bodyPr/>
        <a:lstStyle/>
        <a:p>
          <a:endParaRPr lang="en-US"/>
        </a:p>
      </dgm:t>
    </dgm:pt>
    <dgm:pt modelId="{A3ADD165-AF01-46F4-A4AD-422D6C8AB8C6}">
      <dgm:prSet phldrT="[Text]"/>
      <dgm:spPr>
        <a:xfrm>
          <a:off x="698216" y="518838"/>
          <a:ext cx="803362" cy="803362"/>
        </a:xfrm>
        <a:prstGeom prst="ellipse">
          <a:avLst/>
        </a:prstGeom>
      </dgm:spPr>
      <dgm:t>
        <a:bodyPr/>
        <a:lstStyle/>
        <a:p>
          <a:pPr>
            <a:buNone/>
          </a:pPr>
          <a:r>
            <a:rPr lang="en-US">
              <a:latin typeface="Calibri"/>
              <a:ea typeface="+mn-ea"/>
              <a:cs typeface="+mn-cs"/>
            </a:rPr>
            <a:t> </a:t>
          </a:r>
          <a:endParaRPr lang="en-US" dirty="0">
            <a:latin typeface="Calibri"/>
            <a:ea typeface="+mn-ea"/>
            <a:cs typeface="+mn-cs"/>
          </a:endParaRPr>
        </a:p>
      </dgm:t>
    </dgm:pt>
    <dgm:pt modelId="{5B5B4DDF-5017-4873-85E3-EAFCE3527F96}" type="parTrans" cxnId="{E5127B9E-52CA-413A-8C9F-579DE0876AE2}">
      <dgm:prSet/>
      <dgm:spPr/>
      <dgm:t>
        <a:bodyPr/>
        <a:lstStyle/>
        <a:p>
          <a:endParaRPr lang="en-US"/>
        </a:p>
      </dgm:t>
    </dgm:pt>
    <dgm:pt modelId="{BFF96F31-4B17-44AA-8779-9BB49DEF441C}" type="sibTrans" cxnId="{E5127B9E-52CA-413A-8C9F-579DE0876AE2}">
      <dgm:prSet/>
      <dgm:spPr/>
      <dgm:t>
        <a:bodyPr/>
        <a:lstStyle/>
        <a:p>
          <a:endParaRPr lang="en-US"/>
        </a:p>
      </dgm:t>
    </dgm:pt>
    <dgm:pt modelId="{4A3F8365-53B0-4785-BF1E-B979CC89B5C9}">
      <dgm:prSet/>
      <dgm:spPr>
        <a:xfrm>
          <a:off x="118456" y="518838"/>
          <a:ext cx="803362" cy="803362"/>
        </a:xfrm>
        <a:prstGeom prst="ellipse">
          <a:avLst/>
        </a:prstGeom>
      </dgm:spPr>
      <dgm:t>
        <a:bodyPr/>
        <a:lstStyle/>
        <a:p>
          <a:pPr>
            <a:buNone/>
          </a:pPr>
          <a:endParaRPr lang="en-IN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Calibri"/>
            <a:ea typeface="+mn-ea"/>
            <a:cs typeface="+mn-cs"/>
          </a:endParaRPr>
        </a:p>
      </dgm:t>
    </dgm:pt>
    <dgm:pt modelId="{62C42763-C94E-436C-A2BC-E9119490405D}" type="parTrans" cxnId="{F46A320B-735D-451D-AAE5-52CC1BE9B9B8}">
      <dgm:prSet/>
      <dgm:spPr/>
      <dgm:t>
        <a:bodyPr/>
        <a:lstStyle/>
        <a:p>
          <a:endParaRPr lang="en-IN"/>
        </a:p>
      </dgm:t>
    </dgm:pt>
    <dgm:pt modelId="{DBC86531-4C94-46D2-9667-D3F4B5F8AE4A}" type="sibTrans" cxnId="{F46A320B-735D-451D-AAE5-52CC1BE9B9B8}">
      <dgm:prSet/>
      <dgm:spPr/>
      <dgm:t>
        <a:bodyPr/>
        <a:lstStyle/>
        <a:p>
          <a:endParaRPr lang="en-IN"/>
        </a:p>
      </dgm:t>
    </dgm:pt>
    <dgm:pt modelId="{52B8880A-AB1B-4023-A508-AB04E62ECB70}" type="pres">
      <dgm:prSet presAssocID="{07CF3E9B-0D6A-4777-B6BC-B05C47CAFFC1}" presName="compositeShape" presStyleCnt="0">
        <dgm:presLayoutVars>
          <dgm:chMax val="7"/>
          <dgm:dir/>
          <dgm:resizeHandles val="exact"/>
        </dgm:presLayoutVars>
      </dgm:prSet>
      <dgm:spPr/>
    </dgm:pt>
    <dgm:pt modelId="{55BCAD5D-6BB4-41BE-8FF5-884ABC5489AF}" type="pres">
      <dgm:prSet presAssocID="{3869E26B-477C-4D32-98CB-776FD816F3A0}" presName="circ1" presStyleLbl="vennNode1" presStyleIdx="0" presStyleCnt="3"/>
      <dgm:spPr/>
    </dgm:pt>
    <dgm:pt modelId="{9AEE920B-AE97-4DF4-898A-E3D1C8D9586F}" type="pres">
      <dgm:prSet presAssocID="{3869E26B-477C-4D32-98CB-776FD816F3A0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DF93992-124F-4357-849D-F6E9D5C247E1}" type="pres">
      <dgm:prSet presAssocID="{A3ADD165-AF01-46F4-A4AD-422D6C8AB8C6}" presName="circ2" presStyleLbl="vennNode1" presStyleIdx="1" presStyleCnt="3"/>
      <dgm:spPr/>
    </dgm:pt>
    <dgm:pt modelId="{C94FF28A-63FB-4160-AD9F-2A6913454162}" type="pres">
      <dgm:prSet presAssocID="{A3ADD165-AF01-46F4-A4AD-422D6C8AB8C6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E4E9E6F-4E08-4D26-BA7F-A767B6ECB580}" type="pres">
      <dgm:prSet presAssocID="{4A3F8365-53B0-4785-BF1E-B979CC89B5C9}" presName="circ3" presStyleLbl="vennNode1" presStyleIdx="2" presStyleCnt="3"/>
      <dgm:spPr>
        <a:prstGeom prst="ellipse">
          <a:avLst/>
        </a:prstGeom>
      </dgm:spPr>
    </dgm:pt>
    <dgm:pt modelId="{A8A45615-7983-4A44-80CD-7178775BCC8E}" type="pres">
      <dgm:prSet presAssocID="{4A3F8365-53B0-4785-BF1E-B979CC89B5C9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F46A320B-735D-451D-AAE5-52CC1BE9B9B8}" srcId="{07CF3E9B-0D6A-4777-B6BC-B05C47CAFFC1}" destId="{4A3F8365-53B0-4785-BF1E-B979CC89B5C9}" srcOrd="2" destOrd="0" parTransId="{62C42763-C94E-436C-A2BC-E9119490405D}" sibTransId="{DBC86531-4C94-46D2-9667-D3F4B5F8AE4A}"/>
    <dgm:cxn modelId="{15D5A90E-C87E-4FFF-915F-82AF97505C31}" type="presOf" srcId="{4A3F8365-53B0-4785-BF1E-B979CC89B5C9}" destId="{A8A45615-7983-4A44-80CD-7178775BCC8E}" srcOrd="1" destOrd="0" presId="urn:microsoft.com/office/officeart/2005/8/layout/venn1"/>
    <dgm:cxn modelId="{78BC2365-05E9-5946-BBFA-0A0D96400D46}" type="presOf" srcId="{07CF3E9B-0D6A-4777-B6BC-B05C47CAFFC1}" destId="{52B8880A-AB1B-4023-A508-AB04E62ECB70}" srcOrd="0" destOrd="0" presId="urn:microsoft.com/office/officeart/2005/8/layout/venn1"/>
    <dgm:cxn modelId="{0CC1FB82-7899-8747-9B9E-8FBE9C8049A9}" type="presOf" srcId="{A3ADD165-AF01-46F4-A4AD-422D6C8AB8C6}" destId="{FDF93992-124F-4357-849D-F6E9D5C247E1}" srcOrd="0" destOrd="0" presId="urn:microsoft.com/office/officeart/2005/8/layout/venn1"/>
    <dgm:cxn modelId="{E5127B9E-52CA-413A-8C9F-579DE0876AE2}" srcId="{07CF3E9B-0D6A-4777-B6BC-B05C47CAFFC1}" destId="{A3ADD165-AF01-46F4-A4AD-422D6C8AB8C6}" srcOrd="1" destOrd="0" parTransId="{5B5B4DDF-5017-4873-85E3-EAFCE3527F96}" sibTransId="{BFF96F31-4B17-44AA-8779-9BB49DEF441C}"/>
    <dgm:cxn modelId="{F39E94B3-DD5D-C540-B306-58BBA64767BD}" type="presOf" srcId="{3869E26B-477C-4D32-98CB-776FD816F3A0}" destId="{9AEE920B-AE97-4DF4-898A-E3D1C8D9586F}" srcOrd="1" destOrd="0" presId="urn:microsoft.com/office/officeart/2005/8/layout/venn1"/>
    <dgm:cxn modelId="{DE465ADF-72F2-4132-8F7C-CA9C68C962AC}" type="presOf" srcId="{4A3F8365-53B0-4785-BF1E-B979CC89B5C9}" destId="{9E4E9E6F-4E08-4D26-BA7F-A767B6ECB580}" srcOrd="0" destOrd="0" presId="urn:microsoft.com/office/officeart/2005/8/layout/venn1"/>
    <dgm:cxn modelId="{E36CCAE4-6EB4-402A-96E9-8DFCA67E847E}" srcId="{07CF3E9B-0D6A-4777-B6BC-B05C47CAFFC1}" destId="{3869E26B-477C-4D32-98CB-776FD816F3A0}" srcOrd="0" destOrd="0" parTransId="{59B03708-E648-46D0-A897-B527FEAD3912}" sibTransId="{288CE524-6CAC-4B5C-B598-E6F8F8FF9483}"/>
    <dgm:cxn modelId="{1AF60AEE-6D66-C24F-810D-785911187702}" type="presOf" srcId="{3869E26B-477C-4D32-98CB-776FD816F3A0}" destId="{55BCAD5D-6BB4-41BE-8FF5-884ABC5489AF}" srcOrd="0" destOrd="0" presId="urn:microsoft.com/office/officeart/2005/8/layout/venn1"/>
    <dgm:cxn modelId="{0705FFF7-A683-8F40-8C4B-E4B6921A445C}" type="presOf" srcId="{A3ADD165-AF01-46F4-A4AD-422D6C8AB8C6}" destId="{C94FF28A-63FB-4160-AD9F-2A6913454162}" srcOrd="1" destOrd="0" presId="urn:microsoft.com/office/officeart/2005/8/layout/venn1"/>
    <dgm:cxn modelId="{D6E6A217-7026-4745-BC7C-6FE536334942}" type="presParOf" srcId="{52B8880A-AB1B-4023-A508-AB04E62ECB70}" destId="{55BCAD5D-6BB4-41BE-8FF5-884ABC5489AF}" srcOrd="0" destOrd="0" presId="urn:microsoft.com/office/officeart/2005/8/layout/venn1"/>
    <dgm:cxn modelId="{0ACF4033-05EC-B04F-AAD5-A43C79F645CF}" type="presParOf" srcId="{52B8880A-AB1B-4023-A508-AB04E62ECB70}" destId="{9AEE920B-AE97-4DF4-898A-E3D1C8D9586F}" srcOrd="1" destOrd="0" presId="urn:microsoft.com/office/officeart/2005/8/layout/venn1"/>
    <dgm:cxn modelId="{08E1AF4C-CE9B-8A49-B866-E7BA8C93FBE2}" type="presParOf" srcId="{52B8880A-AB1B-4023-A508-AB04E62ECB70}" destId="{FDF93992-124F-4357-849D-F6E9D5C247E1}" srcOrd="2" destOrd="0" presId="urn:microsoft.com/office/officeart/2005/8/layout/venn1"/>
    <dgm:cxn modelId="{46D1EC3F-E56A-1D49-A101-2B656EB3F8EC}" type="presParOf" srcId="{52B8880A-AB1B-4023-A508-AB04E62ECB70}" destId="{C94FF28A-63FB-4160-AD9F-2A6913454162}" srcOrd="3" destOrd="0" presId="urn:microsoft.com/office/officeart/2005/8/layout/venn1"/>
    <dgm:cxn modelId="{A8FD0B01-6197-4854-ACAF-D17163B786EA}" type="presParOf" srcId="{52B8880A-AB1B-4023-A508-AB04E62ECB70}" destId="{9E4E9E6F-4E08-4D26-BA7F-A767B6ECB580}" srcOrd="4" destOrd="0" presId="urn:microsoft.com/office/officeart/2005/8/layout/venn1"/>
    <dgm:cxn modelId="{A1E1366A-68E1-4FFF-AEB1-D2C55D7A9881}" type="presParOf" srcId="{52B8880A-AB1B-4023-A508-AB04E62ECB70}" destId="{A8A45615-7983-4A44-80CD-7178775BCC8E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BCAD5D-6BB4-41BE-8FF5-884ABC5489AF}">
      <dsp:nvSpPr>
        <dsp:cNvPr id="0" name=""/>
        <dsp:cNvSpPr/>
      </dsp:nvSpPr>
      <dsp:spPr>
        <a:xfrm>
          <a:off x="365581" y="14360"/>
          <a:ext cx="689293" cy="689293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alpha val="5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Calibri"/>
              <a:ea typeface="+mn-ea"/>
              <a:cs typeface="+mn-cs"/>
            </a:rPr>
            <a:t> </a:t>
          </a:r>
          <a:endParaRPr lang="en-US" sz="1500" kern="1200" dirty="0">
            <a:latin typeface="Calibri"/>
            <a:ea typeface="+mn-ea"/>
            <a:cs typeface="+mn-cs"/>
          </a:endParaRPr>
        </a:p>
      </dsp:txBody>
      <dsp:txXfrm>
        <a:off x="531513" y="180411"/>
        <a:ext cx="357429" cy="219331"/>
      </dsp:txXfrm>
    </dsp:sp>
    <dsp:sp modelId="{FDF93992-124F-4357-849D-F6E9D5C247E1}">
      <dsp:nvSpPr>
        <dsp:cNvPr id="0" name=""/>
        <dsp:cNvSpPr/>
      </dsp:nvSpPr>
      <dsp:spPr>
        <a:xfrm>
          <a:off x="614301" y="445168"/>
          <a:ext cx="689293" cy="689293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alpha val="5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Calibri"/>
              <a:ea typeface="+mn-ea"/>
              <a:cs typeface="+mn-cs"/>
            </a:rPr>
            <a:t> </a:t>
          </a:r>
          <a:endParaRPr lang="en-US" sz="1500" kern="1200" dirty="0">
            <a:latin typeface="Calibri"/>
            <a:ea typeface="+mn-ea"/>
            <a:cs typeface="+mn-cs"/>
          </a:endParaRPr>
        </a:p>
      </dsp:txBody>
      <dsp:txXfrm>
        <a:off x="885677" y="678755"/>
        <a:ext cx="292441" cy="268071"/>
      </dsp:txXfrm>
    </dsp:sp>
    <dsp:sp modelId="{9E4E9E6F-4E08-4D26-BA7F-A767B6ECB580}">
      <dsp:nvSpPr>
        <dsp:cNvPr id="0" name=""/>
        <dsp:cNvSpPr/>
      </dsp:nvSpPr>
      <dsp:spPr>
        <a:xfrm>
          <a:off x="116861" y="445168"/>
          <a:ext cx="689293" cy="689293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alpha val="5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Calibri"/>
            <a:ea typeface="+mn-ea"/>
            <a:cs typeface="+mn-cs"/>
          </a:endParaRPr>
        </a:p>
      </dsp:txBody>
      <dsp:txXfrm>
        <a:off x="242336" y="678755"/>
        <a:ext cx="292441" cy="2680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480937-E4FC-4AB8-934E-B4133CA4E3B9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9A9D76-3317-4D9F-91CA-08AB2254D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340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A9D76-3317-4D9F-91CA-08AB2254D62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355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A9D76-3317-4D9F-91CA-08AB2254D62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7821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9A9D76-3317-4D9F-91CA-08AB2254D6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53592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A9D76-3317-4D9F-91CA-08AB2254D62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3418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A9D76-3317-4D9F-91CA-08AB2254D62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3542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A9D76-3317-4D9F-91CA-08AB2254D62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3841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A9D76-3317-4D9F-91CA-08AB2254D62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6542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9A9D76-3317-4D9F-91CA-08AB2254D6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19896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9A9D76-3317-4D9F-91CA-08AB2254D6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67845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9A9D76-3317-4D9F-91CA-08AB2254D6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28849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9A9D76-3317-4D9F-91CA-08AB2254D6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96335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9A9D76-3317-4D9F-91CA-08AB2254D6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89511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9A9D76-3317-4D9F-91CA-08AB2254D6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97790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9A9D76-3317-4D9F-91CA-08AB2254D6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88924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9A9D76-3317-4D9F-91CA-08AB2254D6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10514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9A9D76-3317-4D9F-91CA-08AB2254D6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5830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9"/>
            <a:ext cx="15544800" cy="22050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D0039-0AA4-416C-95A6-66092B2079D1}" type="datetime1">
              <a:rPr lang="en-US" smtClean="0"/>
              <a:t>6/7/2022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8E988-FB04-AB4E-BE5A-59F242AF7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351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800EF-D143-49AC-A397-8679B3CC2DC6}" type="datetime1">
              <a:rPr lang="en-US" smtClean="0"/>
              <a:t>6/7/2022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382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2"/>
            <a:ext cx="15544800" cy="2043112"/>
          </a:xfrm>
        </p:spPr>
        <p:txBody>
          <a:bodyPr anchor="t"/>
          <a:lstStyle>
            <a:lvl1pPr algn="l">
              <a:defRPr sz="8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0"/>
          </a:xfrm>
        </p:spPr>
        <p:txBody>
          <a:bodyPr anchor="b"/>
          <a:lstStyle>
            <a:lvl1pPr marL="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E870B-9957-4B17-8791-D93A9AF355AC}" type="datetime1">
              <a:rPr lang="en-US" smtClean="0"/>
              <a:t>6/7/2022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F2B4D-6B12-4EDF-87BB-2B55CECB6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394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2"/>
            <a:ext cx="8077200" cy="6788944"/>
          </a:xfrm>
        </p:spPr>
        <p:txBody>
          <a:bodyPr/>
          <a:lstStyle>
            <a:lvl1pPr>
              <a:defRPr sz="5600"/>
            </a:lvl1pPr>
            <a:lvl2pPr>
              <a:defRPr sz="4800"/>
            </a:lvl2pPr>
            <a:lvl3pPr>
              <a:defRPr sz="40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2"/>
            <a:ext cx="8077200" cy="6788944"/>
          </a:xfrm>
        </p:spPr>
        <p:txBody>
          <a:bodyPr/>
          <a:lstStyle>
            <a:lvl1pPr>
              <a:defRPr sz="5600"/>
            </a:lvl1pPr>
            <a:lvl2pPr>
              <a:defRPr sz="4800"/>
            </a:lvl2pPr>
            <a:lvl3pPr>
              <a:defRPr sz="40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F1441-63CF-4F14-B361-0E4DFE934FB0}" type="datetime1">
              <a:rPr lang="en-US" smtClean="0"/>
              <a:t>6/7/2022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594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02670"/>
            <a:ext cx="8080376" cy="95964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2"/>
            <a:ext cx="8080376" cy="5926932"/>
          </a:xfrm>
        </p:spPr>
        <p:txBody>
          <a:bodyPr/>
          <a:lstStyle>
            <a:lvl1pPr>
              <a:defRPr sz="4800"/>
            </a:lvl1pPr>
            <a:lvl2pPr>
              <a:defRPr sz="40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3" y="2302670"/>
            <a:ext cx="8083550" cy="95964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3" y="3262312"/>
            <a:ext cx="8083550" cy="5926932"/>
          </a:xfrm>
        </p:spPr>
        <p:txBody>
          <a:bodyPr/>
          <a:lstStyle>
            <a:lvl1pPr>
              <a:defRPr sz="4800"/>
            </a:lvl1pPr>
            <a:lvl2pPr>
              <a:defRPr sz="40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A1411-9D9C-4D77-9BCB-AB8EF992F91E}" type="datetime1">
              <a:rPr lang="en-US" smtClean="0"/>
              <a:t>6/7/2022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824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2EFC4-A555-4F5D-B7B8-8988080DB8BF}" type="datetime1">
              <a:rPr lang="en-US" smtClean="0"/>
              <a:t>6/7/2022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712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F41A8-AA62-4D67-8B65-AF69810BAEDB}" type="datetime1">
              <a:rPr lang="en-US" smtClean="0"/>
              <a:t>6/7/2022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22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3" y="409574"/>
            <a:ext cx="6016626" cy="1743076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09577"/>
            <a:ext cx="10223500" cy="877967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3" y="2152653"/>
            <a:ext cx="6016626" cy="7036594"/>
          </a:xfrm>
        </p:spPr>
        <p:txBody>
          <a:bodyPr/>
          <a:lstStyle>
            <a:lvl1pPr marL="0" indent="0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F7D8-1002-406E-A97F-7E5EAB12EFCE}" type="datetime1">
              <a:rPr lang="en-US" smtClean="0"/>
              <a:t>6/7/2022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8220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8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919162"/>
            <a:ext cx="10972800" cy="6172200"/>
          </a:xfr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4"/>
          </a:xfrm>
        </p:spPr>
        <p:txBody>
          <a:bodyPr/>
          <a:lstStyle>
            <a:lvl1pPr marL="0" indent="0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AC7ED-A7AB-4DDB-B58C-95B05EC808AF}" type="datetime1">
              <a:rPr lang="en-US" smtClean="0"/>
              <a:t>6/7/2022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983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C9670-F4F2-408D-9CA6-625DC7CA4C5B}" type="datetime1">
              <a:rPr lang="en-US" smtClean="0"/>
              <a:t>6/7/2022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317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8"/>
            <a:ext cx="4114800" cy="87772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8"/>
            <a:ext cx="12039600" cy="87772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746DF-AF0E-47B3-88C0-055FFCF000B1}" type="datetime1">
              <a:rPr lang="en-US" smtClean="0"/>
              <a:t>6/7/2022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9964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630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5229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11958"/>
            <a:ext cx="16459200" cy="1714500"/>
          </a:xfrm>
          <a:prstGeom prst="rect">
            <a:avLst/>
          </a:prstGeom>
        </p:spPr>
        <p:txBody>
          <a:bodyPr vert="horz" lIns="182880" tIns="91440" rIns="182880" bIns="9144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00302"/>
            <a:ext cx="16459200" cy="6788944"/>
          </a:xfrm>
          <a:prstGeom prst="rect">
            <a:avLst/>
          </a:prstGeom>
        </p:spPr>
        <p:txBody>
          <a:bodyPr vert="horz" lIns="182880" tIns="91440" rIns="182880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9534526"/>
            <a:ext cx="4267200" cy="547688"/>
          </a:xfrm>
          <a:prstGeom prst="rect">
            <a:avLst/>
          </a:prstGeom>
        </p:spPr>
        <p:txBody>
          <a:bodyPr vert="horz" lIns="182880" tIns="91440" rIns="182880" bIns="9144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9F116E-C653-410D-8787-48F174310D8C}" type="datetime1">
              <a:rPr lang="en-US" smtClean="0"/>
              <a:t>6/7/2022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9534526"/>
            <a:ext cx="5791200" cy="547688"/>
          </a:xfrm>
          <a:prstGeom prst="rect">
            <a:avLst/>
          </a:prstGeom>
        </p:spPr>
        <p:txBody>
          <a:bodyPr vert="horz" lIns="182880" tIns="91440" rIns="182880" bIns="9144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9534526"/>
            <a:ext cx="4267200" cy="547688"/>
          </a:xfrm>
          <a:prstGeom prst="rect">
            <a:avLst/>
          </a:prstGeom>
        </p:spPr>
        <p:txBody>
          <a:bodyPr vert="horz" lIns="182880" tIns="91440" rIns="182880" bIns="9144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84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56" r:id="rId1"/>
    <p:sldLayoutId id="2147493457" r:id="rId2"/>
    <p:sldLayoutId id="2147493458" r:id="rId3"/>
    <p:sldLayoutId id="2147493459" r:id="rId4"/>
    <p:sldLayoutId id="2147493460" r:id="rId5"/>
    <p:sldLayoutId id="2147493461" r:id="rId6"/>
    <p:sldLayoutId id="2147493462" r:id="rId7"/>
    <p:sldLayoutId id="2147493463" r:id="rId8"/>
    <p:sldLayoutId id="2147493464" r:id="rId9"/>
    <p:sldLayoutId id="2147493465" r:id="rId10"/>
    <p:sldLayoutId id="2147493466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0" indent="-685800" algn="l" defTabSz="914400" rtl="0" eaLnBrk="1" latinLnBrk="0" hangingPunct="1">
        <a:spcBef>
          <a:spcPct val="20000"/>
        </a:spcBef>
        <a:buFont typeface="Arial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1pPr>
      <a:lvl2pPr marL="1485900" indent="-571500" algn="l" defTabSz="914400" rtl="0" eaLnBrk="1" latinLnBrk="0" hangingPunct="1">
        <a:spcBef>
          <a:spcPct val="20000"/>
        </a:spcBef>
        <a:buFont typeface="Arial"/>
        <a:buChar char="–"/>
        <a:defRPr sz="56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914400" rtl="0" eaLnBrk="1" latinLnBrk="0" hangingPunct="1">
        <a:spcBef>
          <a:spcPct val="20000"/>
        </a:spcBef>
        <a:buFont typeface="Arial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914400" rtl="0" eaLnBrk="1" latinLnBrk="0" hangingPunct="1">
        <a:spcBef>
          <a:spcPct val="20000"/>
        </a:spcBef>
        <a:buFont typeface="Arial"/>
        <a:buChar char="–"/>
        <a:defRPr sz="40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914400" rtl="0" eaLnBrk="1" latinLnBrk="0" hangingPunct="1">
        <a:spcBef>
          <a:spcPct val="20000"/>
        </a:spcBef>
        <a:buFont typeface="Arial"/>
        <a:buChar char="»"/>
        <a:defRPr sz="40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914400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914400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914400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914400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1144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68" r:id="rId1"/>
    <p:sldLayoutId id="2147493469" r:id="rId2"/>
  </p:sldLayoutIdLst>
  <p:hf hdr="0" ftr="0" dt="0"/>
  <p:txStyles>
    <p:titleStyle>
      <a:lvl1pPr algn="l" defTabSz="1371635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8" indent="-342908" algn="l" defTabSz="1371635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27" indent="-342908" algn="l" defTabSz="1371635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42" indent="-342908" algn="l" defTabSz="1371635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60" indent="-342908" algn="l" defTabSz="1371635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78" indent="-342908" algn="l" defTabSz="1371635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95" indent="-342908" algn="l" defTabSz="1371635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813" indent="-342908" algn="l" defTabSz="1371635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628" indent="-342908" algn="l" defTabSz="1371635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447" indent="-342908" algn="l" defTabSz="1371635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35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algn="l" defTabSz="1371635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35" algn="l" defTabSz="1371635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53" algn="l" defTabSz="1371635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68" algn="l" defTabSz="1371635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87" algn="l" defTabSz="1371635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902" algn="l" defTabSz="1371635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720" algn="l" defTabSz="1371635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538" algn="l" defTabSz="1371635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free-powerpoint-templates-design.com/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Band_diagram" TargetMode="External"/><Relationship Id="rId3" Type="http://schemas.openxmlformats.org/officeDocument/2006/relationships/image" Target="../media/image5.tif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"/><Relationship Id="rId7" Type="http://schemas.openxmlformats.org/officeDocument/2006/relationships/hyperlink" Target="https://creativecommons.org/licenses/by-sa/3.0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Perovskite_solar_cell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5.tif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microsoft.com/office/2007/relationships/diagramDrawing" Target="../diagrams/drawing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://de.wikipedia.org/wiki/Datei:Becherglas.svg" TargetMode="External"/><Relationship Id="rId13" Type="http://schemas.openxmlformats.org/officeDocument/2006/relationships/image" Target="../media/image14.png"/><Relationship Id="rId3" Type="http://schemas.openxmlformats.org/officeDocument/2006/relationships/image" Target="../media/image5.tif"/><Relationship Id="rId7" Type="http://schemas.openxmlformats.org/officeDocument/2006/relationships/image" Target="../media/image12.png"/><Relationship Id="rId12" Type="http://schemas.openxmlformats.org/officeDocument/2006/relationships/hyperlink" Target="https://www.remix3d.com/details/G009SX0M3SZ9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hemistry.stackexchange.com/questions/75131/what-is-the-name-of-this-3-open-tube-and-where-can-i-purchase-one" TargetMode="External"/><Relationship Id="rId11" Type="http://schemas.microsoft.com/office/2017/06/relationships/model3d" Target="../media/model3d1.glb"/><Relationship Id="rId5" Type="http://schemas.openxmlformats.org/officeDocument/2006/relationships/image" Target="../media/image11.gif"/><Relationship Id="rId15" Type="http://schemas.openxmlformats.org/officeDocument/2006/relationships/image" Target="../media/image16.png"/><Relationship Id="rId10" Type="http://schemas.openxmlformats.org/officeDocument/2006/relationships/hyperlink" Target="http://www.photos-public-domain.com/2010/12/21/ice-cubes/" TargetMode="External"/><Relationship Id="rId4" Type="http://schemas.openxmlformats.org/officeDocument/2006/relationships/image" Target="../media/image4.png"/><Relationship Id="rId9" Type="http://schemas.openxmlformats.org/officeDocument/2006/relationships/image" Target="../media/image13.jpeg"/><Relationship Id="rId1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50F8743-FFB4-4FAE-8605-DEE70EC88649}"/>
              </a:ext>
            </a:extLst>
          </p:cNvPr>
          <p:cNvSpPr/>
          <p:nvPr/>
        </p:nvSpPr>
        <p:spPr>
          <a:xfrm>
            <a:off x="1" y="765545"/>
            <a:ext cx="18287999" cy="310253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78000"/>
                </a:schemeClr>
              </a:gs>
              <a:gs pos="27000">
                <a:schemeClr val="accent1">
                  <a:alpha val="52000"/>
                </a:schemeClr>
              </a:gs>
              <a:gs pos="86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1429"/>
            <a:endParaRPr lang="ko-KR" altLang="en-US" sz="2700">
              <a:solidFill>
                <a:prstClr val="white"/>
              </a:solidFill>
              <a:latin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21F751-3C5B-4561-AD14-8637C5B66736}"/>
              </a:ext>
            </a:extLst>
          </p:cNvPr>
          <p:cNvSpPr txBox="1"/>
          <p:nvPr/>
        </p:nvSpPr>
        <p:spPr>
          <a:xfrm>
            <a:off x="928466" y="1001261"/>
            <a:ext cx="10030047" cy="2677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 defTabSz="1371429"/>
            <a:r>
              <a:rPr lang="en-US" altLang="ko-KR" sz="4200" b="1" dirty="0">
                <a:solidFill>
                  <a:prstClr val="white"/>
                </a:solidFill>
                <a:latin typeface="Arial"/>
                <a:ea typeface="Arial Unicode MS"/>
                <a:cs typeface="Arial" pitchFamily="34" charset="0"/>
              </a:rPr>
              <a:t>Synergic Effect of Doping and Outcoupling Enhancement for High-Efficiency Perovskite Light Emitting Diodes.</a:t>
            </a:r>
            <a:endParaRPr lang="ko-KR" altLang="en-US" sz="4200" b="1" dirty="0">
              <a:solidFill>
                <a:prstClr val="white"/>
              </a:solidFill>
              <a:latin typeface="Arial"/>
              <a:cs typeface="Arial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166F6B-B975-4F3C-BCF2-9971086140FB}"/>
              </a:ext>
            </a:extLst>
          </p:cNvPr>
          <p:cNvSpPr txBox="1"/>
          <p:nvPr/>
        </p:nvSpPr>
        <p:spPr>
          <a:xfrm>
            <a:off x="928466" y="133619"/>
            <a:ext cx="780097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1371429"/>
            <a:r>
              <a:rPr lang="en-US" b="1" u="sng" dirty="0">
                <a:solidFill>
                  <a:prstClr val="black"/>
                </a:solidFill>
                <a:latin typeface="+mj-lt"/>
                <a:ea typeface="Arial Unicode MS"/>
                <a:cs typeface="Times New Roman" panose="02020603050405020304" pitchFamily="18" charset="0"/>
              </a:rPr>
              <a:t>Research Proposal CY-801</a:t>
            </a:r>
            <a:endParaRPr lang="en-IN" dirty="0">
              <a:solidFill>
                <a:prstClr val="black"/>
              </a:solidFill>
              <a:latin typeface="+mj-lt"/>
              <a:ea typeface="Arial Unicode MS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hlinkClick r:id="rId2"/>
          </p:cNvPr>
          <p:cNvSpPr txBox="1"/>
          <p:nvPr/>
        </p:nvSpPr>
        <p:spPr>
          <a:xfrm>
            <a:off x="928466" y="4103791"/>
            <a:ext cx="37578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1429"/>
            <a:r>
              <a:rPr lang="en-US" b="1" dirty="0">
                <a:solidFill>
                  <a:prstClr val="black"/>
                </a:solidFill>
                <a:latin typeface="+mj-lt"/>
                <a:ea typeface="Arial Unicode MS"/>
                <a:cs typeface="Times New Roman" panose="02020603050405020304" pitchFamily="18" charset="0"/>
              </a:rPr>
              <a:t>By</a:t>
            </a:r>
          </a:p>
          <a:p>
            <a:pPr algn="ctr" defTabSz="1371429"/>
            <a:r>
              <a:rPr lang="en-US" b="1" dirty="0">
                <a:solidFill>
                  <a:prstClr val="black"/>
                </a:solidFill>
                <a:latin typeface="+mj-lt"/>
                <a:ea typeface="Arial Unicode MS"/>
                <a:cs typeface="Times New Roman" panose="02020603050405020304" pitchFamily="18" charset="0"/>
              </a:rPr>
              <a:t>Ranadeep Raj S</a:t>
            </a:r>
            <a:endParaRPr lang="en-IN" dirty="0">
              <a:solidFill>
                <a:prstClr val="black"/>
              </a:solidFill>
              <a:latin typeface="+mj-lt"/>
              <a:ea typeface="Arial Unicode MS"/>
              <a:cs typeface="Times New Roman" panose="02020603050405020304" pitchFamily="18" charset="0"/>
            </a:endParaRPr>
          </a:p>
        </p:txBody>
      </p:sp>
      <p:pic>
        <p:nvPicPr>
          <p:cNvPr id="7" name="Picture 1" descr="C:\Users\HP\Desktop\University_of_Hyderabad_Logo.png">
            <a:extLst>
              <a:ext uri="{FF2B5EF4-FFF2-40B4-BE49-F238E27FC236}">
                <a16:creationId xmlns:a16="http://schemas.microsoft.com/office/drawing/2014/main" id="{55DE91E2-922E-4A30-BF30-118A2DB9E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17246" y="5078515"/>
            <a:ext cx="2580274" cy="2571768"/>
          </a:xfrm>
          <a:prstGeom prst="rect">
            <a:avLst/>
          </a:prstGeom>
          <a:noFill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8AC269F-C1B1-4CF6-A252-DA8E27A0AD9C}"/>
              </a:ext>
            </a:extLst>
          </p:cNvPr>
          <p:cNvSpPr/>
          <p:nvPr/>
        </p:nvSpPr>
        <p:spPr>
          <a:xfrm>
            <a:off x="1" y="7424678"/>
            <a:ext cx="581024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+mj-lt"/>
                <a:cs typeface="Times New Roman" pitchFamily="18" charset="0"/>
              </a:rPr>
              <a:t>Supervisor</a:t>
            </a:r>
          </a:p>
          <a:p>
            <a:pPr algn="ctr"/>
            <a:r>
              <a:rPr lang="en-IN" b="1" dirty="0" err="1">
                <a:latin typeface="+mj-lt"/>
                <a:cs typeface="Times New Roman" pitchFamily="18" charset="0"/>
              </a:rPr>
              <a:t>Dr.</a:t>
            </a:r>
            <a:r>
              <a:rPr lang="en-IN" b="1" dirty="0">
                <a:latin typeface="+mj-lt"/>
                <a:cs typeface="Times New Roman" pitchFamily="18" charset="0"/>
              </a:rPr>
              <a:t> Murali </a:t>
            </a:r>
            <a:r>
              <a:rPr lang="en-IN" b="1" dirty="0" err="1">
                <a:latin typeface="+mj-lt"/>
                <a:cs typeface="Times New Roman" pitchFamily="18" charset="0"/>
              </a:rPr>
              <a:t>Banavoth</a:t>
            </a:r>
            <a:endParaRPr lang="en-IN" b="1" dirty="0">
              <a:latin typeface="+mj-lt"/>
              <a:cs typeface="Times New Roman" pitchFamily="18" charset="0"/>
            </a:endParaRPr>
          </a:p>
          <a:p>
            <a:pPr lvl="0" algn="ctr"/>
            <a:r>
              <a:rPr lang="en-IN" b="1" dirty="0">
                <a:solidFill>
                  <a:prstClr val="black">
                    <a:lumMod val="95000"/>
                    <a:lumOff val="5000"/>
                  </a:prstClr>
                </a:solidFill>
                <a:latin typeface="+mj-lt"/>
                <a:cs typeface="Times New Roman" pitchFamily="18" charset="0"/>
              </a:rPr>
              <a:t>School of Chemistry</a:t>
            </a:r>
          </a:p>
          <a:p>
            <a:pPr lvl="0" algn="ctr"/>
            <a:r>
              <a:rPr lang="en-IN" b="1" dirty="0">
                <a:solidFill>
                  <a:prstClr val="black">
                    <a:lumMod val="95000"/>
                    <a:lumOff val="5000"/>
                  </a:prstClr>
                </a:solidFill>
                <a:latin typeface="+mj-lt"/>
                <a:cs typeface="Times New Roman" pitchFamily="18" charset="0"/>
              </a:rPr>
              <a:t>University of Hyderabad</a:t>
            </a:r>
          </a:p>
          <a:p>
            <a:pPr algn="ctr"/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7" descr="shutterstock_30373966 circle-01.png">
            <a:extLst>
              <a:ext uri="{FF2B5EF4-FFF2-40B4-BE49-F238E27FC236}">
                <a16:creationId xmlns:a16="http://schemas.microsoft.com/office/drawing/2014/main" id="{9D2828B2-3A1E-4F5A-A895-93CEE570EE1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060" b="16555"/>
          <a:stretch/>
        </p:blipFill>
        <p:spPr>
          <a:xfrm>
            <a:off x="13268033" y="5472557"/>
            <a:ext cx="5019967" cy="474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476198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1824"/>
            <a:ext cx="18288001" cy="1333419"/>
            <a:chOff x="0" y="-1824"/>
            <a:chExt cx="18288001" cy="1333419"/>
          </a:xfrm>
        </p:grpSpPr>
        <p:sp>
          <p:nvSpPr>
            <p:cNvPr id="9" name="Rectangle 8"/>
            <p:cNvSpPr/>
            <p:nvPr/>
          </p:nvSpPr>
          <p:spPr>
            <a:xfrm>
              <a:off x="0" y="3732"/>
              <a:ext cx="13601700" cy="1275320"/>
            </a:xfrm>
            <a:prstGeom prst="rect">
              <a:avLst/>
            </a:prstGeom>
            <a:gradFill flip="none" rotWithShape="1">
              <a:gsLst>
                <a:gs pos="0">
                  <a:srgbClr val="15A1A2">
                    <a:shade val="30000"/>
                    <a:satMod val="115000"/>
                  </a:srgbClr>
                </a:gs>
                <a:gs pos="50000">
                  <a:srgbClr val="15A1A2">
                    <a:shade val="67500"/>
                    <a:satMod val="115000"/>
                  </a:srgbClr>
                </a:gs>
                <a:gs pos="100000">
                  <a:srgbClr val="15A1A2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3071496" y="-1824"/>
              <a:ext cx="5216504" cy="45719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71495" y="49348"/>
              <a:ext cx="3752639" cy="1240260"/>
            </a:xfrm>
            <a:prstGeom prst="rect">
              <a:avLst/>
            </a:prstGeom>
          </p:spPr>
        </p:pic>
        <p:sp>
          <p:nvSpPr>
            <p:cNvPr id="14" name="Rectangle 13"/>
            <p:cNvSpPr/>
            <p:nvPr/>
          </p:nvSpPr>
          <p:spPr>
            <a:xfrm flipV="1">
              <a:off x="0" y="1285876"/>
              <a:ext cx="18288000" cy="45719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Picture 14" descr="shutterstock_30373966 circle-01.png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060" b="17396"/>
            <a:stretch/>
          </p:blipFill>
          <p:spPr>
            <a:xfrm>
              <a:off x="16977205" y="19052"/>
              <a:ext cx="1310796" cy="1252536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AD910AC-E6F0-4360-A1CD-14A8F1F6B047}"/>
              </a:ext>
            </a:extLst>
          </p:cNvPr>
          <p:cNvGrpSpPr/>
          <p:nvPr/>
        </p:nvGrpSpPr>
        <p:grpSpPr>
          <a:xfrm>
            <a:off x="3942094" y="-1847"/>
            <a:ext cx="762976" cy="3863294"/>
            <a:chOff x="3942094" y="-1847"/>
            <a:chExt cx="762976" cy="3863294"/>
          </a:xfrm>
          <a:solidFill>
            <a:srgbClr val="1ED0A6"/>
          </a:solidFill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AC79D35-2391-4DDF-B6DD-904EE89A4293}"/>
                </a:ext>
              </a:extLst>
            </p:cNvPr>
            <p:cNvSpPr/>
            <p:nvPr/>
          </p:nvSpPr>
          <p:spPr>
            <a:xfrm>
              <a:off x="4288244" y="-1847"/>
              <a:ext cx="72000" cy="2651760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28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427128D9-D3E8-4905-8BA7-DE8593538154}"/>
                </a:ext>
              </a:extLst>
            </p:cNvPr>
            <p:cNvSpPr/>
            <p:nvPr/>
          </p:nvSpPr>
          <p:spPr>
            <a:xfrm rot="5400000" flipH="1">
              <a:off x="3694759" y="2851136"/>
              <a:ext cx="1257646" cy="762976"/>
            </a:xfrm>
            <a:custGeom>
              <a:avLst/>
              <a:gdLst>
                <a:gd name="connsiteX0" fmla="*/ 782320 w 1075004"/>
                <a:gd name="connsiteY0" fmla="*/ 253919 h 652173"/>
                <a:gd name="connsiteX1" fmla="*/ 763875 w 1075004"/>
                <a:gd name="connsiteY1" fmla="*/ 269396 h 652173"/>
                <a:gd name="connsiteX2" fmla="*/ 421371 w 1075004"/>
                <a:gd name="connsiteY2" fmla="*/ 239431 h 652173"/>
                <a:gd name="connsiteX3" fmla="*/ 421370 w 1075004"/>
                <a:gd name="connsiteY3" fmla="*/ 253854 h 652173"/>
                <a:gd name="connsiteX4" fmla="*/ 447078 w 1075004"/>
                <a:gd name="connsiteY4" fmla="*/ 253854 h 652173"/>
                <a:gd name="connsiteX5" fmla="*/ 464104 w 1075004"/>
                <a:gd name="connsiteY5" fmla="*/ 270880 h 652173"/>
                <a:gd name="connsiteX6" fmla="*/ 464104 w 1075004"/>
                <a:gd name="connsiteY6" fmla="*/ 270879 h 652173"/>
                <a:gd name="connsiteX7" fmla="*/ 447079 w 1075004"/>
                <a:gd name="connsiteY7" fmla="*/ 287905 h 652173"/>
                <a:gd name="connsiteX8" fmla="*/ 421371 w 1075004"/>
                <a:gd name="connsiteY8" fmla="*/ 287905 h 652173"/>
                <a:gd name="connsiteX9" fmla="*/ 421371 w 1075004"/>
                <a:gd name="connsiteY9" fmla="*/ 311227 h 652173"/>
                <a:gd name="connsiteX10" fmla="*/ 447078 w 1075004"/>
                <a:gd name="connsiteY10" fmla="*/ 311227 h 652173"/>
                <a:gd name="connsiteX11" fmla="*/ 464104 w 1075004"/>
                <a:gd name="connsiteY11" fmla="*/ 328253 h 652173"/>
                <a:gd name="connsiteX12" fmla="*/ 464104 w 1075004"/>
                <a:gd name="connsiteY12" fmla="*/ 328253 h 652173"/>
                <a:gd name="connsiteX13" fmla="*/ 447079 w 1075004"/>
                <a:gd name="connsiteY13" fmla="*/ 345279 h 652173"/>
                <a:gd name="connsiteX14" fmla="*/ 421371 w 1075004"/>
                <a:gd name="connsiteY14" fmla="*/ 345279 h 652173"/>
                <a:gd name="connsiteX15" fmla="*/ 421371 w 1075004"/>
                <a:gd name="connsiteY15" fmla="*/ 368601 h 652173"/>
                <a:gd name="connsiteX16" fmla="*/ 447078 w 1075004"/>
                <a:gd name="connsiteY16" fmla="*/ 368601 h 652173"/>
                <a:gd name="connsiteX17" fmla="*/ 464104 w 1075004"/>
                <a:gd name="connsiteY17" fmla="*/ 385627 h 652173"/>
                <a:gd name="connsiteX18" fmla="*/ 464104 w 1075004"/>
                <a:gd name="connsiteY18" fmla="*/ 385627 h 652173"/>
                <a:gd name="connsiteX19" fmla="*/ 447079 w 1075004"/>
                <a:gd name="connsiteY19" fmla="*/ 402653 h 652173"/>
                <a:gd name="connsiteX20" fmla="*/ 421371 w 1075004"/>
                <a:gd name="connsiteY20" fmla="*/ 402653 h 652173"/>
                <a:gd name="connsiteX21" fmla="*/ 421370 w 1075004"/>
                <a:gd name="connsiteY21" fmla="*/ 417162 h 652173"/>
                <a:gd name="connsiteX22" fmla="*/ 762268 w 1075004"/>
                <a:gd name="connsiteY22" fmla="*/ 381333 h 652173"/>
                <a:gd name="connsiteX23" fmla="*/ 780980 w 1075004"/>
                <a:gd name="connsiteY23" fmla="*/ 396486 h 652173"/>
                <a:gd name="connsiteX24" fmla="*/ 765828 w 1075004"/>
                <a:gd name="connsiteY24" fmla="*/ 415197 h 652173"/>
                <a:gd name="connsiteX25" fmla="*/ 415893 w 1075004"/>
                <a:gd name="connsiteY25" fmla="*/ 451977 h 652173"/>
                <a:gd name="connsiteX26" fmla="*/ 397181 w 1075004"/>
                <a:gd name="connsiteY26" fmla="*/ 436824 h 652173"/>
                <a:gd name="connsiteX27" fmla="*/ 398889 w 1075004"/>
                <a:gd name="connsiteY27" fmla="*/ 431060 h 652173"/>
                <a:gd name="connsiteX28" fmla="*/ 398669 w 1075004"/>
                <a:gd name="connsiteY28" fmla="*/ 430531 h 652173"/>
                <a:gd name="connsiteX29" fmla="*/ 398669 w 1075004"/>
                <a:gd name="connsiteY29" fmla="*/ 402653 h 652173"/>
                <a:gd name="connsiteX30" fmla="*/ 372962 w 1075004"/>
                <a:gd name="connsiteY30" fmla="*/ 402653 h 652173"/>
                <a:gd name="connsiteX31" fmla="*/ 355936 w 1075004"/>
                <a:gd name="connsiteY31" fmla="*/ 385627 h 652173"/>
                <a:gd name="connsiteX32" fmla="*/ 372962 w 1075004"/>
                <a:gd name="connsiteY32" fmla="*/ 368601 h 652173"/>
                <a:gd name="connsiteX33" fmla="*/ 398669 w 1075004"/>
                <a:gd name="connsiteY33" fmla="*/ 368601 h 652173"/>
                <a:gd name="connsiteX34" fmla="*/ 398670 w 1075004"/>
                <a:gd name="connsiteY34" fmla="*/ 345279 h 652173"/>
                <a:gd name="connsiteX35" fmla="*/ 372962 w 1075004"/>
                <a:gd name="connsiteY35" fmla="*/ 345279 h 652173"/>
                <a:gd name="connsiteX36" fmla="*/ 355936 w 1075004"/>
                <a:gd name="connsiteY36" fmla="*/ 328253 h 652173"/>
                <a:gd name="connsiteX37" fmla="*/ 372962 w 1075004"/>
                <a:gd name="connsiteY37" fmla="*/ 311228 h 652173"/>
                <a:gd name="connsiteX38" fmla="*/ 398669 w 1075004"/>
                <a:gd name="connsiteY38" fmla="*/ 311227 h 652173"/>
                <a:gd name="connsiteX39" fmla="*/ 398669 w 1075004"/>
                <a:gd name="connsiteY39" fmla="*/ 287905 h 652173"/>
                <a:gd name="connsiteX40" fmla="*/ 372962 w 1075004"/>
                <a:gd name="connsiteY40" fmla="*/ 287905 h 652173"/>
                <a:gd name="connsiteX41" fmla="*/ 355936 w 1075004"/>
                <a:gd name="connsiteY41" fmla="*/ 270880 h 652173"/>
                <a:gd name="connsiteX42" fmla="*/ 372962 w 1075004"/>
                <a:gd name="connsiteY42" fmla="*/ 253854 h 652173"/>
                <a:gd name="connsiteX43" fmla="*/ 398670 w 1075004"/>
                <a:gd name="connsiteY43" fmla="*/ 253854 h 652173"/>
                <a:gd name="connsiteX44" fmla="*/ 398670 w 1075004"/>
                <a:gd name="connsiteY44" fmla="*/ 226224 h 652173"/>
                <a:gd name="connsiteX45" fmla="*/ 399282 w 1075004"/>
                <a:gd name="connsiteY45" fmla="*/ 224745 h 652173"/>
                <a:gd name="connsiteX46" fmla="*/ 397876 w 1075004"/>
                <a:gd name="connsiteY46" fmla="*/ 220285 h 652173"/>
                <a:gd name="connsiteX47" fmla="*/ 416321 w 1075004"/>
                <a:gd name="connsiteY47" fmla="*/ 204807 h 652173"/>
                <a:gd name="connsiteX48" fmla="*/ 766843 w 1075004"/>
                <a:gd name="connsiteY48" fmla="*/ 235474 h 652173"/>
                <a:gd name="connsiteX49" fmla="*/ 782320 w 1075004"/>
                <a:gd name="connsiteY49" fmla="*/ 253919 h 652173"/>
                <a:gd name="connsiteX50" fmla="*/ 787242 w 1075004"/>
                <a:gd name="connsiteY50" fmla="*/ 326087 h 652173"/>
                <a:gd name="connsiteX51" fmla="*/ 785600 w 1075004"/>
                <a:gd name="connsiteY51" fmla="*/ 324445 h 652173"/>
                <a:gd name="connsiteX52" fmla="*/ 785600 w 1075004"/>
                <a:gd name="connsiteY52" fmla="*/ 237207 h 652173"/>
                <a:gd name="connsiteX53" fmla="*/ 722116 w 1075004"/>
                <a:gd name="connsiteY53" fmla="*/ 173722 h 652173"/>
                <a:gd name="connsiteX54" fmla="*/ 634876 w 1075004"/>
                <a:gd name="connsiteY54" fmla="*/ 173722 h 652173"/>
                <a:gd name="connsiteX55" fmla="*/ 556664 w 1075004"/>
                <a:gd name="connsiteY55" fmla="*/ 95509 h 652173"/>
                <a:gd name="connsiteX56" fmla="*/ 95508 w 1075004"/>
                <a:gd name="connsiteY56" fmla="*/ 95509 h 652173"/>
                <a:gd name="connsiteX57" fmla="*/ 0 w 1075004"/>
                <a:gd name="connsiteY57" fmla="*/ 326087 h 652173"/>
                <a:gd name="connsiteX58" fmla="*/ 95508 w 1075004"/>
                <a:gd name="connsiteY58" fmla="*/ 556665 h 652173"/>
                <a:gd name="connsiteX59" fmla="*/ 556665 w 1075004"/>
                <a:gd name="connsiteY59" fmla="*/ 556665 h 652173"/>
                <a:gd name="connsiteX60" fmla="*/ 634877 w 1075004"/>
                <a:gd name="connsiteY60" fmla="*/ 478452 h 652173"/>
                <a:gd name="connsiteX61" fmla="*/ 722116 w 1075004"/>
                <a:gd name="connsiteY61" fmla="*/ 478453 h 652173"/>
                <a:gd name="connsiteX62" fmla="*/ 785600 w 1075004"/>
                <a:gd name="connsiteY62" fmla="*/ 414968 h 652173"/>
                <a:gd name="connsiteX63" fmla="*/ 785600 w 1075004"/>
                <a:gd name="connsiteY63" fmla="*/ 327729 h 652173"/>
                <a:gd name="connsiteX64" fmla="*/ 893383 w 1075004"/>
                <a:gd name="connsiteY64" fmla="*/ 437430 h 652173"/>
                <a:gd name="connsiteX65" fmla="*/ 893383 w 1075004"/>
                <a:gd name="connsiteY65" fmla="*/ 214743 h 652173"/>
                <a:gd name="connsiteX66" fmla="*/ 864082 w 1075004"/>
                <a:gd name="connsiteY66" fmla="*/ 185442 h 652173"/>
                <a:gd name="connsiteX67" fmla="*/ 834781 w 1075004"/>
                <a:gd name="connsiteY67" fmla="*/ 214743 h 652173"/>
                <a:gd name="connsiteX68" fmla="*/ 834781 w 1075004"/>
                <a:gd name="connsiteY68" fmla="*/ 437431 h 652173"/>
                <a:gd name="connsiteX69" fmla="*/ 864082 w 1075004"/>
                <a:gd name="connsiteY69" fmla="*/ 466732 h 652173"/>
                <a:gd name="connsiteX70" fmla="*/ 864082 w 1075004"/>
                <a:gd name="connsiteY70" fmla="*/ 466731 h 652173"/>
                <a:gd name="connsiteX71" fmla="*/ 893383 w 1075004"/>
                <a:gd name="connsiteY71" fmla="*/ 437430 h 652173"/>
                <a:gd name="connsiteX72" fmla="*/ 984194 w 1075004"/>
                <a:gd name="connsiteY72" fmla="*/ 425710 h 652173"/>
                <a:gd name="connsiteX73" fmla="*/ 984193 w 1075004"/>
                <a:gd name="connsiteY73" fmla="*/ 226464 h 652173"/>
                <a:gd name="connsiteX74" fmla="*/ 954893 w 1075004"/>
                <a:gd name="connsiteY74" fmla="*/ 197162 h 652173"/>
                <a:gd name="connsiteX75" fmla="*/ 925591 w 1075004"/>
                <a:gd name="connsiteY75" fmla="*/ 226464 h 652173"/>
                <a:gd name="connsiteX76" fmla="*/ 925591 w 1075004"/>
                <a:gd name="connsiteY76" fmla="*/ 425710 h 652173"/>
                <a:gd name="connsiteX77" fmla="*/ 954893 w 1075004"/>
                <a:gd name="connsiteY77" fmla="*/ 455012 h 652173"/>
                <a:gd name="connsiteX78" fmla="*/ 954893 w 1075004"/>
                <a:gd name="connsiteY78" fmla="*/ 455011 h 652173"/>
                <a:gd name="connsiteX79" fmla="*/ 984194 w 1075004"/>
                <a:gd name="connsiteY79" fmla="*/ 425710 h 652173"/>
                <a:gd name="connsiteX80" fmla="*/ 1075004 w 1075004"/>
                <a:gd name="connsiteY80" fmla="*/ 402269 h 652173"/>
                <a:gd name="connsiteX81" fmla="*/ 1075004 w 1075004"/>
                <a:gd name="connsiteY81" fmla="*/ 249904 h 652173"/>
                <a:gd name="connsiteX82" fmla="*/ 1045703 w 1075004"/>
                <a:gd name="connsiteY82" fmla="*/ 220603 h 652173"/>
                <a:gd name="connsiteX83" fmla="*/ 1016402 w 1075004"/>
                <a:gd name="connsiteY83" fmla="*/ 249904 h 652173"/>
                <a:gd name="connsiteX84" fmla="*/ 1016402 w 1075004"/>
                <a:gd name="connsiteY84" fmla="*/ 402269 h 652173"/>
                <a:gd name="connsiteX85" fmla="*/ 1045703 w 1075004"/>
                <a:gd name="connsiteY85" fmla="*/ 431570 h 652173"/>
                <a:gd name="connsiteX86" fmla="*/ 1045703 w 1075004"/>
                <a:gd name="connsiteY86" fmla="*/ 431570 h 652173"/>
                <a:gd name="connsiteX87" fmla="*/ 1075004 w 1075004"/>
                <a:gd name="connsiteY87" fmla="*/ 402269 h 652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1075004" h="652173">
                  <a:moveTo>
                    <a:pt x="782320" y="253919"/>
                  </a:moveTo>
                  <a:cubicBezTo>
                    <a:pt x="781500" y="263286"/>
                    <a:pt x="773242" y="270216"/>
                    <a:pt x="763875" y="269396"/>
                  </a:cubicBezTo>
                  <a:cubicBezTo>
                    <a:pt x="649707" y="259408"/>
                    <a:pt x="535539" y="249420"/>
                    <a:pt x="421371" y="239431"/>
                  </a:cubicBezTo>
                  <a:lnTo>
                    <a:pt x="421370" y="253854"/>
                  </a:lnTo>
                  <a:lnTo>
                    <a:pt x="447078" y="253854"/>
                  </a:lnTo>
                  <a:cubicBezTo>
                    <a:pt x="456482" y="253853"/>
                    <a:pt x="464104" y="261477"/>
                    <a:pt x="464104" y="270880"/>
                  </a:cubicBezTo>
                  <a:lnTo>
                    <a:pt x="464104" y="270879"/>
                  </a:lnTo>
                  <a:cubicBezTo>
                    <a:pt x="464104" y="280282"/>
                    <a:pt x="456482" y="287905"/>
                    <a:pt x="447079" y="287905"/>
                  </a:cubicBezTo>
                  <a:cubicBezTo>
                    <a:pt x="438509" y="287905"/>
                    <a:pt x="429940" y="287905"/>
                    <a:pt x="421371" y="287905"/>
                  </a:cubicBezTo>
                  <a:lnTo>
                    <a:pt x="421371" y="311227"/>
                  </a:lnTo>
                  <a:lnTo>
                    <a:pt x="447078" y="311227"/>
                  </a:lnTo>
                  <a:cubicBezTo>
                    <a:pt x="456482" y="311227"/>
                    <a:pt x="464104" y="318850"/>
                    <a:pt x="464104" y="328253"/>
                  </a:cubicBezTo>
                  <a:lnTo>
                    <a:pt x="464104" y="328253"/>
                  </a:lnTo>
                  <a:cubicBezTo>
                    <a:pt x="464104" y="337655"/>
                    <a:pt x="456482" y="345279"/>
                    <a:pt x="447079" y="345279"/>
                  </a:cubicBezTo>
                  <a:cubicBezTo>
                    <a:pt x="438510" y="345279"/>
                    <a:pt x="429940" y="345279"/>
                    <a:pt x="421371" y="345279"/>
                  </a:cubicBezTo>
                  <a:lnTo>
                    <a:pt x="421371" y="368601"/>
                  </a:lnTo>
                  <a:lnTo>
                    <a:pt x="447078" y="368601"/>
                  </a:lnTo>
                  <a:cubicBezTo>
                    <a:pt x="456482" y="368601"/>
                    <a:pt x="464104" y="376224"/>
                    <a:pt x="464104" y="385627"/>
                  </a:cubicBezTo>
                  <a:lnTo>
                    <a:pt x="464104" y="385627"/>
                  </a:lnTo>
                  <a:cubicBezTo>
                    <a:pt x="464104" y="395030"/>
                    <a:pt x="456481" y="402652"/>
                    <a:pt x="447079" y="402653"/>
                  </a:cubicBezTo>
                  <a:cubicBezTo>
                    <a:pt x="438509" y="402653"/>
                    <a:pt x="429940" y="402652"/>
                    <a:pt x="421371" y="402653"/>
                  </a:cubicBezTo>
                  <a:lnTo>
                    <a:pt x="421370" y="417162"/>
                  </a:lnTo>
                  <a:lnTo>
                    <a:pt x="762268" y="381333"/>
                  </a:lnTo>
                  <a:cubicBezTo>
                    <a:pt x="771619" y="380350"/>
                    <a:pt x="779997" y="387134"/>
                    <a:pt x="780980" y="396486"/>
                  </a:cubicBezTo>
                  <a:cubicBezTo>
                    <a:pt x="781963" y="405837"/>
                    <a:pt x="775179" y="414214"/>
                    <a:pt x="765828" y="415197"/>
                  </a:cubicBezTo>
                  <a:cubicBezTo>
                    <a:pt x="649182" y="427457"/>
                    <a:pt x="532538" y="439718"/>
                    <a:pt x="415893" y="451977"/>
                  </a:cubicBezTo>
                  <a:cubicBezTo>
                    <a:pt x="406541" y="452960"/>
                    <a:pt x="398164" y="446176"/>
                    <a:pt x="397181" y="436824"/>
                  </a:cubicBezTo>
                  <a:cubicBezTo>
                    <a:pt x="396959" y="434720"/>
                    <a:pt x="397132" y="432665"/>
                    <a:pt x="398889" y="431060"/>
                  </a:cubicBezTo>
                  <a:lnTo>
                    <a:pt x="398669" y="430531"/>
                  </a:lnTo>
                  <a:lnTo>
                    <a:pt x="398669" y="402653"/>
                  </a:lnTo>
                  <a:lnTo>
                    <a:pt x="372962" y="402653"/>
                  </a:lnTo>
                  <a:cubicBezTo>
                    <a:pt x="363559" y="402653"/>
                    <a:pt x="355936" y="395031"/>
                    <a:pt x="355936" y="385627"/>
                  </a:cubicBezTo>
                  <a:cubicBezTo>
                    <a:pt x="355936" y="376224"/>
                    <a:pt x="363559" y="368601"/>
                    <a:pt x="372962" y="368601"/>
                  </a:cubicBezTo>
                  <a:lnTo>
                    <a:pt x="398669" y="368601"/>
                  </a:lnTo>
                  <a:lnTo>
                    <a:pt x="398670" y="345279"/>
                  </a:lnTo>
                  <a:lnTo>
                    <a:pt x="372962" y="345279"/>
                  </a:lnTo>
                  <a:cubicBezTo>
                    <a:pt x="363559" y="345279"/>
                    <a:pt x="355937" y="337656"/>
                    <a:pt x="355936" y="328253"/>
                  </a:cubicBezTo>
                  <a:cubicBezTo>
                    <a:pt x="355937" y="318850"/>
                    <a:pt x="363559" y="311227"/>
                    <a:pt x="372962" y="311228"/>
                  </a:cubicBezTo>
                  <a:lnTo>
                    <a:pt x="398669" y="311227"/>
                  </a:lnTo>
                  <a:lnTo>
                    <a:pt x="398669" y="287905"/>
                  </a:lnTo>
                  <a:lnTo>
                    <a:pt x="372962" y="287905"/>
                  </a:lnTo>
                  <a:cubicBezTo>
                    <a:pt x="363559" y="287905"/>
                    <a:pt x="355936" y="280283"/>
                    <a:pt x="355936" y="270880"/>
                  </a:cubicBezTo>
                  <a:cubicBezTo>
                    <a:pt x="355936" y="261477"/>
                    <a:pt x="363559" y="253854"/>
                    <a:pt x="372962" y="253854"/>
                  </a:cubicBezTo>
                  <a:lnTo>
                    <a:pt x="398670" y="253854"/>
                  </a:lnTo>
                  <a:lnTo>
                    <a:pt x="398670" y="226224"/>
                  </a:lnTo>
                  <a:cubicBezTo>
                    <a:pt x="398670" y="225699"/>
                    <a:pt x="398705" y="225182"/>
                    <a:pt x="399282" y="224745"/>
                  </a:cubicBezTo>
                  <a:lnTo>
                    <a:pt x="397876" y="220285"/>
                  </a:lnTo>
                  <a:cubicBezTo>
                    <a:pt x="398695" y="210917"/>
                    <a:pt x="406953" y="203988"/>
                    <a:pt x="416321" y="204807"/>
                  </a:cubicBezTo>
                  <a:lnTo>
                    <a:pt x="766843" y="235474"/>
                  </a:lnTo>
                  <a:cubicBezTo>
                    <a:pt x="776210" y="236294"/>
                    <a:pt x="783140" y="244551"/>
                    <a:pt x="782320" y="253919"/>
                  </a:cubicBezTo>
                  <a:close/>
                  <a:moveTo>
                    <a:pt x="787242" y="326087"/>
                  </a:moveTo>
                  <a:lnTo>
                    <a:pt x="785600" y="324445"/>
                  </a:lnTo>
                  <a:lnTo>
                    <a:pt x="785600" y="237207"/>
                  </a:lnTo>
                  <a:cubicBezTo>
                    <a:pt x="785600" y="202145"/>
                    <a:pt x="757177" y="173722"/>
                    <a:pt x="722116" y="173722"/>
                  </a:cubicBezTo>
                  <a:lnTo>
                    <a:pt x="634876" y="173722"/>
                  </a:lnTo>
                  <a:cubicBezTo>
                    <a:pt x="608806" y="147651"/>
                    <a:pt x="582735" y="121579"/>
                    <a:pt x="556664" y="95509"/>
                  </a:cubicBezTo>
                  <a:cubicBezTo>
                    <a:pt x="429319" y="-31836"/>
                    <a:pt x="222853" y="-31836"/>
                    <a:pt x="95508" y="95509"/>
                  </a:cubicBezTo>
                  <a:cubicBezTo>
                    <a:pt x="31836" y="159181"/>
                    <a:pt x="0" y="242634"/>
                    <a:pt x="0" y="326087"/>
                  </a:cubicBezTo>
                  <a:cubicBezTo>
                    <a:pt x="0" y="409540"/>
                    <a:pt x="31836" y="492992"/>
                    <a:pt x="95508" y="556665"/>
                  </a:cubicBezTo>
                  <a:cubicBezTo>
                    <a:pt x="222853" y="684010"/>
                    <a:pt x="429320" y="684010"/>
                    <a:pt x="556665" y="556665"/>
                  </a:cubicBezTo>
                  <a:lnTo>
                    <a:pt x="634877" y="478452"/>
                  </a:lnTo>
                  <a:lnTo>
                    <a:pt x="722116" y="478453"/>
                  </a:lnTo>
                  <a:cubicBezTo>
                    <a:pt x="757178" y="478452"/>
                    <a:pt x="785600" y="450030"/>
                    <a:pt x="785600" y="414968"/>
                  </a:cubicBezTo>
                  <a:lnTo>
                    <a:pt x="785600" y="327729"/>
                  </a:lnTo>
                  <a:close/>
                  <a:moveTo>
                    <a:pt x="893383" y="437430"/>
                  </a:moveTo>
                  <a:lnTo>
                    <a:pt x="893383" y="214743"/>
                  </a:lnTo>
                  <a:cubicBezTo>
                    <a:pt x="893383" y="198561"/>
                    <a:pt x="880265" y="185442"/>
                    <a:pt x="864082" y="185442"/>
                  </a:cubicBezTo>
                  <a:cubicBezTo>
                    <a:pt x="847900" y="185442"/>
                    <a:pt x="834781" y="198561"/>
                    <a:pt x="834781" y="214743"/>
                  </a:cubicBezTo>
                  <a:lnTo>
                    <a:pt x="834781" y="437431"/>
                  </a:lnTo>
                  <a:cubicBezTo>
                    <a:pt x="834781" y="453613"/>
                    <a:pt x="847900" y="466732"/>
                    <a:pt x="864082" y="466732"/>
                  </a:cubicBezTo>
                  <a:lnTo>
                    <a:pt x="864082" y="466731"/>
                  </a:lnTo>
                  <a:cubicBezTo>
                    <a:pt x="880265" y="466731"/>
                    <a:pt x="893383" y="453613"/>
                    <a:pt x="893383" y="437430"/>
                  </a:cubicBezTo>
                  <a:close/>
                  <a:moveTo>
                    <a:pt x="984194" y="425710"/>
                  </a:moveTo>
                  <a:lnTo>
                    <a:pt x="984193" y="226464"/>
                  </a:lnTo>
                  <a:cubicBezTo>
                    <a:pt x="984193" y="210281"/>
                    <a:pt x="971075" y="197163"/>
                    <a:pt x="954893" y="197162"/>
                  </a:cubicBezTo>
                  <a:cubicBezTo>
                    <a:pt x="938710" y="197163"/>
                    <a:pt x="925591" y="210281"/>
                    <a:pt x="925591" y="226464"/>
                  </a:cubicBezTo>
                  <a:lnTo>
                    <a:pt x="925591" y="425710"/>
                  </a:lnTo>
                  <a:cubicBezTo>
                    <a:pt x="925591" y="441893"/>
                    <a:pt x="938710" y="455012"/>
                    <a:pt x="954893" y="455012"/>
                  </a:cubicBezTo>
                  <a:lnTo>
                    <a:pt x="954893" y="455011"/>
                  </a:lnTo>
                  <a:cubicBezTo>
                    <a:pt x="971075" y="455011"/>
                    <a:pt x="984194" y="441892"/>
                    <a:pt x="984194" y="425710"/>
                  </a:cubicBezTo>
                  <a:close/>
                  <a:moveTo>
                    <a:pt x="1075004" y="402269"/>
                  </a:moveTo>
                  <a:lnTo>
                    <a:pt x="1075004" y="249904"/>
                  </a:lnTo>
                  <a:cubicBezTo>
                    <a:pt x="1075004" y="233721"/>
                    <a:pt x="1061885" y="220603"/>
                    <a:pt x="1045703" y="220603"/>
                  </a:cubicBezTo>
                  <a:cubicBezTo>
                    <a:pt x="1029520" y="220603"/>
                    <a:pt x="1016402" y="233721"/>
                    <a:pt x="1016402" y="249904"/>
                  </a:cubicBezTo>
                  <a:lnTo>
                    <a:pt x="1016402" y="402269"/>
                  </a:lnTo>
                  <a:cubicBezTo>
                    <a:pt x="1016402" y="418452"/>
                    <a:pt x="1029520" y="431570"/>
                    <a:pt x="1045703" y="431570"/>
                  </a:cubicBezTo>
                  <a:lnTo>
                    <a:pt x="1045703" y="431570"/>
                  </a:lnTo>
                  <a:cubicBezTo>
                    <a:pt x="1061885" y="431570"/>
                    <a:pt x="1075004" y="418451"/>
                    <a:pt x="1075004" y="402269"/>
                  </a:cubicBez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7DBFF38-2603-4BBB-879B-F729F9F1A783}"/>
              </a:ext>
            </a:extLst>
          </p:cNvPr>
          <p:cNvGrpSpPr/>
          <p:nvPr/>
        </p:nvGrpSpPr>
        <p:grpSpPr>
          <a:xfrm>
            <a:off x="3158599" y="-1847"/>
            <a:ext cx="762976" cy="2936601"/>
            <a:chOff x="3158599" y="-1847"/>
            <a:chExt cx="762976" cy="2936601"/>
          </a:xfrm>
          <a:solidFill>
            <a:srgbClr val="565874"/>
          </a:solidFill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18731B5-7186-4968-8EA2-15BA561CF831}"/>
                </a:ext>
              </a:extLst>
            </p:cNvPr>
            <p:cNvSpPr/>
            <p:nvPr/>
          </p:nvSpPr>
          <p:spPr>
            <a:xfrm>
              <a:off x="3501625" y="-1847"/>
              <a:ext cx="72000" cy="1737360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28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566AFD95-FDF2-4D58-BBBE-E7AB35200B4C}"/>
                </a:ext>
              </a:extLst>
            </p:cNvPr>
            <p:cNvSpPr/>
            <p:nvPr/>
          </p:nvSpPr>
          <p:spPr>
            <a:xfrm rot="5400000" flipH="1">
              <a:off x="2911264" y="1924443"/>
              <a:ext cx="1257646" cy="762976"/>
            </a:xfrm>
            <a:custGeom>
              <a:avLst/>
              <a:gdLst>
                <a:gd name="connsiteX0" fmla="*/ 782320 w 1075004"/>
                <a:gd name="connsiteY0" fmla="*/ 253919 h 652173"/>
                <a:gd name="connsiteX1" fmla="*/ 763875 w 1075004"/>
                <a:gd name="connsiteY1" fmla="*/ 269396 h 652173"/>
                <a:gd name="connsiteX2" fmla="*/ 421371 w 1075004"/>
                <a:gd name="connsiteY2" fmla="*/ 239431 h 652173"/>
                <a:gd name="connsiteX3" fmla="*/ 421370 w 1075004"/>
                <a:gd name="connsiteY3" fmla="*/ 253854 h 652173"/>
                <a:gd name="connsiteX4" fmla="*/ 447078 w 1075004"/>
                <a:gd name="connsiteY4" fmla="*/ 253854 h 652173"/>
                <a:gd name="connsiteX5" fmla="*/ 464104 w 1075004"/>
                <a:gd name="connsiteY5" fmla="*/ 270880 h 652173"/>
                <a:gd name="connsiteX6" fmla="*/ 464104 w 1075004"/>
                <a:gd name="connsiteY6" fmla="*/ 270879 h 652173"/>
                <a:gd name="connsiteX7" fmla="*/ 447079 w 1075004"/>
                <a:gd name="connsiteY7" fmla="*/ 287905 h 652173"/>
                <a:gd name="connsiteX8" fmla="*/ 421371 w 1075004"/>
                <a:gd name="connsiteY8" fmla="*/ 287905 h 652173"/>
                <a:gd name="connsiteX9" fmla="*/ 421371 w 1075004"/>
                <a:gd name="connsiteY9" fmla="*/ 311227 h 652173"/>
                <a:gd name="connsiteX10" fmla="*/ 447078 w 1075004"/>
                <a:gd name="connsiteY10" fmla="*/ 311227 h 652173"/>
                <a:gd name="connsiteX11" fmla="*/ 464104 w 1075004"/>
                <a:gd name="connsiteY11" fmla="*/ 328253 h 652173"/>
                <a:gd name="connsiteX12" fmla="*/ 464104 w 1075004"/>
                <a:gd name="connsiteY12" fmla="*/ 328253 h 652173"/>
                <a:gd name="connsiteX13" fmla="*/ 447079 w 1075004"/>
                <a:gd name="connsiteY13" fmla="*/ 345278 h 652173"/>
                <a:gd name="connsiteX14" fmla="*/ 421371 w 1075004"/>
                <a:gd name="connsiteY14" fmla="*/ 345279 h 652173"/>
                <a:gd name="connsiteX15" fmla="*/ 421371 w 1075004"/>
                <a:gd name="connsiteY15" fmla="*/ 368601 h 652173"/>
                <a:gd name="connsiteX16" fmla="*/ 447078 w 1075004"/>
                <a:gd name="connsiteY16" fmla="*/ 368601 h 652173"/>
                <a:gd name="connsiteX17" fmla="*/ 464104 w 1075004"/>
                <a:gd name="connsiteY17" fmla="*/ 385627 h 652173"/>
                <a:gd name="connsiteX18" fmla="*/ 464104 w 1075004"/>
                <a:gd name="connsiteY18" fmla="*/ 385627 h 652173"/>
                <a:gd name="connsiteX19" fmla="*/ 447079 w 1075004"/>
                <a:gd name="connsiteY19" fmla="*/ 402652 h 652173"/>
                <a:gd name="connsiteX20" fmla="*/ 421371 w 1075004"/>
                <a:gd name="connsiteY20" fmla="*/ 402652 h 652173"/>
                <a:gd name="connsiteX21" fmla="*/ 421370 w 1075004"/>
                <a:gd name="connsiteY21" fmla="*/ 417162 h 652173"/>
                <a:gd name="connsiteX22" fmla="*/ 762268 w 1075004"/>
                <a:gd name="connsiteY22" fmla="*/ 381332 h 652173"/>
                <a:gd name="connsiteX23" fmla="*/ 780980 w 1075004"/>
                <a:gd name="connsiteY23" fmla="*/ 396486 h 652173"/>
                <a:gd name="connsiteX24" fmla="*/ 765828 w 1075004"/>
                <a:gd name="connsiteY24" fmla="*/ 415197 h 652173"/>
                <a:gd name="connsiteX25" fmla="*/ 415893 w 1075004"/>
                <a:gd name="connsiteY25" fmla="*/ 451977 h 652173"/>
                <a:gd name="connsiteX26" fmla="*/ 397181 w 1075004"/>
                <a:gd name="connsiteY26" fmla="*/ 436824 h 652173"/>
                <a:gd name="connsiteX27" fmla="*/ 398889 w 1075004"/>
                <a:gd name="connsiteY27" fmla="*/ 431060 h 652173"/>
                <a:gd name="connsiteX28" fmla="*/ 398669 w 1075004"/>
                <a:gd name="connsiteY28" fmla="*/ 430530 h 652173"/>
                <a:gd name="connsiteX29" fmla="*/ 398669 w 1075004"/>
                <a:gd name="connsiteY29" fmla="*/ 402652 h 652173"/>
                <a:gd name="connsiteX30" fmla="*/ 372962 w 1075004"/>
                <a:gd name="connsiteY30" fmla="*/ 402653 h 652173"/>
                <a:gd name="connsiteX31" fmla="*/ 355936 w 1075004"/>
                <a:gd name="connsiteY31" fmla="*/ 385627 h 652173"/>
                <a:gd name="connsiteX32" fmla="*/ 372962 w 1075004"/>
                <a:gd name="connsiteY32" fmla="*/ 368601 h 652173"/>
                <a:gd name="connsiteX33" fmla="*/ 398669 w 1075004"/>
                <a:gd name="connsiteY33" fmla="*/ 368601 h 652173"/>
                <a:gd name="connsiteX34" fmla="*/ 398670 w 1075004"/>
                <a:gd name="connsiteY34" fmla="*/ 345279 h 652173"/>
                <a:gd name="connsiteX35" fmla="*/ 372962 w 1075004"/>
                <a:gd name="connsiteY35" fmla="*/ 345279 h 652173"/>
                <a:gd name="connsiteX36" fmla="*/ 355936 w 1075004"/>
                <a:gd name="connsiteY36" fmla="*/ 328253 h 652173"/>
                <a:gd name="connsiteX37" fmla="*/ 372962 w 1075004"/>
                <a:gd name="connsiteY37" fmla="*/ 311228 h 652173"/>
                <a:gd name="connsiteX38" fmla="*/ 398669 w 1075004"/>
                <a:gd name="connsiteY38" fmla="*/ 311227 h 652173"/>
                <a:gd name="connsiteX39" fmla="*/ 398669 w 1075004"/>
                <a:gd name="connsiteY39" fmla="*/ 287905 h 652173"/>
                <a:gd name="connsiteX40" fmla="*/ 372962 w 1075004"/>
                <a:gd name="connsiteY40" fmla="*/ 287905 h 652173"/>
                <a:gd name="connsiteX41" fmla="*/ 355936 w 1075004"/>
                <a:gd name="connsiteY41" fmla="*/ 270880 h 652173"/>
                <a:gd name="connsiteX42" fmla="*/ 372962 w 1075004"/>
                <a:gd name="connsiteY42" fmla="*/ 253854 h 652173"/>
                <a:gd name="connsiteX43" fmla="*/ 398670 w 1075004"/>
                <a:gd name="connsiteY43" fmla="*/ 253854 h 652173"/>
                <a:gd name="connsiteX44" fmla="*/ 398670 w 1075004"/>
                <a:gd name="connsiteY44" fmla="*/ 226224 h 652173"/>
                <a:gd name="connsiteX45" fmla="*/ 399282 w 1075004"/>
                <a:gd name="connsiteY45" fmla="*/ 224745 h 652173"/>
                <a:gd name="connsiteX46" fmla="*/ 397876 w 1075004"/>
                <a:gd name="connsiteY46" fmla="*/ 220285 h 652173"/>
                <a:gd name="connsiteX47" fmla="*/ 416321 w 1075004"/>
                <a:gd name="connsiteY47" fmla="*/ 204807 h 652173"/>
                <a:gd name="connsiteX48" fmla="*/ 766843 w 1075004"/>
                <a:gd name="connsiteY48" fmla="*/ 235474 h 652173"/>
                <a:gd name="connsiteX49" fmla="*/ 782320 w 1075004"/>
                <a:gd name="connsiteY49" fmla="*/ 253919 h 652173"/>
                <a:gd name="connsiteX50" fmla="*/ 787242 w 1075004"/>
                <a:gd name="connsiteY50" fmla="*/ 326087 h 652173"/>
                <a:gd name="connsiteX51" fmla="*/ 785600 w 1075004"/>
                <a:gd name="connsiteY51" fmla="*/ 324445 h 652173"/>
                <a:gd name="connsiteX52" fmla="*/ 785600 w 1075004"/>
                <a:gd name="connsiteY52" fmla="*/ 237207 h 652173"/>
                <a:gd name="connsiteX53" fmla="*/ 722116 w 1075004"/>
                <a:gd name="connsiteY53" fmla="*/ 173722 h 652173"/>
                <a:gd name="connsiteX54" fmla="*/ 634876 w 1075004"/>
                <a:gd name="connsiteY54" fmla="*/ 173722 h 652173"/>
                <a:gd name="connsiteX55" fmla="*/ 556664 w 1075004"/>
                <a:gd name="connsiteY55" fmla="*/ 95509 h 652173"/>
                <a:gd name="connsiteX56" fmla="*/ 95508 w 1075004"/>
                <a:gd name="connsiteY56" fmla="*/ 95509 h 652173"/>
                <a:gd name="connsiteX57" fmla="*/ 0 w 1075004"/>
                <a:gd name="connsiteY57" fmla="*/ 326087 h 652173"/>
                <a:gd name="connsiteX58" fmla="*/ 95508 w 1075004"/>
                <a:gd name="connsiteY58" fmla="*/ 556665 h 652173"/>
                <a:gd name="connsiteX59" fmla="*/ 556665 w 1075004"/>
                <a:gd name="connsiteY59" fmla="*/ 556665 h 652173"/>
                <a:gd name="connsiteX60" fmla="*/ 634877 w 1075004"/>
                <a:gd name="connsiteY60" fmla="*/ 478452 h 652173"/>
                <a:gd name="connsiteX61" fmla="*/ 722116 w 1075004"/>
                <a:gd name="connsiteY61" fmla="*/ 478453 h 652173"/>
                <a:gd name="connsiteX62" fmla="*/ 785600 w 1075004"/>
                <a:gd name="connsiteY62" fmla="*/ 414968 h 652173"/>
                <a:gd name="connsiteX63" fmla="*/ 785600 w 1075004"/>
                <a:gd name="connsiteY63" fmla="*/ 327729 h 652173"/>
                <a:gd name="connsiteX64" fmla="*/ 893383 w 1075004"/>
                <a:gd name="connsiteY64" fmla="*/ 437430 h 652173"/>
                <a:gd name="connsiteX65" fmla="*/ 893383 w 1075004"/>
                <a:gd name="connsiteY65" fmla="*/ 214743 h 652173"/>
                <a:gd name="connsiteX66" fmla="*/ 864082 w 1075004"/>
                <a:gd name="connsiteY66" fmla="*/ 185442 h 652173"/>
                <a:gd name="connsiteX67" fmla="*/ 834781 w 1075004"/>
                <a:gd name="connsiteY67" fmla="*/ 214743 h 652173"/>
                <a:gd name="connsiteX68" fmla="*/ 834781 w 1075004"/>
                <a:gd name="connsiteY68" fmla="*/ 437431 h 652173"/>
                <a:gd name="connsiteX69" fmla="*/ 864082 w 1075004"/>
                <a:gd name="connsiteY69" fmla="*/ 466732 h 652173"/>
                <a:gd name="connsiteX70" fmla="*/ 864082 w 1075004"/>
                <a:gd name="connsiteY70" fmla="*/ 466731 h 652173"/>
                <a:gd name="connsiteX71" fmla="*/ 893383 w 1075004"/>
                <a:gd name="connsiteY71" fmla="*/ 437430 h 652173"/>
                <a:gd name="connsiteX72" fmla="*/ 984194 w 1075004"/>
                <a:gd name="connsiteY72" fmla="*/ 425710 h 652173"/>
                <a:gd name="connsiteX73" fmla="*/ 984193 w 1075004"/>
                <a:gd name="connsiteY73" fmla="*/ 226464 h 652173"/>
                <a:gd name="connsiteX74" fmla="*/ 954892 w 1075004"/>
                <a:gd name="connsiteY74" fmla="*/ 197162 h 652173"/>
                <a:gd name="connsiteX75" fmla="*/ 925591 w 1075004"/>
                <a:gd name="connsiteY75" fmla="*/ 226464 h 652173"/>
                <a:gd name="connsiteX76" fmla="*/ 925591 w 1075004"/>
                <a:gd name="connsiteY76" fmla="*/ 425710 h 652173"/>
                <a:gd name="connsiteX77" fmla="*/ 954892 w 1075004"/>
                <a:gd name="connsiteY77" fmla="*/ 455011 h 652173"/>
                <a:gd name="connsiteX78" fmla="*/ 954892 w 1075004"/>
                <a:gd name="connsiteY78" fmla="*/ 455011 h 652173"/>
                <a:gd name="connsiteX79" fmla="*/ 984194 w 1075004"/>
                <a:gd name="connsiteY79" fmla="*/ 425710 h 652173"/>
                <a:gd name="connsiteX80" fmla="*/ 1075004 w 1075004"/>
                <a:gd name="connsiteY80" fmla="*/ 402268 h 652173"/>
                <a:gd name="connsiteX81" fmla="*/ 1075004 w 1075004"/>
                <a:gd name="connsiteY81" fmla="*/ 249904 h 652173"/>
                <a:gd name="connsiteX82" fmla="*/ 1045703 w 1075004"/>
                <a:gd name="connsiteY82" fmla="*/ 220603 h 652173"/>
                <a:gd name="connsiteX83" fmla="*/ 1016402 w 1075004"/>
                <a:gd name="connsiteY83" fmla="*/ 249904 h 652173"/>
                <a:gd name="connsiteX84" fmla="*/ 1016402 w 1075004"/>
                <a:gd name="connsiteY84" fmla="*/ 402269 h 652173"/>
                <a:gd name="connsiteX85" fmla="*/ 1045703 w 1075004"/>
                <a:gd name="connsiteY85" fmla="*/ 431570 h 652173"/>
                <a:gd name="connsiteX86" fmla="*/ 1045703 w 1075004"/>
                <a:gd name="connsiteY86" fmla="*/ 431570 h 652173"/>
                <a:gd name="connsiteX87" fmla="*/ 1075004 w 1075004"/>
                <a:gd name="connsiteY87" fmla="*/ 402268 h 652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1075004" h="652173">
                  <a:moveTo>
                    <a:pt x="782320" y="253919"/>
                  </a:moveTo>
                  <a:cubicBezTo>
                    <a:pt x="781500" y="263286"/>
                    <a:pt x="773242" y="270215"/>
                    <a:pt x="763875" y="269396"/>
                  </a:cubicBezTo>
                  <a:cubicBezTo>
                    <a:pt x="649707" y="259408"/>
                    <a:pt x="535539" y="249420"/>
                    <a:pt x="421371" y="239431"/>
                  </a:cubicBezTo>
                  <a:lnTo>
                    <a:pt x="421370" y="253854"/>
                  </a:lnTo>
                  <a:lnTo>
                    <a:pt x="447078" y="253854"/>
                  </a:lnTo>
                  <a:cubicBezTo>
                    <a:pt x="456482" y="253853"/>
                    <a:pt x="464104" y="261476"/>
                    <a:pt x="464104" y="270880"/>
                  </a:cubicBezTo>
                  <a:lnTo>
                    <a:pt x="464104" y="270879"/>
                  </a:lnTo>
                  <a:cubicBezTo>
                    <a:pt x="464104" y="280282"/>
                    <a:pt x="456482" y="287905"/>
                    <a:pt x="447079" y="287905"/>
                  </a:cubicBezTo>
                  <a:cubicBezTo>
                    <a:pt x="438509" y="287905"/>
                    <a:pt x="429940" y="287905"/>
                    <a:pt x="421371" y="287905"/>
                  </a:cubicBezTo>
                  <a:lnTo>
                    <a:pt x="421371" y="311227"/>
                  </a:lnTo>
                  <a:lnTo>
                    <a:pt x="447078" y="311227"/>
                  </a:lnTo>
                  <a:cubicBezTo>
                    <a:pt x="456482" y="311227"/>
                    <a:pt x="464104" y="318850"/>
                    <a:pt x="464104" y="328253"/>
                  </a:cubicBezTo>
                  <a:lnTo>
                    <a:pt x="464104" y="328253"/>
                  </a:lnTo>
                  <a:cubicBezTo>
                    <a:pt x="464104" y="337655"/>
                    <a:pt x="456482" y="345278"/>
                    <a:pt x="447079" y="345278"/>
                  </a:cubicBezTo>
                  <a:cubicBezTo>
                    <a:pt x="438510" y="345278"/>
                    <a:pt x="429940" y="345278"/>
                    <a:pt x="421371" y="345279"/>
                  </a:cubicBezTo>
                  <a:lnTo>
                    <a:pt x="421371" y="368601"/>
                  </a:lnTo>
                  <a:lnTo>
                    <a:pt x="447078" y="368601"/>
                  </a:lnTo>
                  <a:cubicBezTo>
                    <a:pt x="456482" y="368601"/>
                    <a:pt x="464104" y="376223"/>
                    <a:pt x="464104" y="385627"/>
                  </a:cubicBezTo>
                  <a:lnTo>
                    <a:pt x="464104" y="385627"/>
                  </a:lnTo>
                  <a:cubicBezTo>
                    <a:pt x="464104" y="395030"/>
                    <a:pt x="456481" y="402652"/>
                    <a:pt x="447079" y="402652"/>
                  </a:cubicBezTo>
                  <a:cubicBezTo>
                    <a:pt x="438509" y="402652"/>
                    <a:pt x="429940" y="402652"/>
                    <a:pt x="421371" y="402652"/>
                  </a:cubicBezTo>
                  <a:lnTo>
                    <a:pt x="421370" y="417162"/>
                  </a:lnTo>
                  <a:lnTo>
                    <a:pt x="762268" y="381332"/>
                  </a:lnTo>
                  <a:cubicBezTo>
                    <a:pt x="771619" y="380350"/>
                    <a:pt x="779997" y="387134"/>
                    <a:pt x="780980" y="396486"/>
                  </a:cubicBezTo>
                  <a:cubicBezTo>
                    <a:pt x="781963" y="405837"/>
                    <a:pt x="775179" y="414214"/>
                    <a:pt x="765828" y="415197"/>
                  </a:cubicBezTo>
                  <a:cubicBezTo>
                    <a:pt x="649182" y="427457"/>
                    <a:pt x="532538" y="439718"/>
                    <a:pt x="415893" y="451977"/>
                  </a:cubicBezTo>
                  <a:cubicBezTo>
                    <a:pt x="406541" y="452960"/>
                    <a:pt x="398164" y="446176"/>
                    <a:pt x="397181" y="436824"/>
                  </a:cubicBezTo>
                  <a:cubicBezTo>
                    <a:pt x="396959" y="434720"/>
                    <a:pt x="397132" y="432665"/>
                    <a:pt x="398889" y="431060"/>
                  </a:cubicBezTo>
                  <a:lnTo>
                    <a:pt x="398669" y="430530"/>
                  </a:lnTo>
                  <a:lnTo>
                    <a:pt x="398669" y="402652"/>
                  </a:lnTo>
                  <a:lnTo>
                    <a:pt x="372962" y="402653"/>
                  </a:lnTo>
                  <a:cubicBezTo>
                    <a:pt x="363559" y="402653"/>
                    <a:pt x="355936" y="395031"/>
                    <a:pt x="355936" y="385627"/>
                  </a:cubicBezTo>
                  <a:cubicBezTo>
                    <a:pt x="355936" y="376224"/>
                    <a:pt x="363559" y="368601"/>
                    <a:pt x="372962" y="368601"/>
                  </a:cubicBezTo>
                  <a:lnTo>
                    <a:pt x="398669" y="368601"/>
                  </a:lnTo>
                  <a:lnTo>
                    <a:pt x="398670" y="345279"/>
                  </a:lnTo>
                  <a:lnTo>
                    <a:pt x="372962" y="345279"/>
                  </a:lnTo>
                  <a:cubicBezTo>
                    <a:pt x="363559" y="345278"/>
                    <a:pt x="355937" y="337656"/>
                    <a:pt x="355936" y="328253"/>
                  </a:cubicBezTo>
                  <a:cubicBezTo>
                    <a:pt x="355937" y="318850"/>
                    <a:pt x="363559" y="311227"/>
                    <a:pt x="372962" y="311228"/>
                  </a:cubicBezTo>
                  <a:lnTo>
                    <a:pt x="398669" y="311227"/>
                  </a:lnTo>
                  <a:lnTo>
                    <a:pt x="398669" y="287905"/>
                  </a:lnTo>
                  <a:lnTo>
                    <a:pt x="372962" y="287905"/>
                  </a:lnTo>
                  <a:cubicBezTo>
                    <a:pt x="363559" y="287905"/>
                    <a:pt x="355936" y="280283"/>
                    <a:pt x="355936" y="270880"/>
                  </a:cubicBezTo>
                  <a:cubicBezTo>
                    <a:pt x="355936" y="261476"/>
                    <a:pt x="363559" y="253854"/>
                    <a:pt x="372962" y="253854"/>
                  </a:cubicBezTo>
                  <a:lnTo>
                    <a:pt x="398670" y="253854"/>
                  </a:lnTo>
                  <a:lnTo>
                    <a:pt x="398670" y="226224"/>
                  </a:lnTo>
                  <a:cubicBezTo>
                    <a:pt x="398670" y="225699"/>
                    <a:pt x="398705" y="225182"/>
                    <a:pt x="399282" y="224745"/>
                  </a:cubicBezTo>
                  <a:lnTo>
                    <a:pt x="397876" y="220285"/>
                  </a:lnTo>
                  <a:cubicBezTo>
                    <a:pt x="398695" y="210917"/>
                    <a:pt x="406953" y="203988"/>
                    <a:pt x="416321" y="204807"/>
                  </a:cubicBezTo>
                  <a:lnTo>
                    <a:pt x="766843" y="235474"/>
                  </a:lnTo>
                  <a:cubicBezTo>
                    <a:pt x="776210" y="236294"/>
                    <a:pt x="783140" y="244551"/>
                    <a:pt x="782320" y="253919"/>
                  </a:cubicBezTo>
                  <a:close/>
                  <a:moveTo>
                    <a:pt x="787242" y="326087"/>
                  </a:moveTo>
                  <a:lnTo>
                    <a:pt x="785600" y="324445"/>
                  </a:lnTo>
                  <a:lnTo>
                    <a:pt x="785600" y="237207"/>
                  </a:lnTo>
                  <a:cubicBezTo>
                    <a:pt x="785600" y="202145"/>
                    <a:pt x="757177" y="173722"/>
                    <a:pt x="722116" y="173722"/>
                  </a:cubicBezTo>
                  <a:lnTo>
                    <a:pt x="634876" y="173722"/>
                  </a:lnTo>
                  <a:cubicBezTo>
                    <a:pt x="608806" y="147651"/>
                    <a:pt x="582735" y="121579"/>
                    <a:pt x="556664" y="95509"/>
                  </a:cubicBezTo>
                  <a:cubicBezTo>
                    <a:pt x="429319" y="-31836"/>
                    <a:pt x="222853" y="-31836"/>
                    <a:pt x="95508" y="95509"/>
                  </a:cubicBezTo>
                  <a:cubicBezTo>
                    <a:pt x="31836" y="159181"/>
                    <a:pt x="0" y="242634"/>
                    <a:pt x="0" y="326087"/>
                  </a:cubicBezTo>
                  <a:cubicBezTo>
                    <a:pt x="0" y="409540"/>
                    <a:pt x="31836" y="492992"/>
                    <a:pt x="95508" y="556665"/>
                  </a:cubicBezTo>
                  <a:cubicBezTo>
                    <a:pt x="222853" y="684010"/>
                    <a:pt x="429320" y="684010"/>
                    <a:pt x="556665" y="556665"/>
                  </a:cubicBezTo>
                  <a:lnTo>
                    <a:pt x="634877" y="478452"/>
                  </a:lnTo>
                  <a:lnTo>
                    <a:pt x="722116" y="478453"/>
                  </a:lnTo>
                  <a:cubicBezTo>
                    <a:pt x="757178" y="478452"/>
                    <a:pt x="785600" y="450029"/>
                    <a:pt x="785600" y="414968"/>
                  </a:cubicBezTo>
                  <a:lnTo>
                    <a:pt x="785600" y="327729"/>
                  </a:lnTo>
                  <a:close/>
                  <a:moveTo>
                    <a:pt x="893383" y="437430"/>
                  </a:moveTo>
                  <a:lnTo>
                    <a:pt x="893383" y="214743"/>
                  </a:lnTo>
                  <a:cubicBezTo>
                    <a:pt x="893383" y="198561"/>
                    <a:pt x="880265" y="185442"/>
                    <a:pt x="864082" y="185442"/>
                  </a:cubicBezTo>
                  <a:cubicBezTo>
                    <a:pt x="847900" y="185442"/>
                    <a:pt x="834781" y="198561"/>
                    <a:pt x="834781" y="214743"/>
                  </a:cubicBezTo>
                  <a:lnTo>
                    <a:pt x="834781" y="437431"/>
                  </a:lnTo>
                  <a:cubicBezTo>
                    <a:pt x="834781" y="453613"/>
                    <a:pt x="847900" y="466732"/>
                    <a:pt x="864082" y="466732"/>
                  </a:cubicBezTo>
                  <a:lnTo>
                    <a:pt x="864082" y="466731"/>
                  </a:lnTo>
                  <a:cubicBezTo>
                    <a:pt x="880265" y="466731"/>
                    <a:pt x="893383" y="453613"/>
                    <a:pt x="893383" y="437430"/>
                  </a:cubicBezTo>
                  <a:close/>
                  <a:moveTo>
                    <a:pt x="984194" y="425710"/>
                  </a:moveTo>
                  <a:lnTo>
                    <a:pt x="984193" y="226464"/>
                  </a:lnTo>
                  <a:cubicBezTo>
                    <a:pt x="984193" y="210281"/>
                    <a:pt x="971075" y="197163"/>
                    <a:pt x="954892" y="197162"/>
                  </a:cubicBezTo>
                  <a:cubicBezTo>
                    <a:pt x="938710" y="197163"/>
                    <a:pt x="925591" y="210281"/>
                    <a:pt x="925591" y="226464"/>
                  </a:cubicBezTo>
                  <a:lnTo>
                    <a:pt x="925591" y="425710"/>
                  </a:lnTo>
                  <a:cubicBezTo>
                    <a:pt x="925591" y="441893"/>
                    <a:pt x="938710" y="455011"/>
                    <a:pt x="954892" y="455011"/>
                  </a:cubicBezTo>
                  <a:lnTo>
                    <a:pt x="954892" y="455011"/>
                  </a:lnTo>
                  <a:cubicBezTo>
                    <a:pt x="971075" y="455011"/>
                    <a:pt x="984194" y="441892"/>
                    <a:pt x="984194" y="425710"/>
                  </a:cubicBezTo>
                  <a:close/>
                  <a:moveTo>
                    <a:pt x="1075004" y="402268"/>
                  </a:moveTo>
                  <a:lnTo>
                    <a:pt x="1075004" y="249904"/>
                  </a:lnTo>
                  <a:cubicBezTo>
                    <a:pt x="1075004" y="233721"/>
                    <a:pt x="1061885" y="220603"/>
                    <a:pt x="1045703" y="220603"/>
                  </a:cubicBezTo>
                  <a:cubicBezTo>
                    <a:pt x="1029520" y="220603"/>
                    <a:pt x="1016402" y="233721"/>
                    <a:pt x="1016402" y="249904"/>
                  </a:cubicBezTo>
                  <a:lnTo>
                    <a:pt x="1016402" y="402269"/>
                  </a:lnTo>
                  <a:cubicBezTo>
                    <a:pt x="1016402" y="418451"/>
                    <a:pt x="1029520" y="431570"/>
                    <a:pt x="1045703" y="431570"/>
                  </a:cubicBezTo>
                  <a:lnTo>
                    <a:pt x="1045703" y="431570"/>
                  </a:lnTo>
                  <a:cubicBezTo>
                    <a:pt x="1061885" y="431570"/>
                    <a:pt x="1075004" y="418451"/>
                    <a:pt x="1075004" y="402268"/>
                  </a:cubicBez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9251FF7-C96E-4838-9A99-8E9958A80544}"/>
              </a:ext>
            </a:extLst>
          </p:cNvPr>
          <p:cNvGrpSpPr/>
          <p:nvPr/>
        </p:nvGrpSpPr>
        <p:grpSpPr>
          <a:xfrm>
            <a:off x="2015424" y="-1847"/>
            <a:ext cx="1437328" cy="5489412"/>
            <a:chOff x="2015424" y="-1847"/>
            <a:chExt cx="1437328" cy="5489412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D257EA8-F517-4A1C-800F-108BC9A87895}"/>
                </a:ext>
              </a:extLst>
            </p:cNvPr>
            <p:cNvSpPr/>
            <p:nvPr/>
          </p:nvSpPr>
          <p:spPr>
            <a:xfrm>
              <a:off x="2701620" y="-1847"/>
              <a:ext cx="72000" cy="4023360"/>
            </a:xfrm>
            <a:prstGeom prst="rect">
              <a:avLst/>
            </a:prstGeom>
            <a:solidFill>
              <a:srgbClr val="00BDF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28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48" name="Rounded Rectangle 51">
              <a:extLst>
                <a:ext uri="{FF2B5EF4-FFF2-40B4-BE49-F238E27FC236}">
                  <a16:creationId xmlns:a16="http://schemas.microsoft.com/office/drawing/2014/main" id="{EB64889A-0F71-4717-9403-F8353880B931}"/>
                </a:ext>
              </a:extLst>
            </p:cNvPr>
            <p:cNvSpPr/>
            <p:nvPr/>
          </p:nvSpPr>
          <p:spPr>
            <a:xfrm rot="5400000" flipH="1">
              <a:off x="1970982" y="4005795"/>
              <a:ext cx="1526212" cy="1437328"/>
            </a:xfrm>
            <a:custGeom>
              <a:avLst/>
              <a:gdLst/>
              <a:ahLst/>
              <a:cxnLst/>
              <a:rect l="l" t="t" r="r" b="b"/>
              <a:pathLst>
                <a:path w="2928608" h="2758049">
                  <a:moveTo>
                    <a:pt x="2797052" y="1199936"/>
                  </a:moveTo>
                  <a:lnTo>
                    <a:pt x="2797052" y="1541978"/>
                  </a:lnTo>
                  <a:cubicBezTo>
                    <a:pt x="2797052" y="1578306"/>
                    <a:pt x="2826502" y="1607756"/>
                    <a:pt x="2862830" y="1607756"/>
                  </a:cubicBezTo>
                  <a:lnTo>
                    <a:pt x="2862830" y="1607755"/>
                  </a:lnTo>
                  <a:cubicBezTo>
                    <a:pt x="2899158" y="1607755"/>
                    <a:pt x="2928608" y="1578305"/>
                    <a:pt x="2928608" y="1541977"/>
                  </a:cubicBezTo>
                  <a:lnTo>
                    <a:pt x="2928607" y="1199936"/>
                  </a:lnTo>
                  <a:cubicBezTo>
                    <a:pt x="2928607" y="1163608"/>
                    <a:pt x="2899158" y="1134159"/>
                    <a:pt x="2862830" y="1134158"/>
                  </a:cubicBezTo>
                  <a:cubicBezTo>
                    <a:pt x="2826502" y="1134159"/>
                    <a:pt x="2797052" y="1163608"/>
                    <a:pt x="2797052" y="1199936"/>
                  </a:cubicBezTo>
                  <a:close/>
                  <a:moveTo>
                    <a:pt x="2593193" y="1147315"/>
                  </a:moveTo>
                  <a:lnTo>
                    <a:pt x="2593193" y="1594601"/>
                  </a:lnTo>
                  <a:cubicBezTo>
                    <a:pt x="2593193" y="1630929"/>
                    <a:pt x="2622643" y="1660379"/>
                    <a:pt x="2658971" y="1660379"/>
                  </a:cubicBezTo>
                  <a:lnTo>
                    <a:pt x="2658971" y="1660378"/>
                  </a:lnTo>
                  <a:cubicBezTo>
                    <a:pt x="2695299" y="1660378"/>
                    <a:pt x="2724749" y="1630928"/>
                    <a:pt x="2724749" y="1594600"/>
                  </a:cubicBezTo>
                  <a:lnTo>
                    <a:pt x="2724748" y="1147315"/>
                  </a:lnTo>
                  <a:cubicBezTo>
                    <a:pt x="2724748" y="1110987"/>
                    <a:pt x="2695299" y="1081538"/>
                    <a:pt x="2658971" y="1081537"/>
                  </a:cubicBezTo>
                  <a:cubicBezTo>
                    <a:pt x="2622643" y="1081538"/>
                    <a:pt x="2593193" y="1110987"/>
                    <a:pt x="2593193" y="1147315"/>
                  </a:cubicBezTo>
                  <a:close/>
                  <a:moveTo>
                    <a:pt x="2389334" y="1121004"/>
                  </a:moveTo>
                  <a:lnTo>
                    <a:pt x="2389334" y="1620912"/>
                  </a:lnTo>
                  <a:cubicBezTo>
                    <a:pt x="2389334" y="1657240"/>
                    <a:pt x="2418784" y="1686690"/>
                    <a:pt x="2455112" y="1686690"/>
                  </a:cubicBezTo>
                  <a:lnTo>
                    <a:pt x="2455112" y="1686689"/>
                  </a:lnTo>
                  <a:cubicBezTo>
                    <a:pt x="2491440" y="1686689"/>
                    <a:pt x="2520890" y="1657239"/>
                    <a:pt x="2520890" y="1620911"/>
                  </a:cubicBezTo>
                  <a:lnTo>
                    <a:pt x="2520889" y="1121004"/>
                  </a:lnTo>
                  <a:cubicBezTo>
                    <a:pt x="2520889" y="1084676"/>
                    <a:pt x="2491440" y="1055227"/>
                    <a:pt x="2455112" y="1055226"/>
                  </a:cubicBezTo>
                  <a:cubicBezTo>
                    <a:pt x="2418784" y="1055227"/>
                    <a:pt x="2389334" y="1084676"/>
                    <a:pt x="2389334" y="1121004"/>
                  </a:cubicBezTo>
                  <a:close/>
                  <a:moveTo>
                    <a:pt x="1314382" y="1247024"/>
                  </a:moveTo>
                  <a:cubicBezTo>
                    <a:pt x="1314381" y="1225915"/>
                    <a:pt x="1331494" y="1208803"/>
                    <a:pt x="1352603" y="1208803"/>
                  </a:cubicBezTo>
                  <a:lnTo>
                    <a:pt x="1410313" y="1208803"/>
                  </a:lnTo>
                  <a:lnTo>
                    <a:pt x="1410313" y="1146778"/>
                  </a:lnTo>
                  <a:cubicBezTo>
                    <a:pt x="1410313" y="1145599"/>
                    <a:pt x="1410393" y="1144438"/>
                    <a:pt x="1411688" y="1143457"/>
                  </a:cubicBezTo>
                  <a:lnTo>
                    <a:pt x="1408531" y="1133444"/>
                  </a:lnTo>
                  <a:cubicBezTo>
                    <a:pt x="1410371" y="1112415"/>
                    <a:pt x="1428909" y="1096860"/>
                    <a:pt x="1449938" y="1098699"/>
                  </a:cubicBezTo>
                  <a:lnTo>
                    <a:pt x="2236821" y="1167543"/>
                  </a:lnTo>
                  <a:cubicBezTo>
                    <a:pt x="2257849" y="1169383"/>
                    <a:pt x="2273405" y="1187920"/>
                    <a:pt x="2271565" y="1208950"/>
                  </a:cubicBezTo>
                  <a:cubicBezTo>
                    <a:pt x="2269725" y="1229978"/>
                    <a:pt x="2251187" y="1245533"/>
                    <a:pt x="2230159" y="1243693"/>
                  </a:cubicBezTo>
                  <a:cubicBezTo>
                    <a:pt x="1973864" y="1221271"/>
                    <a:pt x="1717570" y="1198849"/>
                    <a:pt x="1461275" y="1176426"/>
                  </a:cubicBezTo>
                  <a:lnTo>
                    <a:pt x="1461274" y="1208803"/>
                  </a:lnTo>
                  <a:lnTo>
                    <a:pt x="1518985" y="1208803"/>
                  </a:lnTo>
                  <a:cubicBezTo>
                    <a:pt x="1540095" y="1208802"/>
                    <a:pt x="1557205" y="1225915"/>
                    <a:pt x="1557206" y="1247025"/>
                  </a:cubicBezTo>
                  <a:lnTo>
                    <a:pt x="1557207" y="1247023"/>
                  </a:lnTo>
                  <a:cubicBezTo>
                    <a:pt x="1557207" y="1268132"/>
                    <a:pt x="1540095" y="1285244"/>
                    <a:pt x="1518986" y="1285244"/>
                  </a:cubicBezTo>
                  <a:cubicBezTo>
                    <a:pt x="1499749" y="1285244"/>
                    <a:pt x="1480511" y="1285243"/>
                    <a:pt x="1461275" y="1285244"/>
                  </a:cubicBezTo>
                  <a:lnTo>
                    <a:pt x="1461275" y="1337600"/>
                  </a:lnTo>
                  <a:lnTo>
                    <a:pt x="1518985" y="1337600"/>
                  </a:lnTo>
                  <a:cubicBezTo>
                    <a:pt x="1540095" y="1337600"/>
                    <a:pt x="1557206" y="1354713"/>
                    <a:pt x="1557206" y="1375821"/>
                  </a:cubicBezTo>
                  <a:lnTo>
                    <a:pt x="1557207" y="1375820"/>
                  </a:lnTo>
                  <a:cubicBezTo>
                    <a:pt x="1557206" y="1396928"/>
                    <a:pt x="1540095" y="1414041"/>
                    <a:pt x="1518986" y="1414041"/>
                  </a:cubicBezTo>
                  <a:cubicBezTo>
                    <a:pt x="1499750" y="1414041"/>
                    <a:pt x="1480511" y="1414041"/>
                    <a:pt x="1461275" y="1414042"/>
                  </a:cubicBezTo>
                  <a:lnTo>
                    <a:pt x="1461275" y="1466398"/>
                  </a:lnTo>
                  <a:lnTo>
                    <a:pt x="1518985" y="1466398"/>
                  </a:lnTo>
                  <a:cubicBezTo>
                    <a:pt x="1540095" y="1466398"/>
                    <a:pt x="1557206" y="1483509"/>
                    <a:pt x="1557206" y="1504618"/>
                  </a:cubicBezTo>
                  <a:lnTo>
                    <a:pt x="1557207" y="1504619"/>
                  </a:lnTo>
                  <a:cubicBezTo>
                    <a:pt x="1557207" y="1525727"/>
                    <a:pt x="1540094" y="1542838"/>
                    <a:pt x="1518986" y="1542839"/>
                  </a:cubicBezTo>
                  <a:cubicBezTo>
                    <a:pt x="1499749" y="1542839"/>
                    <a:pt x="1480511" y="1542838"/>
                    <a:pt x="1461275" y="1542839"/>
                  </a:cubicBezTo>
                  <a:lnTo>
                    <a:pt x="1461274" y="1575412"/>
                  </a:lnTo>
                  <a:lnTo>
                    <a:pt x="2226550" y="1494978"/>
                  </a:lnTo>
                  <a:cubicBezTo>
                    <a:pt x="2247542" y="1492772"/>
                    <a:pt x="2266350" y="1508001"/>
                    <a:pt x="2268556" y="1528995"/>
                  </a:cubicBezTo>
                  <a:cubicBezTo>
                    <a:pt x="2270763" y="1549988"/>
                    <a:pt x="2255534" y="1568794"/>
                    <a:pt x="2234542" y="1571000"/>
                  </a:cubicBezTo>
                  <a:cubicBezTo>
                    <a:pt x="1972686" y="1598522"/>
                    <a:pt x="1710833" y="1626046"/>
                    <a:pt x="1448978" y="1653567"/>
                  </a:cubicBezTo>
                  <a:cubicBezTo>
                    <a:pt x="1427984" y="1655774"/>
                    <a:pt x="1409178" y="1640544"/>
                    <a:pt x="1406971" y="1619551"/>
                  </a:cubicBezTo>
                  <a:cubicBezTo>
                    <a:pt x="1406474" y="1614827"/>
                    <a:pt x="1406862" y="1610214"/>
                    <a:pt x="1410805" y="1606610"/>
                  </a:cubicBezTo>
                  <a:lnTo>
                    <a:pt x="1410312" y="1605422"/>
                  </a:lnTo>
                  <a:lnTo>
                    <a:pt x="1410312" y="1542839"/>
                  </a:lnTo>
                  <a:lnTo>
                    <a:pt x="1352603" y="1542841"/>
                  </a:lnTo>
                  <a:cubicBezTo>
                    <a:pt x="1331494" y="1542841"/>
                    <a:pt x="1314382" y="1525729"/>
                    <a:pt x="1314382" y="1504619"/>
                  </a:cubicBezTo>
                  <a:cubicBezTo>
                    <a:pt x="1314382" y="1483510"/>
                    <a:pt x="1331493" y="1466397"/>
                    <a:pt x="1352603" y="1466398"/>
                  </a:cubicBezTo>
                  <a:lnTo>
                    <a:pt x="1410312" y="1466398"/>
                  </a:lnTo>
                  <a:lnTo>
                    <a:pt x="1410313" y="1414042"/>
                  </a:lnTo>
                  <a:lnTo>
                    <a:pt x="1352603" y="1414042"/>
                  </a:lnTo>
                  <a:cubicBezTo>
                    <a:pt x="1331494" y="1414041"/>
                    <a:pt x="1314383" y="1396930"/>
                    <a:pt x="1314382" y="1375820"/>
                  </a:cubicBezTo>
                  <a:cubicBezTo>
                    <a:pt x="1314383" y="1354713"/>
                    <a:pt x="1331494" y="1337600"/>
                    <a:pt x="1352603" y="1337601"/>
                  </a:cubicBezTo>
                  <a:lnTo>
                    <a:pt x="1410312" y="1337600"/>
                  </a:lnTo>
                  <a:lnTo>
                    <a:pt x="1410312" y="1285244"/>
                  </a:lnTo>
                  <a:lnTo>
                    <a:pt x="1352603" y="1285244"/>
                  </a:lnTo>
                  <a:cubicBezTo>
                    <a:pt x="1331494" y="1285244"/>
                    <a:pt x="1314381" y="1268133"/>
                    <a:pt x="1314382" y="1247024"/>
                  </a:cubicBezTo>
                  <a:close/>
                  <a:moveTo>
                    <a:pt x="1171967" y="72000"/>
                  </a:moveTo>
                  <a:lnTo>
                    <a:pt x="1171967" y="288000"/>
                  </a:lnTo>
                  <a:cubicBezTo>
                    <a:pt x="1171967" y="327765"/>
                    <a:pt x="1204202" y="360000"/>
                    <a:pt x="1243967" y="360000"/>
                  </a:cubicBezTo>
                  <a:cubicBezTo>
                    <a:pt x="1283732" y="360000"/>
                    <a:pt x="1315967" y="327765"/>
                    <a:pt x="1315967" y="288000"/>
                  </a:cubicBezTo>
                  <a:lnTo>
                    <a:pt x="1315967" y="72000"/>
                  </a:lnTo>
                  <a:cubicBezTo>
                    <a:pt x="1315967" y="32235"/>
                    <a:pt x="1283732" y="0"/>
                    <a:pt x="1243967" y="0"/>
                  </a:cubicBezTo>
                  <a:cubicBezTo>
                    <a:pt x="1204202" y="0"/>
                    <a:pt x="1171967" y="32235"/>
                    <a:pt x="1171967" y="72000"/>
                  </a:cubicBezTo>
                  <a:close/>
                  <a:moveTo>
                    <a:pt x="1171966" y="2470049"/>
                  </a:moveTo>
                  <a:lnTo>
                    <a:pt x="1171966" y="2686049"/>
                  </a:lnTo>
                  <a:cubicBezTo>
                    <a:pt x="1171966" y="2725814"/>
                    <a:pt x="1204201" y="2758049"/>
                    <a:pt x="1243966" y="2758049"/>
                  </a:cubicBezTo>
                  <a:cubicBezTo>
                    <a:pt x="1283731" y="2758049"/>
                    <a:pt x="1315966" y="2725814"/>
                    <a:pt x="1315966" y="2686049"/>
                  </a:cubicBezTo>
                  <a:lnTo>
                    <a:pt x="1315966" y="2470049"/>
                  </a:lnTo>
                  <a:cubicBezTo>
                    <a:pt x="1315966" y="2430284"/>
                    <a:pt x="1283731" y="2398049"/>
                    <a:pt x="1243966" y="2398049"/>
                  </a:cubicBezTo>
                  <a:cubicBezTo>
                    <a:pt x="1204201" y="2398049"/>
                    <a:pt x="1171966" y="2430284"/>
                    <a:pt x="1171966" y="2470049"/>
                  </a:cubicBezTo>
                  <a:close/>
                  <a:moveTo>
                    <a:pt x="515345" y="1370958"/>
                  </a:moveTo>
                  <a:cubicBezTo>
                    <a:pt x="515344" y="1558300"/>
                    <a:pt x="586814" y="1745642"/>
                    <a:pt x="729750" y="1888579"/>
                  </a:cubicBezTo>
                  <a:cubicBezTo>
                    <a:pt x="1015625" y="2174454"/>
                    <a:pt x="1479119" y="2174454"/>
                    <a:pt x="1764994" y="1888580"/>
                  </a:cubicBezTo>
                  <a:lnTo>
                    <a:pt x="1940572" y="1713001"/>
                  </a:lnTo>
                  <a:lnTo>
                    <a:pt x="2136413" y="1713002"/>
                  </a:lnTo>
                  <a:cubicBezTo>
                    <a:pt x="2215124" y="1713001"/>
                    <a:pt x="2278929" y="1649195"/>
                    <a:pt x="2278929" y="1570486"/>
                  </a:cubicBezTo>
                  <a:lnTo>
                    <a:pt x="2278929" y="1374645"/>
                  </a:lnTo>
                  <a:lnTo>
                    <a:pt x="2282614" y="1370959"/>
                  </a:lnTo>
                  <a:lnTo>
                    <a:pt x="2278929" y="1367272"/>
                  </a:lnTo>
                  <a:lnTo>
                    <a:pt x="2278929" y="1171432"/>
                  </a:lnTo>
                  <a:cubicBezTo>
                    <a:pt x="2278929" y="1092722"/>
                    <a:pt x="2215123" y="1028916"/>
                    <a:pt x="2136413" y="1028916"/>
                  </a:cubicBezTo>
                  <a:lnTo>
                    <a:pt x="1940571" y="1028916"/>
                  </a:lnTo>
                  <a:cubicBezTo>
                    <a:pt x="1882045" y="970390"/>
                    <a:pt x="1823519" y="911862"/>
                    <a:pt x="1764993" y="853336"/>
                  </a:cubicBezTo>
                  <a:cubicBezTo>
                    <a:pt x="1479118" y="567461"/>
                    <a:pt x="1015625" y="567462"/>
                    <a:pt x="729750" y="853336"/>
                  </a:cubicBezTo>
                  <a:cubicBezTo>
                    <a:pt x="586813" y="996273"/>
                    <a:pt x="515344" y="1183616"/>
                    <a:pt x="515345" y="1370958"/>
                  </a:cubicBezTo>
                  <a:close/>
                  <a:moveTo>
                    <a:pt x="388776" y="2386770"/>
                  </a:moveTo>
                  <a:cubicBezTo>
                    <a:pt x="388776" y="2405196"/>
                    <a:pt x="395805" y="2423622"/>
                    <a:pt x="409865" y="2437681"/>
                  </a:cubicBezTo>
                  <a:cubicBezTo>
                    <a:pt x="437983" y="2465800"/>
                    <a:pt x="483570" y="2465800"/>
                    <a:pt x="511688" y="2437681"/>
                  </a:cubicBezTo>
                  <a:lnTo>
                    <a:pt x="664423" y="2284946"/>
                  </a:lnTo>
                  <a:cubicBezTo>
                    <a:pt x="692541" y="2256828"/>
                    <a:pt x="692541" y="2211241"/>
                    <a:pt x="664423" y="2183123"/>
                  </a:cubicBezTo>
                  <a:cubicBezTo>
                    <a:pt x="636305" y="2155005"/>
                    <a:pt x="590718" y="2155005"/>
                    <a:pt x="562599" y="2183123"/>
                  </a:cubicBezTo>
                  <a:lnTo>
                    <a:pt x="409865" y="2335858"/>
                  </a:lnTo>
                  <a:cubicBezTo>
                    <a:pt x="395805" y="2349917"/>
                    <a:pt x="388776" y="2368343"/>
                    <a:pt x="388776" y="2386770"/>
                  </a:cubicBezTo>
                  <a:close/>
                  <a:moveTo>
                    <a:pt x="388776" y="365689"/>
                  </a:moveTo>
                  <a:cubicBezTo>
                    <a:pt x="388776" y="384115"/>
                    <a:pt x="395805" y="402541"/>
                    <a:pt x="409865" y="416600"/>
                  </a:cubicBezTo>
                  <a:lnTo>
                    <a:pt x="562599" y="569335"/>
                  </a:lnTo>
                  <a:cubicBezTo>
                    <a:pt x="590718" y="597454"/>
                    <a:pt x="636305" y="597454"/>
                    <a:pt x="664423" y="569335"/>
                  </a:cubicBezTo>
                  <a:cubicBezTo>
                    <a:pt x="692541" y="541217"/>
                    <a:pt x="692541" y="495630"/>
                    <a:pt x="664423" y="467512"/>
                  </a:cubicBezTo>
                  <a:lnTo>
                    <a:pt x="511688" y="314777"/>
                  </a:lnTo>
                  <a:cubicBezTo>
                    <a:pt x="483570" y="286659"/>
                    <a:pt x="437983" y="286659"/>
                    <a:pt x="409865" y="314777"/>
                  </a:cubicBezTo>
                  <a:cubicBezTo>
                    <a:pt x="395805" y="328836"/>
                    <a:pt x="388776" y="347262"/>
                    <a:pt x="388776" y="365689"/>
                  </a:cubicBezTo>
                  <a:close/>
                  <a:moveTo>
                    <a:pt x="0" y="1379024"/>
                  </a:moveTo>
                  <a:cubicBezTo>
                    <a:pt x="0" y="1418789"/>
                    <a:pt x="32235" y="1451024"/>
                    <a:pt x="72000" y="1451024"/>
                  </a:cubicBezTo>
                  <a:lnTo>
                    <a:pt x="288000" y="1451024"/>
                  </a:lnTo>
                  <a:cubicBezTo>
                    <a:pt x="327765" y="1451024"/>
                    <a:pt x="360000" y="1418789"/>
                    <a:pt x="360000" y="1379024"/>
                  </a:cubicBezTo>
                  <a:cubicBezTo>
                    <a:pt x="360000" y="1339259"/>
                    <a:pt x="327765" y="1307024"/>
                    <a:pt x="288000" y="1307024"/>
                  </a:cubicBezTo>
                  <a:lnTo>
                    <a:pt x="72000" y="1307024"/>
                  </a:lnTo>
                  <a:cubicBezTo>
                    <a:pt x="32235" y="1307024"/>
                    <a:pt x="0" y="1339259"/>
                    <a:pt x="0" y="1379024"/>
                  </a:cubicBezTo>
                  <a:close/>
                </a:path>
              </a:pathLst>
            </a:custGeom>
            <a:solidFill>
              <a:srgbClr val="00BDF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F9558E9-ECAD-4616-9548-BF570BB9E3F3}"/>
              </a:ext>
            </a:extLst>
          </p:cNvPr>
          <p:cNvGrpSpPr/>
          <p:nvPr/>
        </p:nvGrpSpPr>
        <p:grpSpPr>
          <a:xfrm>
            <a:off x="788214" y="-29853"/>
            <a:ext cx="762978" cy="3628896"/>
            <a:chOff x="808111" y="-1847"/>
            <a:chExt cx="762978" cy="3628896"/>
          </a:xfrm>
          <a:solidFill>
            <a:srgbClr val="1ED0A6"/>
          </a:solidFill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A68E888-73A3-487C-A0AF-BDDBD15E22CB}"/>
                </a:ext>
              </a:extLst>
            </p:cNvPr>
            <p:cNvSpPr/>
            <p:nvPr/>
          </p:nvSpPr>
          <p:spPr>
            <a:xfrm>
              <a:off x="1152817" y="-1847"/>
              <a:ext cx="72000" cy="2377440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28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8848457D-28D0-49A2-B497-ABFD430878A3}"/>
                </a:ext>
              </a:extLst>
            </p:cNvPr>
            <p:cNvSpPr/>
            <p:nvPr/>
          </p:nvSpPr>
          <p:spPr>
            <a:xfrm rot="5400000" flipH="1">
              <a:off x="560777" y="2616737"/>
              <a:ext cx="1257646" cy="762978"/>
            </a:xfrm>
            <a:custGeom>
              <a:avLst/>
              <a:gdLst>
                <a:gd name="connsiteX0" fmla="*/ 782320 w 1075004"/>
                <a:gd name="connsiteY0" fmla="*/ 253920 h 652174"/>
                <a:gd name="connsiteX1" fmla="*/ 763875 w 1075004"/>
                <a:gd name="connsiteY1" fmla="*/ 269397 h 652174"/>
                <a:gd name="connsiteX2" fmla="*/ 421371 w 1075004"/>
                <a:gd name="connsiteY2" fmla="*/ 239432 h 652174"/>
                <a:gd name="connsiteX3" fmla="*/ 421370 w 1075004"/>
                <a:gd name="connsiteY3" fmla="*/ 253855 h 652174"/>
                <a:gd name="connsiteX4" fmla="*/ 447078 w 1075004"/>
                <a:gd name="connsiteY4" fmla="*/ 253855 h 652174"/>
                <a:gd name="connsiteX5" fmla="*/ 464104 w 1075004"/>
                <a:gd name="connsiteY5" fmla="*/ 270881 h 652174"/>
                <a:gd name="connsiteX6" fmla="*/ 464104 w 1075004"/>
                <a:gd name="connsiteY6" fmla="*/ 270880 h 652174"/>
                <a:gd name="connsiteX7" fmla="*/ 447079 w 1075004"/>
                <a:gd name="connsiteY7" fmla="*/ 287906 h 652174"/>
                <a:gd name="connsiteX8" fmla="*/ 421371 w 1075004"/>
                <a:gd name="connsiteY8" fmla="*/ 287906 h 652174"/>
                <a:gd name="connsiteX9" fmla="*/ 421371 w 1075004"/>
                <a:gd name="connsiteY9" fmla="*/ 311228 h 652174"/>
                <a:gd name="connsiteX10" fmla="*/ 447078 w 1075004"/>
                <a:gd name="connsiteY10" fmla="*/ 311228 h 652174"/>
                <a:gd name="connsiteX11" fmla="*/ 464104 w 1075004"/>
                <a:gd name="connsiteY11" fmla="*/ 328254 h 652174"/>
                <a:gd name="connsiteX12" fmla="*/ 464104 w 1075004"/>
                <a:gd name="connsiteY12" fmla="*/ 328254 h 652174"/>
                <a:gd name="connsiteX13" fmla="*/ 447079 w 1075004"/>
                <a:gd name="connsiteY13" fmla="*/ 345279 h 652174"/>
                <a:gd name="connsiteX14" fmla="*/ 421371 w 1075004"/>
                <a:gd name="connsiteY14" fmla="*/ 345280 h 652174"/>
                <a:gd name="connsiteX15" fmla="*/ 421371 w 1075004"/>
                <a:gd name="connsiteY15" fmla="*/ 368602 h 652174"/>
                <a:gd name="connsiteX16" fmla="*/ 447078 w 1075004"/>
                <a:gd name="connsiteY16" fmla="*/ 368602 h 652174"/>
                <a:gd name="connsiteX17" fmla="*/ 464104 w 1075004"/>
                <a:gd name="connsiteY17" fmla="*/ 385628 h 652174"/>
                <a:gd name="connsiteX18" fmla="*/ 464104 w 1075004"/>
                <a:gd name="connsiteY18" fmla="*/ 385628 h 652174"/>
                <a:gd name="connsiteX19" fmla="*/ 447079 w 1075004"/>
                <a:gd name="connsiteY19" fmla="*/ 402653 h 652174"/>
                <a:gd name="connsiteX20" fmla="*/ 421371 w 1075004"/>
                <a:gd name="connsiteY20" fmla="*/ 402653 h 652174"/>
                <a:gd name="connsiteX21" fmla="*/ 421370 w 1075004"/>
                <a:gd name="connsiteY21" fmla="*/ 417163 h 652174"/>
                <a:gd name="connsiteX22" fmla="*/ 762268 w 1075004"/>
                <a:gd name="connsiteY22" fmla="*/ 381333 h 652174"/>
                <a:gd name="connsiteX23" fmla="*/ 780980 w 1075004"/>
                <a:gd name="connsiteY23" fmla="*/ 396486 h 652174"/>
                <a:gd name="connsiteX24" fmla="*/ 765828 w 1075004"/>
                <a:gd name="connsiteY24" fmla="*/ 415198 h 652174"/>
                <a:gd name="connsiteX25" fmla="*/ 415893 w 1075004"/>
                <a:gd name="connsiteY25" fmla="*/ 451978 h 652174"/>
                <a:gd name="connsiteX26" fmla="*/ 397181 w 1075004"/>
                <a:gd name="connsiteY26" fmla="*/ 436825 h 652174"/>
                <a:gd name="connsiteX27" fmla="*/ 398889 w 1075004"/>
                <a:gd name="connsiteY27" fmla="*/ 431061 h 652174"/>
                <a:gd name="connsiteX28" fmla="*/ 398669 w 1075004"/>
                <a:gd name="connsiteY28" fmla="*/ 430531 h 652174"/>
                <a:gd name="connsiteX29" fmla="*/ 398669 w 1075004"/>
                <a:gd name="connsiteY29" fmla="*/ 402653 h 652174"/>
                <a:gd name="connsiteX30" fmla="*/ 372962 w 1075004"/>
                <a:gd name="connsiteY30" fmla="*/ 402654 h 652174"/>
                <a:gd name="connsiteX31" fmla="*/ 355936 w 1075004"/>
                <a:gd name="connsiteY31" fmla="*/ 385628 h 652174"/>
                <a:gd name="connsiteX32" fmla="*/ 372962 w 1075004"/>
                <a:gd name="connsiteY32" fmla="*/ 368602 h 652174"/>
                <a:gd name="connsiteX33" fmla="*/ 398669 w 1075004"/>
                <a:gd name="connsiteY33" fmla="*/ 368602 h 652174"/>
                <a:gd name="connsiteX34" fmla="*/ 398670 w 1075004"/>
                <a:gd name="connsiteY34" fmla="*/ 345280 h 652174"/>
                <a:gd name="connsiteX35" fmla="*/ 372962 w 1075004"/>
                <a:gd name="connsiteY35" fmla="*/ 345280 h 652174"/>
                <a:gd name="connsiteX36" fmla="*/ 355936 w 1075004"/>
                <a:gd name="connsiteY36" fmla="*/ 328254 h 652174"/>
                <a:gd name="connsiteX37" fmla="*/ 372962 w 1075004"/>
                <a:gd name="connsiteY37" fmla="*/ 311229 h 652174"/>
                <a:gd name="connsiteX38" fmla="*/ 398669 w 1075004"/>
                <a:gd name="connsiteY38" fmla="*/ 311228 h 652174"/>
                <a:gd name="connsiteX39" fmla="*/ 398669 w 1075004"/>
                <a:gd name="connsiteY39" fmla="*/ 287906 h 652174"/>
                <a:gd name="connsiteX40" fmla="*/ 372962 w 1075004"/>
                <a:gd name="connsiteY40" fmla="*/ 287906 h 652174"/>
                <a:gd name="connsiteX41" fmla="*/ 355936 w 1075004"/>
                <a:gd name="connsiteY41" fmla="*/ 270881 h 652174"/>
                <a:gd name="connsiteX42" fmla="*/ 372962 w 1075004"/>
                <a:gd name="connsiteY42" fmla="*/ 253855 h 652174"/>
                <a:gd name="connsiteX43" fmla="*/ 398670 w 1075004"/>
                <a:gd name="connsiteY43" fmla="*/ 253855 h 652174"/>
                <a:gd name="connsiteX44" fmla="*/ 398670 w 1075004"/>
                <a:gd name="connsiteY44" fmla="*/ 226225 h 652174"/>
                <a:gd name="connsiteX45" fmla="*/ 399282 w 1075004"/>
                <a:gd name="connsiteY45" fmla="*/ 224746 h 652174"/>
                <a:gd name="connsiteX46" fmla="*/ 397876 w 1075004"/>
                <a:gd name="connsiteY46" fmla="*/ 220286 h 652174"/>
                <a:gd name="connsiteX47" fmla="*/ 416321 w 1075004"/>
                <a:gd name="connsiteY47" fmla="*/ 204808 h 652174"/>
                <a:gd name="connsiteX48" fmla="*/ 766843 w 1075004"/>
                <a:gd name="connsiteY48" fmla="*/ 235475 h 652174"/>
                <a:gd name="connsiteX49" fmla="*/ 782320 w 1075004"/>
                <a:gd name="connsiteY49" fmla="*/ 253920 h 652174"/>
                <a:gd name="connsiteX50" fmla="*/ 787242 w 1075004"/>
                <a:gd name="connsiteY50" fmla="*/ 326088 h 652174"/>
                <a:gd name="connsiteX51" fmla="*/ 785600 w 1075004"/>
                <a:gd name="connsiteY51" fmla="*/ 324446 h 652174"/>
                <a:gd name="connsiteX52" fmla="*/ 785600 w 1075004"/>
                <a:gd name="connsiteY52" fmla="*/ 237208 h 652174"/>
                <a:gd name="connsiteX53" fmla="*/ 722116 w 1075004"/>
                <a:gd name="connsiteY53" fmla="*/ 173723 h 652174"/>
                <a:gd name="connsiteX54" fmla="*/ 634876 w 1075004"/>
                <a:gd name="connsiteY54" fmla="*/ 173723 h 652174"/>
                <a:gd name="connsiteX55" fmla="*/ 556664 w 1075004"/>
                <a:gd name="connsiteY55" fmla="*/ 95510 h 652174"/>
                <a:gd name="connsiteX56" fmla="*/ 95508 w 1075004"/>
                <a:gd name="connsiteY56" fmla="*/ 95510 h 652174"/>
                <a:gd name="connsiteX57" fmla="*/ 0 w 1075004"/>
                <a:gd name="connsiteY57" fmla="*/ 326088 h 652174"/>
                <a:gd name="connsiteX58" fmla="*/ 95508 w 1075004"/>
                <a:gd name="connsiteY58" fmla="*/ 556666 h 652174"/>
                <a:gd name="connsiteX59" fmla="*/ 556665 w 1075004"/>
                <a:gd name="connsiteY59" fmla="*/ 556666 h 652174"/>
                <a:gd name="connsiteX60" fmla="*/ 634877 w 1075004"/>
                <a:gd name="connsiteY60" fmla="*/ 478453 h 652174"/>
                <a:gd name="connsiteX61" fmla="*/ 722116 w 1075004"/>
                <a:gd name="connsiteY61" fmla="*/ 478454 h 652174"/>
                <a:gd name="connsiteX62" fmla="*/ 785600 w 1075004"/>
                <a:gd name="connsiteY62" fmla="*/ 414969 h 652174"/>
                <a:gd name="connsiteX63" fmla="*/ 785600 w 1075004"/>
                <a:gd name="connsiteY63" fmla="*/ 327730 h 652174"/>
                <a:gd name="connsiteX64" fmla="*/ 893383 w 1075004"/>
                <a:gd name="connsiteY64" fmla="*/ 437431 h 652174"/>
                <a:gd name="connsiteX65" fmla="*/ 893383 w 1075004"/>
                <a:gd name="connsiteY65" fmla="*/ 214744 h 652174"/>
                <a:gd name="connsiteX66" fmla="*/ 864082 w 1075004"/>
                <a:gd name="connsiteY66" fmla="*/ 185443 h 652174"/>
                <a:gd name="connsiteX67" fmla="*/ 834781 w 1075004"/>
                <a:gd name="connsiteY67" fmla="*/ 214744 h 652174"/>
                <a:gd name="connsiteX68" fmla="*/ 834781 w 1075004"/>
                <a:gd name="connsiteY68" fmla="*/ 437432 h 652174"/>
                <a:gd name="connsiteX69" fmla="*/ 864082 w 1075004"/>
                <a:gd name="connsiteY69" fmla="*/ 466733 h 652174"/>
                <a:gd name="connsiteX70" fmla="*/ 864082 w 1075004"/>
                <a:gd name="connsiteY70" fmla="*/ 466732 h 652174"/>
                <a:gd name="connsiteX71" fmla="*/ 893383 w 1075004"/>
                <a:gd name="connsiteY71" fmla="*/ 437431 h 652174"/>
                <a:gd name="connsiteX72" fmla="*/ 984194 w 1075004"/>
                <a:gd name="connsiteY72" fmla="*/ 425711 h 652174"/>
                <a:gd name="connsiteX73" fmla="*/ 984193 w 1075004"/>
                <a:gd name="connsiteY73" fmla="*/ 226464 h 652174"/>
                <a:gd name="connsiteX74" fmla="*/ 954893 w 1075004"/>
                <a:gd name="connsiteY74" fmla="*/ 197163 h 652174"/>
                <a:gd name="connsiteX75" fmla="*/ 925591 w 1075004"/>
                <a:gd name="connsiteY75" fmla="*/ 226464 h 652174"/>
                <a:gd name="connsiteX76" fmla="*/ 925591 w 1075004"/>
                <a:gd name="connsiteY76" fmla="*/ 425711 h 652174"/>
                <a:gd name="connsiteX77" fmla="*/ 954893 w 1075004"/>
                <a:gd name="connsiteY77" fmla="*/ 455012 h 652174"/>
                <a:gd name="connsiteX78" fmla="*/ 954893 w 1075004"/>
                <a:gd name="connsiteY78" fmla="*/ 455012 h 652174"/>
                <a:gd name="connsiteX79" fmla="*/ 984194 w 1075004"/>
                <a:gd name="connsiteY79" fmla="*/ 425711 h 652174"/>
                <a:gd name="connsiteX80" fmla="*/ 1075004 w 1075004"/>
                <a:gd name="connsiteY80" fmla="*/ 402269 h 652174"/>
                <a:gd name="connsiteX81" fmla="*/ 1075004 w 1075004"/>
                <a:gd name="connsiteY81" fmla="*/ 249905 h 652174"/>
                <a:gd name="connsiteX82" fmla="*/ 1045703 w 1075004"/>
                <a:gd name="connsiteY82" fmla="*/ 220604 h 652174"/>
                <a:gd name="connsiteX83" fmla="*/ 1016402 w 1075004"/>
                <a:gd name="connsiteY83" fmla="*/ 249905 h 652174"/>
                <a:gd name="connsiteX84" fmla="*/ 1016402 w 1075004"/>
                <a:gd name="connsiteY84" fmla="*/ 402270 h 652174"/>
                <a:gd name="connsiteX85" fmla="*/ 1045703 w 1075004"/>
                <a:gd name="connsiteY85" fmla="*/ 431571 h 652174"/>
                <a:gd name="connsiteX86" fmla="*/ 1045703 w 1075004"/>
                <a:gd name="connsiteY86" fmla="*/ 431571 h 652174"/>
                <a:gd name="connsiteX87" fmla="*/ 1075004 w 1075004"/>
                <a:gd name="connsiteY87" fmla="*/ 402269 h 652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1075004" h="652174">
                  <a:moveTo>
                    <a:pt x="782320" y="253920"/>
                  </a:moveTo>
                  <a:cubicBezTo>
                    <a:pt x="781500" y="263287"/>
                    <a:pt x="773242" y="270216"/>
                    <a:pt x="763875" y="269397"/>
                  </a:cubicBezTo>
                  <a:cubicBezTo>
                    <a:pt x="649707" y="259409"/>
                    <a:pt x="535539" y="249421"/>
                    <a:pt x="421371" y="239432"/>
                  </a:cubicBezTo>
                  <a:lnTo>
                    <a:pt x="421370" y="253855"/>
                  </a:lnTo>
                  <a:lnTo>
                    <a:pt x="447078" y="253855"/>
                  </a:lnTo>
                  <a:cubicBezTo>
                    <a:pt x="456482" y="253854"/>
                    <a:pt x="464104" y="261477"/>
                    <a:pt x="464104" y="270881"/>
                  </a:cubicBezTo>
                  <a:lnTo>
                    <a:pt x="464104" y="270880"/>
                  </a:lnTo>
                  <a:cubicBezTo>
                    <a:pt x="464104" y="280283"/>
                    <a:pt x="456482" y="287906"/>
                    <a:pt x="447079" y="287906"/>
                  </a:cubicBezTo>
                  <a:cubicBezTo>
                    <a:pt x="438509" y="287906"/>
                    <a:pt x="429940" y="287905"/>
                    <a:pt x="421371" y="287906"/>
                  </a:cubicBezTo>
                  <a:lnTo>
                    <a:pt x="421371" y="311228"/>
                  </a:lnTo>
                  <a:lnTo>
                    <a:pt x="447078" y="311228"/>
                  </a:lnTo>
                  <a:cubicBezTo>
                    <a:pt x="456482" y="311228"/>
                    <a:pt x="464104" y="318851"/>
                    <a:pt x="464104" y="328254"/>
                  </a:cubicBezTo>
                  <a:lnTo>
                    <a:pt x="464104" y="328254"/>
                  </a:lnTo>
                  <a:cubicBezTo>
                    <a:pt x="464104" y="337656"/>
                    <a:pt x="456482" y="345279"/>
                    <a:pt x="447079" y="345279"/>
                  </a:cubicBezTo>
                  <a:cubicBezTo>
                    <a:pt x="438510" y="345279"/>
                    <a:pt x="429940" y="345279"/>
                    <a:pt x="421371" y="345280"/>
                  </a:cubicBezTo>
                  <a:lnTo>
                    <a:pt x="421371" y="368602"/>
                  </a:lnTo>
                  <a:lnTo>
                    <a:pt x="447078" y="368602"/>
                  </a:lnTo>
                  <a:cubicBezTo>
                    <a:pt x="456482" y="368602"/>
                    <a:pt x="464104" y="376224"/>
                    <a:pt x="464104" y="385628"/>
                  </a:cubicBezTo>
                  <a:lnTo>
                    <a:pt x="464104" y="385628"/>
                  </a:lnTo>
                  <a:cubicBezTo>
                    <a:pt x="464104" y="395031"/>
                    <a:pt x="456481" y="402653"/>
                    <a:pt x="447079" y="402653"/>
                  </a:cubicBezTo>
                  <a:cubicBezTo>
                    <a:pt x="438509" y="402653"/>
                    <a:pt x="429940" y="402653"/>
                    <a:pt x="421371" y="402653"/>
                  </a:cubicBezTo>
                  <a:lnTo>
                    <a:pt x="421370" y="417163"/>
                  </a:lnTo>
                  <a:lnTo>
                    <a:pt x="762268" y="381333"/>
                  </a:lnTo>
                  <a:cubicBezTo>
                    <a:pt x="771619" y="380351"/>
                    <a:pt x="779997" y="387135"/>
                    <a:pt x="780980" y="396486"/>
                  </a:cubicBezTo>
                  <a:cubicBezTo>
                    <a:pt x="781963" y="405838"/>
                    <a:pt x="775179" y="414215"/>
                    <a:pt x="765828" y="415198"/>
                  </a:cubicBezTo>
                  <a:cubicBezTo>
                    <a:pt x="649182" y="427458"/>
                    <a:pt x="532538" y="439719"/>
                    <a:pt x="415893" y="451978"/>
                  </a:cubicBezTo>
                  <a:cubicBezTo>
                    <a:pt x="406541" y="452961"/>
                    <a:pt x="398164" y="446177"/>
                    <a:pt x="397181" y="436825"/>
                  </a:cubicBezTo>
                  <a:cubicBezTo>
                    <a:pt x="396959" y="434721"/>
                    <a:pt x="397132" y="432666"/>
                    <a:pt x="398889" y="431061"/>
                  </a:cubicBezTo>
                  <a:lnTo>
                    <a:pt x="398669" y="430531"/>
                  </a:lnTo>
                  <a:lnTo>
                    <a:pt x="398669" y="402653"/>
                  </a:lnTo>
                  <a:lnTo>
                    <a:pt x="372962" y="402654"/>
                  </a:lnTo>
                  <a:cubicBezTo>
                    <a:pt x="363559" y="402654"/>
                    <a:pt x="355936" y="395032"/>
                    <a:pt x="355936" y="385628"/>
                  </a:cubicBezTo>
                  <a:cubicBezTo>
                    <a:pt x="355936" y="376225"/>
                    <a:pt x="363559" y="368602"/>
                    <a:pt x="372962" y="368602"/>
                  </a:cubicBezTo>
                  <a:lnTo>
                    <a:pt x="398669" y="368602"/>
                  </a:lnTo>
                  <a:lnTo>
                    <a:pt x="398670" y="345280"/>
                  </a:lnTo>
                  <a:lnTo>
                    <a:pt x="372962" y="345280"/>
                  </a:lnTo>
                  <a:cubicBezTo>
                    <a:pt x="363559" y="345279"/>
                    <a:pt x="355937" y="337657"/>
                    <a:pt x="355936" y="328254"/>
                  </a:cubicBezTo>
                  <a:cubicBezTo>
                    <a:pt x="355937" y="318851"/>
                    <a:pt x="363559" y="311228"/>
                    <a:pt x="372962" y="311229"/>
                  </a:cubicBezTo>
                  <a:lnTo>
                    <a:pt x="398669" y="311228"/>
                  </a:lnTo>
                  <a:lnTo>
                    <a:pt x="398669" y="287906"/>
                  </a:lnTo>
                  <a:lnTo>
                    <a:pt x="372962" y="287906"/>
                  </a:lnTo>
                  <a:cubicBezTo>
                    <a:pt x="363559" y="287906"/>
                    <a:pt x="355936" y="280284"/>
                    <a:pt x="355936" y="270881"/>
                  </a:cubicBezTo>
                  <a:cubicBezTo>
                    <a:pt x="355936" y="261477"/>
                    <a:pt x="363559" y="253855"/>
                    <a:pt x="372962" y="253855"/>
                  </a:cubicBezTo>
                  <a:lnTo>
                    <a:pt x="398670" y="253855"/>
                  </a:lnTo>
                  <a:lnTo>
                    <a:pt x="398670" y="226225"/>
                  </a:lnTo>
                  <a:cubicBezTo>
                    <a:pt x="398670" y="225700"/>
                    <a:pt x="398705" y="225183"/>
                    <a:pt x="399282" y="224746"/>
                  </a:cubicBezTo>
                  <a:lnTo>
                    <a:pt x="397876" y="220286"/>
                  </a:lnTo>
                  <a:cubicBezTo>
                    <a:pt x="398695" y="210918"/>
                    <a:pt x="406953" y="203989"/>
                    <a:pt x="416321" y="204808"/>
                  </a:cubicBezTo>
                  <a:lnTo>
                    <a:pt x="766843" y="235475"/>
                  </a:lnTo>
                  <a:cubicBezTo>
                    <a:pt x="776210" y="236295"/>
                    <a:pt x="783140" y="244552"/>
                    <a:pt x="782320" y="253920"/>
                  </a:cubicBezTo>
                  <a:close/>
                  <a:moveTo>
                    <a:pt x="787242" y="326088"/>
                  </a:moveTo>
                  <a:lnTo>
                    <a:pt x="785600" y="324446"/>
                  </a:lnTo>
                  <a:lnTo>
                    <a:pt x="785600" y="237208"/>
                  </a:lnTo>
                  <a:cubicBezTo>
                    <a:pt x="785600" y="202146"/>
                    <a:pt x="757177" y="173723"/>
                    <a:pt x="722116" y="173723"/>
                  </a:cubicBezTo>
                  <a:lnTo>
                    <a:pt x="634876" y="173723"/>
                  </a:lnTo>
                  <a:cubicBezTo>
                    <a:pt x="608806" y="147652"/>
                    <a:pt x="582735" y="121580"/>
                    <a:pt x="556664" y="95510"/>
                  </a:cubicBezTo>
                  <a:cubicBezTo>
                    <a:pt x="429319" y="-31836"/>
                    <a:pt x="222853" y="-31835"/>
                    <a:pt x="95508" y="95510"/>
                  </a:cubicBezTo>
                  <a:cubicBezTo>
                    <a:pt x="31836" y="159182"/>
                    <a:pt x="0" y="242635"/>
                    <a:pt x="0" y="326088"/>
                  </a:cubicBezTo>
                  <a:cubicBezTo>
                    <a:pt x="0" y="409541"/>
                    <a:pt x="31836" y="492993"/>
                    <a:pt x="95508" y="556666"/>
                  </a:cubicBezTo>
                  <a:cubicBezTo>
                    <a:pt x="222853" y="684011"/>
                    <a:pt x="429320" y="684011"/>
                    <a:pt x="556665" y="556666"/>
                  </a:cubicBezTo>
                  <a:lnTo>
                    <a:pt x="634877" y="478453"/>
                  </a:lnTo>
                  <a:lnTo>
                    <a:pt x="722116" y="478454"/>
                  </a:lnTo>
                  <a:cubicBezTo>
                    <a:pt x="757178" y="478453"/>
                    <a:pt x="785600" y="450030"/>
                    <a:pt x="785600" y="414969"/>
                  </a:cubicBezTo>
                  <a:lnTo>
                    <a:pt x="785600" y="327730"/>
                  </a:lnTo>
                  <a:close/>
                  <a:moveTo>
                    <a:pt x="893383" y="437431"/>
                  </a:moveTo>
                  <a:lnTo>
                    <a:pt x="893383" y="214744"/>
                  </a:lnTo>
                  <a:cubicBezTo>
                    <a:pt x="893383" y="198562"/>
                    <a:pt x="880265" y="185443"/>
                    <a:pt x="864082" y="185443"/>
                  </a:cubicBezTo>
                  <a:cubicBezTo>
                    <a:pt x="847900" y="185443"/>
                    <a:pt x="834781" y="198562"/>
                    <a:pt x="834781" y="214744"/>
                  </a:cubicBezTo>
                  <a:lnTo>
                    <a:pt x="834781" y="437432"/>
                  </a:lnTo>
                  <a:cubicBezTo>
                    <a:pt x="834781" y="453614"/>
                    <a:pt x="847900" y="466733"/>
                    <a:pt x="864082" y="466733"/>
                  </a:cubicBezTo>
                  <a:lnTo>
                    <a:pt x="864082" y="466732"/>
                  </a:lnTo>
                  <a:cubicBezTo>
                    <a:pt x="880265" y="466732"/>
                    <a:pt x="893383" y="453614"/>
                    <a:pt x="893383" y="437431"/>
                  </a:cubicBezTo>
                  <a:close/>
                  <a:moveTo>
                    <a:pt x="984194" y="425711"/>
                  </a:moveTo>
                  <a:lnTo>
                    <a:pt x="984193" y="226464"/>
                  </a:lnTo>
                  <a:cubicBezTo>
                    <a:pt x="984193" y="210282"/>
                    <a:pt x="971075" y="197164"/>
                    <a:pt x="954893" y="197163"/>
                  </a:cubicBezTo>
                  <a:cubicBezTo>
                    <a:pt x="938710" y="197164"/>
                    <a:pt x="925591" y="210282"/>
                    <a:pt x="925591" y="226464"/>
                  </a:cubicBezTo>
                  <a:lnTo>
                    <a:pt x="925591" y="425711"/>
                  </a:lnTo>
                  <a:cubicBezTo>
                    <a:pt x="925591" y="441894"/>
                    <a:pt x="938710" y="455012"/>
                    <a:pt x="954893" y="455012"/>
                  </a:cubicBezTo>
                  <a:lnTo>
                    <a:pt x="954893" y="455012"/>
                  </a:lnTo>
                  <a:cubicBezTo>
                    <a:pt x="971075" y="455012"/>
                    <a:pt x="984194" y="441893"/>
                    <a:pt x="984194" y="425711"/>
                  </a:cubicBezTo>
                  <a:close/>
                  <a:moveTo>
                    <a:pt x="1075004" y="402269"/>
                  </a:moveTo>
                  <a:lnTo>
                    <a:pt x="1075004" y="249905"/>
                  </a:lnTo>
                  <a:cubicBezTo>
                    <a:pt x="1075004" y="233722"/>
                    <a:pt x="1061885" y="220604"/>
                    <a:pt x="1045703" y="220604"/>
                  </a:cubicBezTo>
                  <a:cubicBezTo>
                    <a:pt x="1029520" y="220604"/>
                    <a:pt x="1016402" y="233722"/>
                    <a:pt x="1016402" y="249905"/>
                  </a:cubicBezTo>
                  <a:lnTo>
                    <a:pt x="1016402" y="402270"/>
                  </a:lnTo>
                  <a:cubicBezTo>
                    <a:pt x="1016402" y="418452"/>
                    <a:pt x="1029520" y="431571"/>
                    <a:pt x="1045703" y="431571"/>
                  </a:cubicBezTo>
                  <a:lnTo>
                    <a:pt x="1045703" y="431571"/>
                  </a:lnTo>
                  <a:cubicBezTo>
                    <a:pt x="1061885" y="431571"/>
                    <a:pt x="1075004" y="418452"/>
                    <a:pt x="1075004" y="402269"/>
                  </a:cubicBez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BD92BEC-5495-4FBF-8C94-228A63884E65}"/>
              </a:ext>
            </a:extLst>
          </p:cNvPr>
          <p:cNvGrpSpPr/>
          <p:nvPr/>
        </p:nvGrpSpPr>
        <p:grpSpPr>
          <a:xfrm>
            <a:off x="1591607" y="-20084"/>
            <a:ext cx="762976" cy="2449850"/>
            <a:chOff x="1591607" y="-20084"/>
            <a:chExt cx="762976" cy="2449850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8276CA7-4E5B-4C1A-8C3A-BF3519946E3D}"/>
                </a:ext>
              </a:extLst>
            </p:cNvPr>
            <p:cNvSpPr/>
            <p:nvPr/>
          </p:nvSpPr>
          <p:spPr>
            <a:xfrm>
              <a:off x="1936171" y="-20084"/>
              <a:ext cx="72000" cy="1188000"/>
            </a:xfrm>
            <a:prstGeom prst="rect">
              <a:avLst/>
            </a:prstGeom>
            <a:solidFill>
              <a:srgbClr val="56587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28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0474AAE4-9732-4D4B-A7D3-1C4B1E42E7DC}"/>
                </a:ext>
              </a:extLst>
            </p:cNvPr>
            <p:cNvSpPr/>
            <p:nvPr/>
          </p:nvSpPr>
          <p:spPr>
            <a:xfrm rot="5400000" flipH="1">
              <a:off x="1344272" y="1419455"/>
              <a:ext cx="1257646" cy="762976"/>
            </a:xfrm>
            <a:custGeom>
              <a:avLst/>
              <a:gdLst>
                <a:gd name="connsiteX0" fmla="*/ 782320 w 1075004"/>
                <a:gd name="connsiteY0" fmla="*/ 253919 h 652173"/>
                <a:gd name="connsiteX1" fmla="*/ 763875 w 1075004"/>
                <a:gd name="connsiteY1" fmla="*/ 269396 h 652173"/>
                <a:gd name="connsiteX2" fmla="*/ 421371 w 1075004"/>
                <a:gd name="connsiteY2" fmla="*/ 239431 h 652173"/>
                <a:gd name="connsiteX3" fmla="*/ 421370 w 1075004"/>
                <a:gd name="connsiteY3" fmla="*/ 253854 h 652173"/>
                <a:gd name="connsiteX4" fmla="*/ 447078 w 1075004"/>
                <a:gd name="connsiteY4" fmla="*/ 253854 h 652173"/>
                <a:gd name="connsiteX5" fmla="*/ 464104 w 1075004"/>
                <a:gd name="connsiteY5" fmla="*/ 270880 h 652173"/>
                <a:gd name="connsiteX6" fmla="*/ 464104 w 1075004"/>
                <a:gd name="connsiteY6" fmla="*/ 270879 h 652173"/>
                <a:gd name="connsiteX7" fmla="*/ 447078 w 1075004"/>
                <a:gd name="connsiteY7" fmla="*/ 287905 h 652173"/>
                <a:gd name="connsiteX8" fmla="*/ 421371 w 1075004"/>
                <a:gd name="connsiteY8" fmla="*/ 287905 h 652173"/>
                <a:gd name="connsiteX9" fmla="*/ 421371 w 1075004"/>
                <a:gd name="connsiteY9" fmla="*/ 311227 h 652173"/>
                <a:gd name="connsiteX10" fmla="*/ 447078 w 1075004"/>
                <a:gd name="connsiteY10" fmla="*/ 311227 h 652173"/>
                <a:gd name="connsiteX11" fmla="*/ 464104 w 1075004"/>
                <a:gd name="connsiteY11" fmla="*/ 328253 h 652173"/>
                <a:gd name="connsiteX12" fmla="*/ 464104 w 1075004"/>
                <a:gd name="connsiteY12" fmla="*/ 328253 h 652173"/>
                <a:gd name="connsiteX13" fmla="*/ 447078 w 1075004"/>
                <a:gd name="connsiteY13" fmla="*/ 345278 h 652173"/>
                <a:gd name="connsiteX14" fmla="*/ 421371 w 1075004"/>
                <a:gd name="connsiteY14" fmla="*/ 345279 h 652173"/>
                <a:gd name="connsiteX15" fmla="*/ 421371 w 1075004"/>
                <a:gd name="connsiteY15" fmla="*/ 368601 h 652173"/>
                <a:gd name="connsiteX16" fmla="*/ 447078 w 1075004"/>
                <a:gd name="connsiteY16" fmla="*/ 368601 h 652173"/>
                <a:gd name="connsiteX17" fmla="*/ 464104 w 1075004"/>
                <a:gd name="connsiteY17" fmla="*/ 385627 h 652173"/>
                <a:gd name="connsiteX18" fmla="*/ 464104 w 1075004"/>
                <a:gd name="connsiteY18" fmla="*/ 385627 h 652173"/>
                <a:gd name="connsiteX19" fmla="*/ 447079 w 1075004"/>
                <a:gd name="connsiteY19" fmla="*/ 402652 h 652173"/>
                <a:gd name="connsiteX20" fmla="*/ 421371 w 1075004"/>
                <a:gd name="connsiteY20" fmla="*/ 402652 h 652173"/>
                <a:gd name="connsiteX21" fmla="*/ 421370 w 1075004"/>
                <a:gd name="connsiteY21" fmla="*/ 417162 h 652173"/>
                <a:gd name="connsiteX22" fmla="*/ 762267 w 1075004"/>
                <a:gd name="connsiteY22" fmla="*/ 381332 h 652173"/>
                <a:gd name="connsiteX23" fmla="*/ 780979 w 1075004"/>
                <a:gd name="connsiteY23" fmla="*/ 396485 h 652173"/>
                <a:gd name="connsiteX24" fmla="*/ 765828 w 1075004"/>
                <a:gd name="connsiteY24" fmla="*/ 415197 h 652173"/>
                <a:gd name="connsiteX25" fmla="*/ 415893 w 1075004"/>
                <a:gd name="connsiteY25" fmla="*/ 451977 h 652173"/>
                <a:gd name="connsiteX26" fmla="*/ 397181 w 1075004"/>
                <a:gd name="connsiteY26" fmla="*/ 436824 h 652173"/>
                <a:gd name="connsiteX27" fmla="*/ 398889 w 1075004"/>
                <a:gd name="connsiteY27" fmla="*/ 431060 h 652173"/>
                <a:gd name="connsiteX28" fmla="*/ 398669 w 1075004"/>
                <a:gd name="connsiteY28" fmla="*/ 430530 h 652173"/>
                <a:gd name="connsiteX29" fmla="*/ 398669 w 1075004"/>
                <a:gd name="connsiteY29" fmla="*/ 402652 h 652173"/>
                <a:gd name="connsiteX30" fmla="*/ 372962 w 1075004"/>
                <a:gd name="connsiteY30" fmla="*/ 402653 h 652173"/>
                <a:gd name="connsiteX31" fmla="*/ 355936 w 1075004"/>
                <a:gd name="connsiteY31" fmla="*/ 385627 h 652173"/>
                <a:gd name="connsiteX32" fmla="*/ 372962 w 1075004"/>
                <a:gd name="connsiteY32" fmla="*/ 368601 h 652173"/>
                <a:gd name="connsiteX33" fmla="*/ 398669 w 1075004"/>
                <a:gd name="connsiteY33" fmla="*/ 368601 h 652173"/>
                <a:gd name="connsiteX34" fmla="*/ 398669 w 1075004"/>
                <a:gd name="connsiteY34" fmla="*/ 345279 h 652173"/>
                <a:gd name="connsiteX35" fmla="*/ 372962 w 1075004"/>
                <a:gd name="connsiteY35" fmla="*/ 345279 h 652173"/>
                <a:gd name="connsiteX36" fmla="*/ 355936 w 1075004"/>
                <a:gd name="connsiteY36" fmla="*/ 328253 h 652173"/>
                <a:gd name="connsiteX37" fmla="*/ 372962 w 1075004"/>
                <a:gd name="connsiteY37" fmla="*/ 311228 h 652173"/>
                <a:gd name="connsiteX38" fmla="*/ 398669 w 1075004"/>
                <a:gd name="connsiteY38" fmla="*/ 311227 h 652173"/>
                <a:gd name="connsiteX39" fmla="*/ 398669 w 1075004"/>
                <a:gd name="connsiteY39" fmla="*/ 287905 h 652173"/>
                <a:gd name="connsiteX40" fmla="*/ 372962 w 1075004"/>
                <a:gd name="connsiteY40" fmla="*/ 287905 h 652173"/>
                <a:gd name="connsiteX41" fmla="*/ 355936 w 1075004"/>
                <a:gd name="connsiteY41" fmla="*/ 270880 h 652173"/>
                <a:gd name="connsiteX42" fmla="*/ 372962 w 1075004"/>
                <a:gd name="connsiteY42" fmla="*/ 253854 h 652173"/>
                <a:gd name="connsiteX43" fmla="*/ 398669 w 1075004"/>
                <a:gd name="connsiteY43" fmla="*/ 253854 h 652173"/>
                <a:gd name="connsiteX44" fmla="*/ 398669 w 1075004"/>
                <a:gd name="connsiteY44" fmla="*/ 226224 h 652173"/>
                <a:gd name="connsiteX45" fmla="*/ 399282 w 1075004"/>
                <a:gd name="connsiteY45" fmla="*/ 224745 h 652173"/>
                <a:gd name="connsiteX46" fmla="*/ 397875 w 1075004"/>
                <a:gd name="connsiteY46" fmla="*/ 220285 h 652173"/>
                <a:gd name="connsiteX47" fmla="*/ 416320 w 1075004"/>
                <a:gd name="connsiteY47" fmla="*/ 204807 h 652173"/>
                <a:gd name="connsiteX48" fmla="*/ 766843 w 1075004"/>
                <a:gd name="connsiteY48" fmla="*/ 235474 h 652173"/>
                <a:gd name="connsiteX49" fmla="*/ 782320 w 1075004"/>
                <a:gd name="connsiteY49" fmla="*/ 253919 h 652173"/>
                <a:gd name="connsiteX50" fmla="*/ 787242 w 1075004"/>
                <a:gd name="connsiteY50" fmla="*/ 326087 h 652173"/>
                <a:gd name="connsiteX51" fmla="*/ 785600 w 1075004"/>
                <a:gd name="connsiteY51" fmla="*/ 324445 h 652173"/>
                <a:gd name="connsiteX52" fmla="*/ 785600 w 1075004"/>
                <a:gd name="connsiteY52" fmla="*/ 237207 h 652173"/>
                <a:gd name="connsiteX53" fmla="*/ 722115 w 1075004"/>
                <a:gd name="connsiteY53" fmla="*/ 173722 h 652173"/>
                <a:gd name="connsiteX54" fmla="*/ 634876 w 1075004"/>
                <a:gd name="connsiteY54" fmla="*/ 173722 h 652173"/>
                <a:gd name="connsiteX55" fmla="*/ 556664 w 1075004"/>
                <a:gd name="connsiteY55" fmla="*/ 95509 h 652173"/>
                <a:gd name="connsiteX56" fmla="*/ 95508 w 1075004"/>
                <a:gd name="connsiteY56" fmla="*/ 95509 h 652173"/>
                <a:gd name="connsiteX57" fmla="*/ 0 w 1075004"/>
                <a:gd name="connsiteY57" fmla="*/ 326087 h 652173"/>
                <a:gd name="connsiteX58" fmla="*/ 95508 w 1075004"/>
                <a:gd name="connsiteY58" fmla="*/ 556665 h 652173"/>
                <a:gd name="connsiteX59" fmla="*/ 556664 w 1075004"/>
                <a:gd name="connsiteY59" fmla="*/ 556665 h 652173"/>
                <a:gd name="connsiteX60" fmla="*/ 634877 w 1075004"/>
                <a:gd name="connsiteY60" fmla="*/ 478452 h 652173"/>
                <a:gd name="connsiteX61" fmla="*/ 722116 w 1075004"/>
                <a:gd name="connsiteY61" fmla="*/ 478453 h 652173"/>
                <a:gd name="connsiteX62" fmla="*/ 785600 w 1075004"/>
                <a:gd name="connsiteY62" fmla="*/ 414968 h 652173"/>
                <a:gd name="connsiteX63" fmla="*/ 785600 w 1075004"/>
                <a:gd name="connsiteY63" fmla="*/ 327729 h 652173"/>
                <a:gd name="connsiteX64" fmla="*/ 893383 w 1075004"/>
                <a:gd name="connsiteY64" fmla="*/ 437430 h 652173"/>
                <a:gd name="connsiteX65" fmla="*/ 893383 w 1075004"/>
                <a:gd name="connsiteY65" fmla="*/ 214743 h 652173"/>
                <a:gd name="connsiteX66" fmla="*/ 864082 w 1075004"/>
                <a:gd name="connsiteY66" fmla="*/ 185442 h 652173"/>
                <a:gd name="connsiteX67" fmla="*/ 834781 w 1075004"/>
                <a:gd name="connsiteY67" fmla="*/ 214743 h 652173"/>
                <a:gd name="connsiteX68" fmla="*/ 834781 w 1075004"/>
                <a:gd name="connsiteY68" fmla="*/ 437431 h 652173"/>
                <a:gd name="connsiteX69" fmla="*/ 864082 w 1075004"/>
                <a:gd name="connsiteY69" fmla="*/ 466732 h 652173"/>
                <a:gd name="connsiteX70" fmla="*/ 864082 w 1075004"/>
                <a:gd name="connsiteY70" fmla="*/ 466731 h 652173"/>
                <a:gd name="connsiteX71" fmla="*/ 893383 w 1075004"/>
                <a:gd name="connsiteY71" fmla="*/ 437430 h 652173"/>
                <a:gd name="connsiteX72" fmla="*/ 984194 w 1075004"/>
                <a:gd name="connsiteY72" fmla="*/ 425710 h 652173"/>
                <a:gd name="connsiteX73" fmla="*/ 984193 w 1075004"/>
                <a:gd name="connsiteY73" fmla="*/ 226463 h 652173"/>
                <a:gd name="connsiteX74" fmla="*/ 954892 w 1075004"/>
                <a:gd name="connsiteY74" fmla="*/ 197162 h 652173"/>
                <a:gd name="connsiteX75" fmla="*/ 925591 w 1075004"/>
                <a:gd name="connsiteY75" fmla="*/ 226463 h 652173"/>
                <a:gd name="connsiteX76" fmla="*/ 925591 w 1075004"/>
                <a:gd name="connsiteY76" fmla="*/ 425710 h 652173"/>
                <a:gd name="connsiteX77" fmla="*/ 954892 w 1075004"/>
                <a:gd name="connsiteY77" fmla="*/ 455011 h 652173"/>
                <a:gd name="connsiteX78" fmla="*/ 954892 w 1075004"/>
                <a:gd name="connsiteY78" fmla="*/ 455011 h 652173"/>
                <a:gd name="connsiteX79" fmla="*/ 984194 w 1075004"/>
                <a:gd name="connsiteY79" fmla="*/ 425710 h 652173"/>
                <a:gd name="connsiteX80" fmla="*/ 1075004 w 1075004"/>
                <a:gd name="connsiteY80" fmla="*/ 402268 h 652173"/>
                <a:gd name="connsiteX81" fmla="*/ 1075003 w 1075004"/>
                <a:gd name="connsiteY81" fmla="*/ 249904 h 652173"/>
                <a:gd name="connsiteX82" fmla="*/ 1045703 w 1075004"/>
                <a:gd name="connsiteY82" fmla="*/ 220603 h 652173"/>
                <a:gd name="connsiteX83" fmla="*/ 1016401 w 1075004"/>
                <a:gd name="connsiteY83" fmla="*/ 249904 h 652173"/>
                <a:gd name="connsiteX84" fmla="*/ 1016402 w 1075004"/>
                <a:gd name="connsiteY84" fmla="*/ 402269 h 652173"/>
                <a:gd name="connsiteX85" fmla="*/ 1045703 w 1075004"/>
                <a:gd name="connsiteY85" fmla="*/ 431570 h 652173"/>
                <a:gd name="connsiteX86" fmla="*/ 1045703 w 1075004"/>
                <a:gd name="connsiteY86" fmla="*/ 431570 h 652173"/>
                <a:gd name="connsiteX87" fmla="*/ 1075004 w 1075004"/>
                <a:gd name="connsiteY87" fmla="*/ 402268 h 652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1075004" h="652173">
                  <a:moveTo>
                    <a:pt x="782320" y="253919"/>
                  </a:moveTo>
                  <a:cubicBezTo>
                    <a:pt x="781500" y="263286"/>
                    <a:pt x="773242" y="270215"/>
                    <a:pt x="763875" y="269396"/>
                  </a:cubicBezTo>
                  <a:cubicBezTo>
                    <a:pt x="649707" y="259408"/>
                    <a:pt x="535539" y="249420"/>
                    <a:pt x="421371" y="239431"/>
                  </a:cubicBezTo>
                  <a:lnTo>
                    <a:pt x="421370" y="253854"/>
                  </a:lnTo>
                  <a:lnTo>
                    <a:pt x="447078" y="253854"/>
                  </a:lnTo>
                  <a:cubicBezTo>
                    <a:pt x="456482" y="253853"/>
                    <a:pt x="464103" y="261476"/>
                    <a:pt x="464104" y="270880"/>
                  </a:cubicBezTo>
                  <a:lnTo>
                    <a:pt x="464104" y="270879"/>
                  </a:lnTo>
                  <a:cubicBezTo>
                    <a:pt x="464104" y="280282"/>
                    <a:pt x="456482" y="287905"/>
                    <a:pt x="447078" y="287905"/>
                  </a:cubicBezTo>
                  <a:cubicBezTo>
                    <a:pt x="438509" y="287905"/>
                    <a:pt x="429939" y="287904"/>
                    <a:pt x="421371" y="287905"/>
                  </a:cubicBezTo>
                  <a:lnTo>
                    <a:pt x="421371" y="311227"/>
                  </a:lnTo>
                  <a:lnTo>
                    <a:pt x="447078" y="311227"/>
                  </a:lnTo>
                  <a:cubicBezTo>
                    <a:pt x="456482" y="311227"/>
                    <a:pt x="464104" y="318850"/>
                    <a:pt x="464104" y="328253"/>
                  </a:cubicBezTo>
                  <a:lnTo>
                    <a:pt x="464104" y="328253"/>
                  </a:lnTo>
                  <a:cubicBezTo>
                    <a:pt x="464104" y="337655"/>
                    <a:pt x="456482" y="345278"/>
                    <a:pt x="447078" y="345278"/>
                  </a:cubicBezTo>
                  <a:cubicBezTo>
                    <a:pt x="438510" y="345278"/>
                    <a:pt x="429939" y="345278"/>
                    <a:pt x="421371" y="345279"/>
                  </a:cubicBezTo>
                  <a:lnTo>
                    <a:pt x="421371" y="368601"/>
                  </a:lnTo>
                  <a:lnTo>
                    <a:pt x="447078" y="368601"/>
                  </a:lnTo>
                  <a:cubicBezTo>
                    <a:pt x="456482" y="368601"/>
                    <a:pt x="464104" y="376223"/>
                    <a:pt x="464104" y="385627"/>
                  </a:cubicBezTo>
                  <a:lnTo>
                    <a:pt x="464104" y="385627"/>
                  </a:lnTo>
                  <a:cubicBezTo>
                    <a:pt x="464104" y="395030"/>
                    <a:pt x="456481" y="402652"/>
                    <a:pt x="447079" y="402652"/>
                  </a:cubicBezTo>
                  <a:cubicBezTo>
                    <a:pt x="438509" y="402652"/>
                    <a:pt x="429940" y="402652"/>
                    <a:pt x="421371" y="402652"/>
                  </a:cubicBezTo>
                  <a:lnTo>
                    <a:pt x="421370" y="417162"/>
                  </a:lnTo>
                  <a:lnTo>
                    <a:pt x="762267" y="381332"/>
                  </a:lnTo>
                  <a:cubicBezTo>
                    <a:pt x="771619" y="380350"/>
                    <a:pt x="779997" y="387134"/>
                    <a:pt x="780979" y="396485"/>
                  </a:cubicBezTo>
                  <a:cubicBezTo>
                    <a:pt x="781963" y="405837"/>
                    <a:pt x="775179" y="414214"/>
                    <a:pt x="765828" y="415197"/>
                  </a:cubicBezTo>
                  <a:cubicBezTo>
                    <a:pt x="649182" y="427457"/>
                    <a:pt x="532538" y="439718"/>
                    <a:pt x="415893" y="451977"/>
                  </a:cubicBezTo>
                  <a:cubicBezTo>
                    <a:pt x="406541" y="452960"/>
                    <a:pt x="398164" y="446176"/>
                    <a:pt x="397181" y="436824"/>
                  </a:cubicBezTo>
                  <a:cubicBezTo>
                    <a:pt x="396959" y="434720"/>
                    <a:pt x="397132" y="432665"/>
                    <a:pt x="398889" y="431060"/>
                  </a:cubicBezTo>
                  <a:lnTo>
                    <a:pt x="398669" y="430530"/>
                  </a:lnTo>
                  <a:lnTo>
                    <a:pt x="398669" y="402652"/>
                  </a:lnTo>
                  <a:lnTo>
                    <a:pt x="372962" y="402653"/>
                  </a:lnTo>
                  <a:cubicBezTo>
                    <a:pt x="363559" y="402653"/>
                    <a:pt x="355936" y="395031"/>
                    <a:pt x="355936" y="385627"/>
                  </a:cubicBezTo>
                  <a:cubicBezTo>
                    <a:pt x="355936" y="376224"/>
                    <a:pt x="363558" y="368601"/>
                    <a:pt x="372962" y="368601"/>
                  </a:cubicBezTo>
                  <a:lnTo>
                    <a:pt x="398669" y="368601"/>
                  </a:lnTo>
                  <a:lnTo>
                    <a:pt x="398669" y="345279"/>
                  </a:lnTo>
                  <a:lnTo>
                    <a:pt x="372962" y="345279"/>
                  </a:lnTo>
                  <a:cubicBezTo>
                    <a:pt x="363559" y="345278"/>
                    <a:pt x="355937" y="337656"/>
                    <a:pt x="355936" y="328253"/>
                  </a:cubicBezTo>
                  <a:cubicBezTo>
                    <a:pt x="355937" y="318850"/>
                    <a:pt x="363559" y="311227"/>
                    <a:pt x="372962" y="311228"/>
                  </a:cubicBezTo>
                  <a:lnTo>
                    <a:pt x="398669" y="311227"/>
                  </a:lnTo>
                  <a:lnTo>
                    <a:pt x="398669" y="287905"/>
                  </a:lnTo>
                  <a:lnTo>
                    <a:pt x="372962" y="287905"/>
                  </a:lnTo>
                  <a:cubicBezTo>
                    <a:pt x="363559" y="287905"/>
                    <a:pt x="355936" y="280283"/>
                    <a:pt x="355936" y="270880"/>
                  </a:cubicBezTo>
                  <a:cubicBezTo>
                    <a:pt x="355936" y="261476"/>
                    <a:pt x="363559" y="253854"/>
                    <a:pt x="372962" y="253854"/>
                  </a:cubicBezTo>
                  <a:lnTo>
                    <a:pt x="398669" y="253854"/>
                  </a:lnTo>
                  <a:lnTo>
                    <a:pt x="398669" y="226224"/>
                  </a:lnTo>
                  <a:cubicBezTo>
                    <a:pt x="398669" y="225699"/>
                    <a:pt x="398705" y="225182"/>
                    <a:pt x="399282" y="224745"/>
                  </a:cubicBezTo>
                  <a:lnTo>
                    <a:pt x="397875" y="220285"/>
                  </a:lnTo>
                  <a:cubicBezTo>
                    <a:pt x="398695" y="210917"/>
                    <a:pt x="406953" y="203988"/>
                    <a:pt x="416320" y="204807"/>
                  </a:cubicBezTo>
                  <a:lnTo>
                    <a:pt x="766843" y="235474"/>
                  </a:lnTo>
                  <a:cubicBezTo>
                    <a:pt x="776210" y="236294"/>
                    <a:pt x="783139" y="244551"/>
                    <a:pt x="782320" y="253919"/>
                  </a:cubicBezTo>
                  <a:close/>
                  <a:moveTo>
                    <a:pt x="787242" y="326087"/>
                  </a:moveTo>
                  <a:lnTo>
                    <a:pt x="785600" y="324445"/>
                  </a:lnTo>
                  <a:lnTo>
                    <a:pt x="785600" y="237207"/>
                  </a:lnTo>
                  <a:cubicBezTo>
                    <a:pt x="785600" y="202145"/>
                    <a:pt x="757177" y="173722"/>
                    <a:pt x="722115" y="173722"/>
                  </a:cubicBezTo>
                  <a:lnTo>
                    <a:pt x="634876" y="173722"/>
                  </a:lnTo>
                  <a:cubicBezTo>
                    <a:pt x="608805" y="147651"/>
                    <a:pt x="582735" y="121579"/>
                    <a:pt x="556664" y="95509"/>
                  </a:cubicBezTo>
                  <a:cubicBezTo>
                    <a:pt x="429319" y="-31836"/>
                    <a:pt x="222853" y="-31836"/>
                    <a:pt x="95508" y="95509"/>
                  </a:cubicBezTo>
                  <a:cubicBezTo>
                    <a:pt x="31836" y="159181"/>
                    <a:pt x="0" y="242634"/>
                    <a:pt x="0" y="326087"/>
                  </a:cubicBezTo>
                  <a:cubicBezTo>
                    <a:pt x="0" y="409540"/>
                    <a:pt x="31836" y="492992"/>
                    <a:pt x="95508" y="556665"/>
                  </a:cubicBezTo>
                  <a:cubicBezTo>
                    <a:pt x="222853" y="684010"/>
                    <a:pt x="429320" y="684010"/>
                    <a:pt x="556664" y="556665"/>
                  </a:cubicBezTo>
                  <a:lnTo>
                    <a:pt x="634877" y="478452"/>
                  </a:lnTo>
                  <a:lnTo>
                    <a:pt x="722116" y="478453"/>
                  </a:lnTo>
                  <a:cubicBezTo>
                    <a:pt x="757178" y="478452"/>
                    <a:pt x="785600" y="450029"/>
                    <a:pt x="785600" y="414968"/>
                  </a:cubicBezTo>
                  <a:lnTo>
                    <a:pt x="785600" y="327729"/>
                  </a:lnTo>
                  <a:close/>
                  <a:moveTo>
                    <a:pt x="893383" y="437430"/>
                  </a:moveTo>
                  <a:lnTo>
                    <a:pt x="893383" y="214743"/>
                  </a:lnTo>
                  <a:cubicBezTo>
                    <a:pt x="893383" y="198561"/>
                    <a:pt x="880265" y="185442"/>
                    <a:pt x="864082" y="185442"/>
                  </a:cubicBezTo>
                  <a:cubicBezTo>
                    <a:pt x="847899" y="185442"/>
                    <a:pt x="834781" y="198561"/>
                    <a:pt x="834781" y="214743"/>
                  </a:cubicBezTo>
                  <a:lnTo>
                    <a:pt x="834781" y="437431"/>
                  </a:lnTo>
                  <a:cubicBezTo>
                    <a:pt x="834781" y="453613"/>
                    <a:pt x="847900" y="466732"/>
                    <a:pt x="864082" y="466732"/>
                  </a:cubicBezTo>
                  <a:lnTo>
                    <a:pt x="864082" y="466731"/>
                  </a:lnTo>
                  <a:cubicBezTo>
                    <a:pt x="880265" y="466731"/>
                    <a:pt x="893383" y="453613"/>
                    <a:pt x="893383" y="437430"/>
                  </a:cubicBezTo>
                  <a:close/>
                  <a:moveTo>
                    <a:pt x="984194" y="425710"/>
                  </a:moveTo>
                  <a:lnTo>
                    <a:pt x="984193" y="226463"/>
                  </a:lnTo>
                  <a:cubicBezTo>
                    <a:pt x="984193" y="210281"/>
                    <a:pt x="971075" y="197163"/>
                    <a:pt x="954892" y="197162"/>
                  </a:cubicBezTo>
                  <a:cubicBezTo>
                    <a:pt x="938710" y="197163"/>
                    <a:pt x="925591" y="210281"/>
                    <a:pt x="925591" y="226463"/>
                  </a:cubicBezTo>
                  <a:lnTo>
                    <a:pt x="925591" y="425710"/>
                  </a:lnTo>
                  <a:cubicBezTo>
                    <a:pt x="925591" y="441893"/>
                    <a:pt x="938710" y="455011"/>
                    <a:pt x="954892" y="455011"/>
                  </a:cubicBezTo>
                  <a:lnTo>
                    <a:pt x="954892" y="455011"/>
                  </a:lnTo>
                  <a:cubicBezTo>
                    <a:pt x="971075" y="455011"/>
                    <a:pt x="984194" y="441892"/>
                    <a:pt x="984194" y="425710"/>
                  </a:cubicBezTo>
                  <a:close/>
                  <a:moveTo>
                    <a:pt x="1075004" y="402268"/>
                  </a:moveTo>
                  <a:lnTo>
                    <a:pt x="1075003" y="249904"/>
                  </a:lnTo>
                  <a:cubicBezTo>
                    <a:pt x="1075003" y="233721"/>
                    <a:pt x="1061885" y="220603"/>
                    <a:pt x="1045703" y="220603"/>
                  </a:cubicBezTo>
                  <a:cubicBezTo>
                    <a:pt x="1029520" y="220603"/>
                    <a:pt x="1016401" y="233721"/>
                    <a:pt x="1016401" y="249904"/>
                  </a:cubicBezTo>
                  <a:lnTo>
                    <a:pt x="1016402" y="402269"/>
                  </a:lnTo>
                  <a:cubicBezTo>
                    <a:pt x="1016402" y="418451"/>
                    <a:pt x="1029520" y="431570"/>
                    <a:pt x="1045703" y="431570"/>
                  </a:cubicBezTo>
                  <a:lnTo>
                    <a:pt x="1045703" y="431570"/>
                  </a:lnTo>
                  <a:cubicBezTo>
                    <a:pt x="1061885" y="431570"/>
                    <a:pt x="1075004" y="418451"/>
                    <a:pt x="1075004" y="402268"/>
                  </a:cubicBezTo>
                  <a:close/>
                </a:path>
              </a:pathLst>
            </a:custGeom>
            <a:solidFill>
              <a:srgbClr val="56587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0240D582-D1A6-42EB-82F5-453FE34E72EF}"/>
              </a:ext>
            </a:extLst>
          </p:cNvPr>
          <p:cNvSpPr txBox="1"/>
          <p:nvPr/>
        </p:nvSpPr>
        <p:spPr>
          <a:xfrm>
            <a:off x="5403697" y="177334"/>
            <a:ext cx="6191673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286"/>
            <a:r>
              <a:rPr lang="en-IN" altLang="ko-KR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ko-KR" altLang="en-US" sz="6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6C2EAAA-B01C-4519-BC97-112F3F0B8491}"/>
              </a:ext>
            </a:extLst>
          </p:cNvPr>
          <p:cNvSpPr>
            <a:spLocks noChangeAspect="1"/>
          </p:cNvSpPr>
          <p:nvPr/>
        </p:nvSpPr>
        <p:spPr>
          <a:xfrm>
            <a:off x="4610729" y="3669531"/>
            <a:ext cx="874101" cy="874101"/>
          </a:xfrm>
          <a:prstGeom prst="ellipse">
            <a:avLst/>
          </a:prstGeom>
          <a:gradFill flip="none" rotWithShape="1">
            <a:gsLst>
              <a:gs pos="0">
                <a:srgbClr val="0779B7">
                  <a:lumMod val="50000"/>
                </a:srgbClr>
              </a:gs>
              <a:gs pos="50000">
                <a:srgbClr val="0779B7">
                  <a:lumMod val="75000"/>
                </a:srgbClr>
              </a:gs>
              <a:gs pos="100000">
                <a:srgbClr val="0779B7"/>
              </a:gs>
            </a:gsLst>
            <a:lin ang="18900000" scaled="1"/>
            <a:tileRect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71981" tIns="91416" rIns="71981" bIns="91416" numCol="1" anchor="ctr" anchorCtr="1" compatLnSpc="1">
            <a:prstTxWarp prst="textNoShape">
              <a:avLst/>
            </a:prstTxWarp>
          </a:bodyPr>
          <a:lstStyle/>
          <a:p>
            <a:pPr algn="just" defTabSz="1218987">
              <a:defRPr/>
            </a:pPr>
            <a:r>
              <a:rPr lang="en-US" sz="4399" kern="0" dirty="0">
                <a:solidFill>
                  <a:srgbClr val="FFFFFF"/>
                </a:solidFill>
                <a:latin typeface="Arial"/>
                <a:cs typeface="Arial" pitchFamily="34" charset="0"/>
              </a:rPr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8058008-4364-4E57-9A0B-09EBD1174D95}"/>
              </a:ext>
            </a:extLst>
          </p:cNvPr>
          <p:cNvSpPr>
            <a:spLocks noChangeAspect="1"/>
          </p:cNvSpPr>
          <p:nvPr/>
        </p:nvSpPr>
        <p:spPr>
          <a:xfrm>
            <a:off x="4626544" y="2603801"/>
            <a:ext cx="874101" cy="874101"/>
          </a:xfrm>
          <a:prstGeom prst="ellipse">
            <a:avLst/>
          </a:prstGeom>
          <a:gradFill flip="none" rotWithShape="1">
            <a:gsLst>
              <a:gs pos="0">
                <a:srgbClr val="0779B7">
                  <a:lumMod val="50000"/>
                </a:srgbClr>
              </a:gs>
              <a:gs pos="50000">
                <a:srgbClr val="0779B7">
                  <a:lumMod val="75000"/>
                </a:srgbClr>
              </a:gs>
              <a:gs pos="100000">
                <a:srgbClr val="0779B7"/>
              </a:gs>
            </a:gsLst>
            <a:lin ang="18900000" scaled="1"/>
            <a:tileRect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71981" tIns="91416" rIns="71981" bIns="91416" numCol="1" anchor="ctr" anchorCtr="1" compatLnSpc="1">
            <a:prstTxWarp prst="textNoShape">
              <a:avLst/>
            </a:prstTxWarp>
          </a:bodyPr>
          <a:lstStyle/>
          <a:p>
            <a:pPr algn="just" defTabSz="1218987">
              <a:defRPr/>
            </a:pPr>
            <a:r>
              <a:rPr lang="en-US" sz="4399" kern="0" dirty="0">
                <a:solidFill>
                  <a:srgbClr val="FFFFFF"/>
                </a:solidFill>
                <a:latin typeface="Arial"/>
                <a:cs typeface="Arial" pitchFamily="34" charset="0"/>
              </a:rPr>
              <a:t>1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539474AB-ACBF-48CE-903F-37C25411433F}"/>
              </a:ext>
            </a:extLst>
          </p:cNvPr>
          <p:cNvSpPr>
            <a:spLocks noChangeAspect="1"/>
          </p:cNvSpPr>
          <p:nvPr/>
        </p:nvSpPr>
        <p:spPr>
          <a:xfrm>
            <a:off x="4575922" y="4748370"/>
            <a:ext cx="874101" cy="874101"/>
          </a:xfrm>
          <a:prstGeom prst="ellipse">
            <a:avLst/>
          </a:prstGeom>
          <a:gradFill flip="none" rotWithShape="1">
            <a:gsLst>
              <a:gs pos="0">
                <a:srgbClr val="0779B7">
                  <a:lumMod val="50000"/>
                </a:srgbClr>
              </a:gs>
              <a:gs pos="50000">
                <a:srgbClr val="0779B7">
                  <a:lumMod val="75000"/>
                </a:srgbClr>
              </a:gs>
              <a:gs pos="100000">
                <a:srgbClr val="0779B7"/>
              </a:gs>
            </a:gsLst>
            <a:lin ang="18900000" scaled="1"/>
            <a:tileRect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71981" tIns="91416" rIns="71981" bIns="91416" numCol="1" anchor="ctr" anchorCtr="1" compatLnSpc="1">
            <a:prstTxWarp prst="textNoShape">
              <a:avLst/>
            </a:prstTxWarp>
          </a:bodyPr>
          <a:lstStyle/>
          <a:p>
            <a:pPr algn="just" defTabSz="1218987">
              <a:defRPr/>
            </a:pPr>
            <a:r>
              <a:rPr lang="en-US" sz="4399" kern="0" dirty="0">
                <a:solidFill>
                  <a:srgbClr val="FFFFFF"/>
                </a:solidFill>
                <a:latin typeface="Arial"/>
                <a:cs typeface="Arial" pitchFamily="34" charset="0"/>
              </a:rPr>
              <a:t>3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B2B98A7-73F7-45AD-8BB4-F0B5C5A6177F}"/>
              </a:ext>
            </a:extLst>
          </p:cNvPr>
          <p:cNvSpPr>
            <a:spLocks noChangeAspect="1"/>
          </p:cNvSpPr>
          <p:nvPr/>
        </p:nvSpPr>
        <p:spPr>
          <a:xfrm>
            <a:off x="4561193" y="5873321"/>
            <a:ext cx="874101" cy="874101"/>
          </a:xfrm>
          <a:prstGeom prst="ellipse">
            <a:avLst/>
          </a:prstGeom>
          <a:gradFill flip="none" rotWithShape="1">
            <a:gsLst>
              <a:gs pos="0">
                <a:srgbClr val="0779B7">
                  <a:lumMod val="50000"/>
                </a:srgbClr>
              </a:gs>
              <a:gs pos="50000">
                <a:srgbClr val="0779B7">
                  <a:lumMod val="75000"/>
                </a:srgbClr>
              </a:gs>
              <a:gs pos="100000">
                <a:srgbClr val="0779B7"/>
              </a:gs>
            </a:gsLst>
            <a:lin ang="18900000" scaled="1"/>
            <a:tileRect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71981" tIns="91416" rIns="71981" bIns="91416" numCol="1" anchor="ctr" anchorCtr="1" compatLnSpc="1">
            <a:prstTxWarp prst="textNoShape">
              <a:avLst/>
            </a:prstTxWarp>
          </a:bodyPr>
          <a:lstStyle/>
          <a:p>
            <a:pPr algn="just" defTabSz="1218987">
              <a:defRPr/>
            </a:pPr>
            <a:r>
              <a:rPr lang="en-US" sz="4399" kern="0" dirty="0">
                <a:solidFill>
                  <a:srgbClr val="FFFFFF"/>
                </a:solidFill>
                <a:latin typeface="Arial"/>
                <a:cs typeface="Arial" pitchFamily="34" charset="0"/>
              </a:rPr>
              <a:t>4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5E5C9B55-AB6A-4A91-8720-FF6430BC61E4}"/>
              </a:ext>
            </a:extLst>
          </p:cNvPr>
          <p:cNvSpPr>
            <a:spLocks noChangeAspect="1"/>
          </p:cNvSpPr>
          <p:nvPr/>
        </p:nvSpPr>
        <p:spPr>
          <a:xfrm>
            <a:off x="4561193" y="6998273"/>
            <a:ext cx="874101" cy="874101"/>
          </a:xfrm>
          <a:prstGeom prst="ellipse">
            <a:avLst/>
          </a:prstGeom>
          <a:gradFill flip="none" rotWithShape="1">
            <a:gsLst>
              <a:gs pos="0">
                <a:srgbClr val="0779B7">
                  <a:lumMod val="50000"/>
                </a:srgbClr>
              </a:gs>
              <a:gs pos="50000">
                <a:srgbClr val="0779B7">
                  <a:lumMod val="75000"/>
                </a:srgbClr>
              </a:gs>
              <a:gs pos="100000">
                <a:srgbClr val="0779B7"/>
              </a:gs>
            </a:gsLst>
            <a:lin ang="18900000" scaled="1"/>
            <a:tileRect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71981" tIns="91416" rIns="71981" bIns="91416" numCol="1" anchor="ctr" anchorCtr="1" compatLnSpc="1">
            <a:prstTxWarp prst="textNoShape">
              <a:avLst/>
            </a:prstTxWarp>
          </a:bodyPr>
          <a:lstStyle/>
          <a:p>
            <a:pPr algn="just" defTabSz="1218987">
              <a:defRPr/>
            </a:pPr>
            <a:r>
              <a:rPr lang="en-US" sz="4399" kern="0" dirty="0">
                <a:solidFill>
                  <a:srgbClr val="FFFFFF"/>
                </a:solidFill>
                <a:latin typeface="Arial"/>
                <a:cs typeface="Arial" pitchFamily="34" charset="0"/>
              </a:rPr>
              <a:t>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9447CF-D4E1-43AD-BE54-D1AF5AD97F4C}"/>
              </a:ext>
            </a:extLst>
          </p:cNvPr>
          <p:cNvSpPr/>
          <p:nvPr/>
        </p:nvSpPr>
        <p:spPr>
          <a:xfrm>
            <a:off x="5516460" y="2299882"/>
            <a:ext cx="9144000" cy="6568401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914286">
              <a:lnSpc>
                <a:spcPct val="200000"/>
              </a:lnSpc>
            </a:pPr>
            <a:r>
              <a:rPr lang="en-US" altLang="ko-KR" b="1" dirty="0">
                <a:solidFill>
                  <a:prstClr val="black"/>
                </a:solidFill>
                <a:latin typeface="Helvitica"/>
                <a:cs typeface="Arial" pitchFamily="34" charset="0"/>
              </a:rPr>
              <a:t>Introduction</a:t>
            </a:r>
          </a:p>
          <a:p>
            <a:pPr defTabSz="914286">
              <a:lnSpc>
                <a:spcPct val="200000"/>
              </a:lnSpc>
            </a:pPr>
            <a:r>
              <a:rPr lang="en-US" altLang="ko-KR" b="1" dirty="0">
                <a:solidFill>
                  <a:prstClr val="black"/>
                </a:solidFill>
                <a:latin typeface="Helvitica"/>
                <a:cs typeface="Arial" pitchFamily="34" charset="0"/>
              </a:rPr>
              <a:t>Essentials for efficient LEDs</a:t>
            </a:r>
          </a:p>
          <a:p>
            <a:pPr defTabSz="914286">
              <a:lnSpc>
                <a:spcPct val="200000"/>
              </a:lnSpc>
            </a:pPr>
            <a:r>
              <a:rPr lang="en-US" altLang="ko-KR" b="1" dirty="0">
                <a:solidFill>
                  <a:prstClr val="black"/>
                </a:solidFill>
                <a:latin typeface="Helvitica"/>
                <a:cs typeface="Arial" pitchFamily="34" charset="0"/>
              </a:rPr>
              <a:t>Why perovskites?</a:t>
            </a:r>
          </a:p>
          <a:p>
            <a:pPr defTabSz="914286">
              <a:lnSpc>
                <a:spcPct val="200000"/>
              </a:lnSpc>
            </a:pPr>
            <a:r>
              <a:rPr lang="en-US" altLang="ko-KR" b="1" dirty="0">
                <a:solidFill>
                  <a:prstClr val="black"/>
                </a:solidFill>
                <a:latin typeface="Helvitica"/>
                <a:cs typeface="Arial" pitchFamily="34" charset="0"/>
              </a:rPr>
              <a:t>Non-radiative recombination loss </a:t>
            </a:r>
          </a:p>
          <a:p>
            <a:pPr defTabSz="914286">
              <a:lnSpc>
                <a:spcPct val="200000"/>
              </a:lnSpc>
            </a:pPr>
            <a:r>
              <a:rPr lang="en-US" altLang="ko-KR" b="1" dirty="0">
                <a:solidFill>
                  <a:prstClr val="black"/>
                </a:solidFill>
                <a:latin typeface="Helvitica"/>
                <a:cs typeface="Arial" pitchFamily="34" charset="0"/>
              </a:rPr>
              <a:t>Extraction of emitted photons</a:t>
            </a:r>
          </a:p>
          <a:p>
            <a:pPr defTabSz="914286">
              <a:lnSpc>
                <a:spcPct val="200000"/>
              </a:lnSpc>
            </a:pPr>
            <a:r>
              <a:rPr lang="en-US" altLang="ko-KR" b="1" dirty="0">
                <a:solidFill>
                  <a:prstClr val="black"/>
                </a:solidFill>
                <a:latin typeface="Helvitica"/>
                <a:cs typeface="Arial" pitchFamily="34" charset="0"/>
              </a:rPr>
              <a:t>Summary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E00F925-8492-4F44-8A57-CE08D4E76C3D}"/>
              </a:ext>
            </a:extLst>
          </p:cNvPr>
          <p:cNvSpPr>
            <a:spLocks noChangeAspect="1"/>
          </p:cNvSpPr>
          <p:nvPr/>
        </p:nvSpPr>
        <p:spPr>
          <a:xfrm>
            <a:off x="4529596" y="8024774"/>
            <a:ext cx="874101" cy="874101"/>
          </a:xfrm>
          <a:prstGeom prst="ellipse">
            <a:avLst/>
          </a:prstGeom>
          <a:gradFill flip="none" rotWithShape="1">
            <a:gsLst>
              <a:gs pos="0">
                <a:srgbClr val="0779B7">
                  <a:lumMod val="50000"/>
                </a:srgbClr>
              </a:gs>
              <a:gs pos="50000">
                <a:srgbClr val="0779B7">
                  <a:lumMod val="75000"/>
                </a:srgbClr>
              </a:gs>
              <a:gs pos="100000">
                <a:srgbClr val="0779B7"/>
              </a:gs>
            </a:gsLst>
            <a:lin ang="18900000" scaled="1"/>
            <a:tileRect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71981" tIns="91416" rIns="71981" bIns="91416" numCol="1" anchor="ctr" anchorCtr="1" compatLnSpc="1">
            <a:prstTxWarp prst="textNoShape">
              <a:avLst/>
            </a:prstTxWarp>
          </a:bodyPr>
          <a:lstStyle/>
          <a:p>
            <a:pPr algn="just" defTabSz="1218987">
              <a:defRPr/>
            </a:pPr>
            <a:r>
              <a:rPr lang="en-US" sz="4399" kern="0" dirty="0">
                <a:solidFill>
                  <a:srgbClr val="FFFFFF"/>
                </a:solidFill>
                <a:latin typeface="Arial"/>
                <a:cs typeface="Arial" pitchFamily="34" charset="0"/>
              </a:rPr>
              <a:t>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CA9580-FD6B-4650-A70B-1B2C25C3B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44232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1824"/>
            <a:ext cx="18288001" cy="1333419"/>
            <a:chOff x="0" y="-1824"/>
            <a:chExt cx="18288001" cy="1333419"/>
          </a:xfrm>
        </p:grpSpPr>
        <p:sp>
          <p:nvSpPr>
            <p:cNvPr id="9" name="Rectangle 8"/>
            <p:cNvSpPr/>
            <p:nvPr/>
          </p:nvSpPr>
          <p:spPr>
            <a:xfrm>
              <a:off x="0" y="3732"/>
              <a:ext cx="13601700" cy="1275320"/>
            </a:xfrm>
            <a:prstGeom prst="rect">
              <a:avLst/>
            </a:prstGeom>
            <a:gradFill flip="none" rotWithShape="1">
              <a:gsLst>
                <a:gs pos="0">
                  <a:srgbClr val="15A1A2">
                    <a:shade val="30000"/>
                    <a:satMod val="115000"/>
                  </a:srgbClr>
                </a:gs>
                <a:gs pos="50000">
                  <a:srgbClr val="15A1A2">
                    <a:shade val="67500"/>
                    <a:satMod val="115000"/>
                  </a:srgbClr>
                </a:gs>
                <a:gs pos="100000">
                  <a:srgbClr val="15A1A2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3071496" y="-1824"/>
              <a:ext cx="5216504" cy="45719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71495" y="49348"/>
              <a:ext cx="3752639" cy="1240260"/>
            </a:xfrm>
            <a:prstGeom prst="rect">
              <a:avLst/>
            </a:prstGeom>
          </p:spPr>
        </p:pic>
        <p:sp>
          <p:nvSpPr>
            <p:cNvPr id="14" name="Rectangle 13"/>
            <p:cNvSpPr/>
            <p:nvPr/>
          </p:nvSpPr>
          <p:spPr>
            <a:xfrm flipV="1">
              <a:off x="0" y="1285876"/>
              <a:ext cx="18288000" cy="45719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Picture 14" descr="shutterstock_30373966 circle-01.png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060" b="17396"/>
            <a:stretch/>
          </p:blipFill>
          <p:spPr>
            <a:xfrm>
              <a:off x="16977205" y="19052"/>
              <a:ext cx="1310796" cy="1252536"/>
            </a:xfrm>
            <a:prstGeom prst="rect">
              <a:avLst/>
            </a:prstGeom>
          </p:spPr>
        </p:pic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E2AAECCA-B5F8-4D9A-987C-795441B5D003}"/>
              </a:ext>
            </a:extLst>
          </p:cNvPr>
          <p:cNvSpPr txBox="1"/>
          <p:nvPr/>
        </p:nvSpPr>
        <p:spPr>
          <a:xfrm>
            <a:off x="5888025" y="1422198"/>
            <a:ext cx="11769866" cy="3890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defTabSz="914286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LEDs convert electricity directly into photons of light, instead of                            the wasteful mixture of heat and light.</a:t>
            </a:r>
          </a:p>
          <a:p>
            <a:pPr marL="342900" indent="-342900" algn="just" defTabSz="914286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Advantages of using LEDs    </a:t>
            </a:r>
          </a:p>
          <a:p>
            <a:pPr marL="342900" indent="-342900" algn="just" defTabSz="914286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LEDs produce more light per watt. </a:t>
            </a:r>
          </a:p>
          <a:p>
            <a:pPr marL="342900" indent="-342900" algn="just" defTabSz="914286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LEDs can emit light of an intended color without the use of color filters.</a:t>
            </a:r>
          </a:p>
          <a:p>
            <a:pPr marL="342900" indent="-342900" algn="just" defTabSz="914286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LEDs can have a relatively long life.  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BEC142E-4709-4EC4-9E9F-82E2838E59D4}"/>
              </a:ext>
            </a:extLst>
          </p:cNvPr>
          <p:cNvSpPr txBox="1"/>
          <p:nvPr/>
        </p:nvSpPr>
        <p:spPr>
          <a:xfrm>
            <a:off x="720000" y="180000"/>
            <a:ext cx="64930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286"/>
            <a:r>
              <a:rPr lang="en-US" altLang="ko-KR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ko-KR" altLang="en-US" sz="6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BFF7E6F5-8469-4143-8D7E-1B0BD241A5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09" y="2335227"/>
            <a:ext cx="3091577" cy="7089755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1A6F7762-36D9-4E59-A27E-41C391DB27C9}"/>
              </a:ext>
            </a:extLst>
          </p:cNvPr>
          <p:cNvSpPr/>
          <p:nvPr/>
        </p:nvSpPr>
        <p:spPr>
          <a:xfrm>
            <a:off x="2560171" y="2540887"/>
            <a:ext cx="3327854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914286"/>
            <a:r>
              <a:rPr lang="en-US" sz="24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rial"/>
              </a:rPr>
              <a:t>Cathode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3F0536F-09B7-413F-902E-109484857F2E}"/>
              </a:ext>
            </a:extLst>
          </p:cNvPr>
          <p:cNvSpPr/>
          <p:nvPr/>
        </p:nvSpPr>
        <p:spPr>
          <a:xfrm>
            <a:off x="2357093" y="3528960"/>
            <a:ext cx="3327854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914286"/>
            <a:r>
              <a:rPr lang="en-US" sz="24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rial"/>
              </a:rPr>
              <a:t>ETL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551DF68-6093-4C1B-80AC-35AFB555CEB6}"/>
              </a:ext>
            </a:extLst>
          </p:cNvPr>
          <p:cNvSpPr/>
          <p:nvPr/>
        </p:nvSpPr>
        <p:spPr>
          <a:xfrm>
            <a:off x="3090532" y="4435782"/>
            <a:ext cx="3327854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914286"/>
            <a:r>
              <a:rPr lang="en-US" sz="24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rial"/>
              </a:rPr>
              <a:t>Emission layer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149B4FA-D902-464C-AF3E-8A96AE18BE03}"/>
              </a:ext>
            </a:extLst>
          </p:cNvPr>
          <p:cNvSpPr/>
          <p:nvPr/>
        </p:nvSpPr>
        <p:spPr>
          <a:xfrm>
            <a:off x="2388156" y="5500142"/>
            <a:ext cx="3327854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914286"/>
            <a:r>
              <a:rPr lang="en-US" sz="24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rial"/>
              </a:rPr>
              <a:t>HTL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EF9DEB0-218D-4775-A2F1-8AAFE803E3D7}"/>
              </a:ext>
            </a:extLst>
          </p:cNvPr>
          <p:cNvSpPr/>
          <p:nvPr/>
        </p:nvSpPr>
        <p:spPr>
          <a:xfrm>
            <a:off x="2341700" y="6499463"/>
            <a:ext cx="3327854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914286"/>
            <a:r>
              <a:rPr lang="en-US" sz="24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rial"/>
              </a:rPr>
              <a:t>HIL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21FDE3C-F923-4048-AABB-FCEBDCDA145A}"/>
              </a:ext>
            </a:extLst>
          </p:cNvPr>
          <p:cNvSpPr/>
          <p:nvPr/>
        </p:nvSpPr>
        <p:spPr>
          <a:xfrm>
            <a:off x="2560171" y="7391681"/>
            <a:ext cx="3327854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914286"/>
            <a:r>
              <a:rPr lang="en-US" sz="24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rial"/>
              </a:rPr>
              <a:t>Anode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7E9EB8F-01F5-44ED-B0E3-E6C08238179A}"/>
              </a:ext>
            </a:extLst>
          </p:cNvPr>
          <p:cNvSpPr/>
          <p:nvPr/>
        </p:nvSpPr>
        <p:spPr>
          <a:xfrm>
            <a:off x="2812342" y="8394454"/>
            <a:ext cx="3327854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914286"/>
            <a:r>
              <a:rPr lang="en-US" sz="24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rial"/>
              </a:rPr>
              <a:t>Substrate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13192198-BB80-4234-BC6F-00B18A60693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7818087" y="5335773"/>
            <a:ext cx="6195232" cy="445640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722313-9733-4ECB-BA70-D437D297F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217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1824"/>
            <a:ext cx="18288001" cy="1333419"/>
            <a:chOff x="0" y="-1824"/>
            <a:chExt cx="18288001" cy="1333419"/>
          </a:xfrm>
        </p:grpSpPr>
        <p:sp>
          <p:nvSpPr>
            <p:cNvPr id="9" name="Rectangle 8"/>
            <p:cNvSpPr/>
            <p:nvPr/>
          </p:nvSpPr>
          <p:spPr>
            <a:xfrm>
              <a:off x="0" y="3732"/>
              <a:ext cx="13601700" cy="1275320"/>
            </a:xfrm>
            <a:prstGeom prst="rect">
              <a:avLst/>
            </a:prstGeom>
            <a:gradFill flip="none" rotWithShape="1">
              <a:gsLst>
                <a:gs pos="0">
                  <a:srgbClr val="15A1A2">
                    <a:shade val="30000"/>
                    <a:satMod val="115000"/>
                  </a:srgbClr>
                </a:gs>
                <a:gs pos="50000">
                  <a:srgbClr val="15A1A2">
                    <a:shade val="67500"/>
                    <a:satMod val="115000"/>
                  </a:srgbClr>
                </a:gs>
                <a:gs pos="100000">
                  <a:srgbClr val="15A1A2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3071496" y="-1824"/>
              <a:ext cx="5216504" cy="45719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71495" y="49348"/>
              <a:ext cx="3752639" cy="1240260"/>
            </a:xfrm>
            <a:prstGeom prst="rect">
              <a:avLst/>
            </a:prstGeom>
          </p:spPr>
        </p:pic>
        <p:sp>
          <p:nvSpPr>
            <p:cNvPr id="14" name="Rectangle 13"/>
            <p:cNvSpPr/>
            <p:nvPr/>
          </p:nvSpPr>
          <p:spPr>
            <a:xfrm flipV="1">
              <a:off x="0" y="1285876"/>
              <a:ext cx="18288000" cy="45719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5" name="Picture 14" descr="shutterstock_30373966 circle-01.png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060" b="17396"/>
            <a:stretch/>
          </p:blipFill>
          <p:spPr>
            <a:xfrm>
              <a:off x="16977205" y="19052"/>
              <a:ext cx="1310796" cy="1252536"/>
            </a:xfrm>
            <a:prstGeom prst="rect">
              <a:avLst/>
            </a:prstGeom>
          </p:spPr>
        </p:pic>
      </p:grp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37D56F00-6168-4868-BCF6-7687CC2541AF}"/>
              </a:ext>
            </a:extLst>
          </p:cNvPr>
          <p:cNvSpPr txBox="1">
            <a:spLocks/>
          </p:cNvSpPr>
          <p:nvPr/>
        </p:nvSpPr>
        <p:spPr>
          <a:xfrm>
            <a:off x="720000" y="180000"/>
            <a:ext cx="11573197" cy="724247"/>
          </a:xfrm>
          <a:prstGeom prst="rect">
            <a:avLst/>
          </a:prstGeom>
        </p:spPr>
        <p:txBody>
          <a:bodyPr vert="horz" lIns="182880" tIns="91440" rIns="182880" bIns="9144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Essentials for efficient LEDs</a:t>
            </a:r>
          </a:p>
        </p:txBody>
      </p:sp>
      <p:grpSp>
        <p:nvGrpSpPr>
          <p:cNvPr id="13" name="그룹 5">
            <a:extLst>
              <a:ext uri="{FF2B5EF4-FFF2-40B4-BE49-F238E27FC236}">
                <a16:creationId xmlns:a16="http://schemas.microsoft.com/office/drawing/2014/main" id="{C01DB6EE-252B-4953-A74B-5D1F315F963A}"/>
              </a:ext>
            </a:extLst>
          </p:cNvPr>
          <p:cNvGrpSpPr/>
          <p:nvPr/>
        </p:nvGrpSpPr>
        <p:grpSpPr>
          <a:xfrm>
            <a:off x="7946565" y="1706267"/>
            <a:ext cx="3124999" cy="6661848"/>
            <a:chOff x="3539504" y="1812927"/>
            <a:chExt cx="2156062" cy="4206297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9938A9A-29A4-41F4-A0C2-4DE238948EF8}"/>
                </a:ext>
              </a:extLst>
            </p:cNvPr>
            <p:cNvGrpSpPr/>
            <p:nvPr/>
          </p:nvGrpSpPr>
          <p:grpSpPr>
            <a:xfrm>
              <a:off x="4080222" y="5227134"/>
              <a:ext cx="1074452" cy="792090"/>
              <a:chOff x="3773268" y="4911608"/>
              <a:chExt cx="922956" cy="1004233"/>
            </a:xfrm>
          </p:grpSpPr>
          <p:sp>
            <p:nvSpPr>
              <p:cNvPr id="32" name="Trapezoid 31">
                <a:extLst>
                  <a:ext uri="{FF2B5EF4-FFF2-40B4-BE49-F238E27FC236}">
                    <a16:creationId xmlns:a16="http://schemas.microsoft.com/office/drawing/2014/main" id="{CECA65A7-3788-4332-A7BD-251C664FA1F6}"/>
                  </a:ext>
                </a:extLst>
              </p:cNvPr>
              <p:cNvSpPr/>
              <p:nvPr/>
            </p:nvSpPr>
            <p:spPr>
              <a:xfrm rot="10800000">
                <a:off x="3773268" y="4911608"/>
                <a:ext cx="922956" cy="1004233"/>
              </a:xfrm>
              <a:prstGeom prst="trapezoid">
                <a:avLst>
                  <a:gd name="adj" fmla="val 78876"/>
                </a:avLst>
              </a:prstGeom>
              <a:solidFill>
                <a:srgbClr val="F5B317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3" name="Isosceles Triangle 32">
                <a:extLst>
                  <a:ext uri="{FF2B5EF4-FFF2-40B4-BE49-F238E27FC236}">
                    <a16:creationId xmlns:a16="http://schemas.microsoft.com/office/drawing/2014/main" id="{EDA0D7C7-A212-4F25-8230-120D68397C6F}"/>
                  </a:ext>
                </a:extLst>
              </p:cNvPr>
              <p:cNvSpPr/>
              <p:nvPr/>
            </p:nvSpPr>
            <p:spPr>
              <a:xfrm rot="10800000" flipH="1">
                <a:off x="4132972" y="5714655"/>
                <a:ext cx="213694" cy="184219"/>
              </a:xfrm>
              <a:prstGeom prst="triangle">
                <a:avLst/>
              </a:prstGeom>
              <a:solidFill>
                <a:srgbClr val="57687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47119A1-1B2C-4DB5-9E29-7D59EB5C031E}"/>
                </a:ext>
              </a:extLst>
            </p:cNvPr>
            <p:cNvGrpSpPr/>
            <p:nvPr/>
          </p:nvGrpSpPr>
          <p:grpSpPr>
            <a:xfrm>
              <a:off x="3539504" y="4043430"/>
              <a:ext cx="757285" cy="1249932"/>
              <a:chOff x="3319643" y="3717032"/>
              <a:chExt cx="641101" cy="1058168"/>
            </a:xfrm>
          </p:grpSpPr>
          <p:sp>
            <p:nvSpPr>
              <p:cNvPr id="30" name="Round Same Side Corner Rectangle 3">
                <a:extLst>
                  <a:ext uri="{FF2B5EF4-FFF2-40B4-BE49-F238E27FC236}">
                    <a16:creationId xmlns:a16="http://schemas.microsoft.com/office/drawing/2014/main" id="{DF5071DB-F592-4D79-BD17-37A13F5A67E0}"/>
                  </a:ext>
                </a:extLst>
              </p:cNvPr>
              <p:cNvSpPr/>
              <p:nvPr/>
            </p:nvSpPr>
            <p:spPr>
              <a:xfrm rot="10800000">
                <a:off x="3777403" y="4005064"/>
                <a:ext cx="183341" cy="77013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4198AF31-1C7D-43A1-82E4-28088B76A350}"/>
                  </a:ext>
                </a:extLst>
              </p:cNvPr>
              <p:cNvSpPr/>
              <p:nvPr/>
            </p:nvSpPr>
            <p:spPr>
              <a:xfrm>
                <a:off x="3319643" y="3717032"/>
                <a:ext cx="576064" cy="576064"/>
              </a:xfrm>
              <a:prstGeom prst="ellipse">
                <a:avLst/>
              </a:prstGeom>
              <a:solidFill>
                <a:schemeClr val="bg1"/>
              </a:solidFill>
              <a:ln w="152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EC24C51-4DB8-4A19-A9DE-A330770986A6}"/>
                </a:ext>
              </a:extLst>
            </p:cNvPr>
            <p:cNvGrpSpPr/>
            <p:nvPr/>
          </p:nvGrpSpPr>
          <p:grpSpPr>
            <a:xfrm>
              <a:off x="3753192" y="2929372"/>
              <a:ext cx="756214" cy="2363990"/>
              <a:chOff x="3503484" y="2773890"/>
              <a:chExt cx="640195" cy="2001310"/>
            </a:xfrm>
          </p:grpSpPr>
          <p:sp>
            <p:nvSpPr>
              <p:cNvPr id="28" name="Round Same Side Corner Rectangle 8">
                <a:extLst>
                  <a:ext uri="{FF2B5EF4-FFF2-40B4-BE49-F238E27FC236}">
                    <a16:creationId xmlns:a16="http://schemas.microsoft.com/office/drawing/2014/main" id="{4E919E19-71CB-4289-A18C-E6D6AB9BE1CA}"/>
                  </a:ext>
                </a:extLst>
              </p:cNvPr>
              <p:cNvSpPr/>
              <p:nvPr/>
            </p:nvSpPr>
            <p:spPr>
              <a:xfrm rot="10800000">
                <a:off x="3960338" y="3061922"/>
                <a:ext cx="183341" cy="1713278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24B1B825-8E58-48C6-BC94-548C8944AE47}"/>
                  </a:ext>
                </a:extLst>
              </p:cNvPr>
              <p:cNvSpPr/>
              <p:nvPr/>
            </p:nvSpPr>
            <p:spPr>
              <a:xfrm>
                <a:off x="3503484" y="2773890"/>
                <a:ext cx="576064" cy="576064"/>
              </a:xfrm>
              <a:prstGeom prst="ellipse">
                <a:avLst/>
              </a:prstGeom>
              <a:solidFill>
                <a:schemeClr val="bg1"/>
              </a:solidFill>
              <a:ln w="1524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5E72EB3-D560-419F-AEED-56F6F5830336}"/>
                </a:ext>
              </a:extLst>
            </p:cNvPr>
            <p:cNvGrpSpPr/>
            <p:nvPr/>
          </p:nvGrpSpPr>
          <p:grpSpPr>
            <a:xfrm>
              <a:off x="3991282" y="1812927"/>
              <a:ext cx="731834" cy="3478053"/>
              <a:chOff x="3707062" y="1830748"/>
              <a:chExt cx="619555" cy="2944452"/>
            </a:xfrm>
          </p:grpSpPr>
          <p:sp>
            <p:nvSpPr>
              <p:cNvPr id="26" name="Round Same Side Corner Rectangle 9">
                <a:extLst>
                  <a:ext uri="{FF2B5EF4-FFF2-40B4-BE49-F238E27FC236}">
                    <a16:creationId xmlns:a16="http://schemas.microsoft.com/office/drawing/2014/main" id="{55384261-F12B-4780-9D62-32FAD9E0639C}"/>
                  </a:ext>
                </a:extLst>
              </p:cNvPr>
              <p:cNvSpPr/>
              <p:nvPr/>
            </p:nvSpPr>
            <p:spPr>
              <a:xfrm rot="10800000">
                <a:off x="4143276" y="2118780"/>
                <a:ext cx="183341" cy="26564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9210719-A0F7-4971-AE36-4DDD9EEA314E}"/>
                  </a:ext>
                </a:extLst>
              </p:cNvPr>
              <p:cNvSpPr/>
              <p:nvPr/>
            </p:nvSpPr>
            <p:spPr>
              <a:xfrm>
                <a:off x="3707062" y="1830748"/>
                <a:ext cx="576064" cy="576064"/>
              </a:xfrm>
              <a:prstGeom prst="ellipse">
                <a:avLst/>
              </a:prstGeom>
              <a:solidFill>
                <a:schemeClr val="bg1"/>
              </a:solidFill>
              <a:ln w="1524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43F1FC8-2F20-4BE9-AA29-AB60DAA231E5}"/>
                </a:ext>
              </a:extLst>
            </p:cNvPr>
            <p:cNvGrpSpPr/>
            <p:nvPr/>
          </p:nvGrpSpPr>
          <p:grpSpPr>
            <a:xfrm>
              <a:off x="4722448" y="2372338"/>
              <a:ext cx="728435" cy="2921023"/>
              <a:chOff x="4326213" y="2302319"/>
              <a:chExt cx="616677" cy="2472881"/>
            </a:xfrm>
          </p:grpSpPr>
          <p:sp>
            <p:nvSpPr>
              <p:cNvPr id="24" name="Round Same Side Corner Rectangle 10">
                <a:extLst>
                  <a:ext uri="{FF2B5EF4-FFF2-40B4-BE49-F238E27FC236}">
                    <a16:creationId xmlns:a16="http://schemas.microsoft.com/office/drawing/2014/main" id="{940A268C-CEAD-4DD4-BFB5-0AC05A24085A}"/>
                  </a:ext>
                </a:extLst>
              </p:cNvPr>
              <p:cNvSpPr/>
              <p:nvPr/>
            </p:nvSpPr>
            <p:spPr>
              <a:xfrm rot="10800000">
                <a:off x="4326213" y="2590351"/>
                <a:ext cx="183341" cy="218484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0369F8DD-1DB7-4C16-9199-BD833852A87F}"/>
                  </a:ext>
                </a:extLst>
              </p:cNvPr>
              <p:cNvSpPr/>
              <p:nvPr/>
            </p:nvSpPr>
            <p:spPr>
              <a:xfrm>
                <a:off x="4366826" y="2302319"/>
                <a:ext cx="576064" cy="576064"/>
              </a:xfrm>
              <a:prstGeom prst="ellipse">
                <a:avLst/>
              </a:prstGeom>
              <a:solidFill>
                <a:schemeClr val="bg1"/>
              </a:solidFill>
              <a:ln w="152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537CD80-B89A-40D7-95BC-EA3ABE39FF5A}"/>
                </a:ext>
              </a:extLst>
            </p:cNvPr>
            <p:cNvGrpSpPr/>
            <p:nvPr/>
          </p:nvGrpSpPr>
          <p:grpSpPr>
            <a:xfrm>
              <a:off x="4938107" y="3486400"/>
              <a:ext cx="757459" cy="1806962"/>
              <a:chOff x="4509151" y="3245461"/>
              <a:chExt cx="641249" cy="1529739"/>
            </a:xfrm>
          </p:grpSpPr>
          <p:sp>
            <p:nvSpPr>
              <p:cNvPr id="22" name="Round Same Side Corner Rectangle 11">
                <a:extLst>
                  <a:ext uri="{FF2B5EF4-FFF2-40B4-BE49-F238E27FC236}">
                    <a16:creationId xmlns:a16="http://schemas.microsoft.com/office/drawing/2014/main" id="{FD5DD571-B77B-4FFA-846F-11B9CA424304}"/>
                  </a:ext>
                </a:extLst>
              </p:cNvPr>
              <p:cNvSpPr/>
              <p:nvPr/>
            </p:nvSpPr>
            <p:spPr>
              <a:xfrm rot="10800000">
                <a:off x="4509151" y="3533493"/>
                <a:ext cx="183341" cy="124170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24DBD93-84EE-42E6-BE99-FAD006C75942}"/>
                  </a:ext>
                </a:extLst>
              </p:cNvPr>
              <p:cNvSpPr/>
              <p:nvPr/>
            </p:nvSpPr>
            <p:spPr>
              <a:xfrm>
                <a:off x="4574336" y="3245461"/>
                <a:ext cx="576064" cy="576064"/>
              </a:xfrm>
              <a:prstGeom prst="ellipse">
                <a:avLst/>
              </a:prstGeom>
              <a:solidFill>
                <a:schemeClr val="bg1"/>
              </a:solidFill>
              <a:ln w="1524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D72040D1-23F1-4A6D-8703-ED9F53215C5A}"/>
              </a:ext>
            </a:extLst>
          </p:cNvPr>
          <p:cNvSpPr txBox="1"/>
          <p:nvPr/>
        </p:nvSpPr>
        <p:spPr>
          <a:xfrm>
            <a:off x="1133210" y="1891285"/>
            <a:ext cx="73064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 band gap semiconductor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71FEC8-A503-4DB6-AFED-ADE5F18F64F3}"/>
              </a:ext>
            </a:extLst>
          </p:cNvPr>
          <p:cNvSpPr txBox="1"/>
          <p:nvPr/>
        </p:nvSpPr>
        <p:spPr>
          <a:xfrm>
            <a:off x="9966121" y="2771909"/>
            <a:ext cx="5450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Optical confinement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9DA0BFF-3DA4-43D1-A7DA-8B68159D1C90}"/>
              </a:ext>
            </a:extLst>
          </p:cNvPr>
          <p:cNvSpPr txBox="1"/>
          <p:nvPr/>
        </p:nvSpPr>
        <p:spPr>
          <a:xfrm>
            <a:off x="2583266" y="3565088"/>
            <a:ext cx="5516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Carrier confinement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CA7584A-57B8-49B8-9B43-5F74D5AEDB35}"/>
              </a:ext>
            </a:extLst>
          </p:cNvPr>
          <p:cNvSpPr txBox="1"/>
          <p:nvPr/>
        </p:nvSpPr>
        <p:spPr>
          <a:xfrm>
            <a:off x="10053207" y="4473505"/>
            <a:ext cx="73661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Higher  photoluminescence  quantum efficiency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4E490FF-D435-4730-A9AC-651840366542}"/>
              </a:ext>
            </a:extLst>
          </p:cNvPr>
          <p:cNvSpPr/>
          <p:nvPr/>
        </p:nvSpPr>
        <p:spPr>
          <a:xfrm>
            <a:off x="101252" y="5434378"/>
            <a:ext cx="80073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Higher external quantum efficiency </a:t>
            </a:r>
            <a:endParaRPr lang="en-IN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39C201B-7E99-43DA-85BC-EA3A8768A5F6}"/>
              </a:ext>
            </a:extLst>
          </p:cNvPr>
          <p:cNvSpPr/>
          <p:nvPr/>
        </p:nvSpPr>
        <p:spPr>
          <a:xfrm>
            <a:off x="7429899" y="8440313"/>
            <a:ext cx="4466827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0"/>
                <a:solidFill>
                  <a:srgbClr val="00B0F0"/>
                </a:solidFill>
              </a:rPr>
              <a:t>Brighter and efficient LEDs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F54507-7088-423C-BE46-877762AA3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5580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1824"/>
            <a:ext cx="18288001" cy="1333419"/>
            <a:chOff x="0" y="-1824"/>
            <a:chExt cx="18288001" cy="1333419"/>
          </a:xfrm>
        </p:grpSpPr>
        <p:sp>
          <p:nvSpPr>
            <p:cNvPr id="9" name="Rectangle 8"/>
            <p:cNvSpPr/>
            <p:nvPr/>
          </p:nvSpPr>
          <p:spPr>
            <a:xfrm>
              <a:off x="0" y="3732"/>
              <a:ext cx="13601700" cy="1275320"/>
            </a:xfrm>
            <a:prstGeom prst="rect">
              <a:avLst/>
            </a:prstGeom>
            <a:gradFill flip="none" rotWithShape="1">
              <a:gsLst>
                <a:gs pos="0">
                  <a:srgbClr val="15A1A2">
                    <a:shade val="30000"/>
                    <a:satMod val="115000"/>
                  </a:srgbClr>
                </a:gs>
                <a:gs pos="50000">
                  <a:srgbClr val="15A1A2">
                    <a:shade val="67500"/>
                    <a:satMod val="115000"/>
                  </a:srgbClr>
                </a:gs>
                <a:gs pos="100000">
                  <a:srgbClr val="15A1A2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3071496" y="-1824"/>
              <a:ext cx="5216504" cy="45719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71495" y="49348"/>
              <a:ext cx="3752639" cy="1240260"/>
            </a:xfrm>
            <a:prstGeom prst="rect">
              <a:avLst/>
            </a:prstGeom>
          </p:spPr>
        </p:pic>
        <p:sp>
          <p:nvSpPr>
            <p:cNvPr id="14" name="Rectangle 13"/>
            <p:cNvSpPr/>
            <p:nvPr/>
          </p:nvSpPr>
          <p:spPr>
            <a:xfrm flipV="1">
              <a:off x="0" y="1285876"/>
              <a:ext cx="18288000" cy="45719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Picture 14" descr="shutterstock_30373966 circle-01.png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060" b="17396"/>
            <a:stretch/>
          </p:blipFill>
          <p:spPr>
            <a:xfrm>
              <a:off x="16977205" y="19052"/>
              <a:ext cx="1310796" cy="1252536"/>
            </a:xfrm>
            <a:prstGeom prst="rect">
              <a:avLst/>
            </a:prstGeom>
          </p:spPr>
        </p:pic>
      </p:grp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46E75980-6B71-4544-B583-D8DFB3527065}"/>
              </a:ext>
            </a:extLst>
          </p:cNvPr>
          <p:cNvSpPr txBox="1">
            <a:spLocks/>
          </p:cNvSpPr>
          <p:nvPr/>
        </p:nvSpPr>
        <p:spPr>
          <a:xfrm>
            <a:off x="719999" y="180000"/>
            <a:ext cx="7255867" cy="72424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2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18" indent="-228605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28" indent="-228605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40" indent="-228605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52" indent="-228605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63" indent="-228605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75" indent="-228605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85" indent="-228605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98" indent="-228605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2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6000" b="1" i="0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</a:rPr>
              <a:t>Why perovskites?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2BAA8E9-2F10-4440-A804-757914E5395C}"/>
              </a:ext>
            </a:extLst>
          </p:cNvPr>
          <p:cNvGrpSpPr/>
          <p:nvPr/>
        </p:nvGrpSpPr>
        <p:grpSpPr>
          <a:xfrm>
            <a:off x="2632987" y="3335146"/>
            <a:ext cx="12891031" cy="6517171"/>
            <a:chOff x="1232353" y="2470860"/>
            <a:chExt cx="9620771" cy="4190787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90AF096-519F-431A-BC1C-414BD3BA5331}"/>
                </a:ext>
              </a:extLst>
            </p:cNvPr>
            <p:cNvSpPr/>
            <p:nvPr/>
          </p:nvSpPr>
          <p:spPr>
            <a:xfrm>
              <a:off x="6035783" y="2940308"/>
              <a:ext cx="108000" cy="2054795"/>
            </a:xfrm>
            <a:prstGeom prst="rect">
              <a:avLst/>
            </a:prstGeom>
            <a:solidFill>
              <a:srgbClr val="00BDF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28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64840F5-D75C-4F7A-AA38-BEEABF0C25C7}"/>
                </a:ext>
              </a:extLst>
            </p:cNvPr>
            <p:cNvSpPr/>
            <p:nvPr/>
          </p:nvSpPr>
          <p:spPr>
            <a:xfrm>
              <a:off x="5630398" y="3264982"/>
              <a:ext cx="108000" cy="1730121"/>
            </a:xfrm>
            <a:prstGeom prst="rect">
              <a:avLst/>
            </a:prstGeom>
            <a:solidFill>
              <a:srgbClr val="1ED0A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28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3D95D64-B20E-4C0E-9855-22A3815BB836}"/>
                </a:ext>
              </a:extLst>
            </p:cNvPr>
            <p:cNvSpPr/>
            <p:nvPr/>
          </p:nvSpPr>
          <p:spPr>
            <a:xfrm>
              <a:off x="6441168" y="3264982"/>
              <a:ext cx="108000" cy="1730121"/>
            </a:xfrm>
            <a:prstGeom prst="rect">
              <a:avLst/>
            </a:prstGeom>
            <a:solidFill>
              <a:srgbClr val="1ED0A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28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9BD262D-F6DE-4719-A77F-CFF058A0C61B}"/>
                </a:ext>
              </a:extLst>
            </p:cNvPr>
            <p:cNvSpPr/>
            <p:nvPr/>
          </p:nvSpPr>
          <p:spPr>
            <a:xfrm>
              <a:off x="5225013" y="4059101"/>
              <a:ext cx="108000" cy="936000"/>
            </a:xfrm>
            <a:prstGeom prst="rect">
              <a:avLst/>
            </a:prstGeom>
            <a:solidFill>
              <a:srgbClr val="1C82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28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E5C440C-7DB7-44D2-A592-F3284E54E5CD}"/>
                </a:ext>
              </a:extLst>
            </p:cNvPr>
            <p:cNvSpPr/>
            <p:nvPr/>
          </p:nvSpPr>
          <p:spPr>
            <a:xfrm>
              <a:off x="6846553" y="4059101"/>
              <a:ext cx="108000" cy="936000"/>
            </a:xfrm>
            <a:prstGeom prst="rect">
              <a:avLst/>
            </a:prstGeom>
            <a:solidFill>
              <a:srgbClr val="1C82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28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0" name="Pentagon 10">
              <a:extLst>
                <a:ext uri="{FF2B5EF4-FFF2-40B4-BE49-F238E27FC236}">
                  <a16:creationId xmlns:a16="http://schemas.microsoft.com/office/drawing/2014/main" id="{B253BBDA-77AE-46D3-9540-A18E7A151CFC}"/>
                </a:ext>
              </a:extLst>
            </p:cNvPr>
            <p:cNvSpPr/>
            <p:nvPr/>
          </p:nvSpPr>
          <p:spPr>
            <a:xfrm>
              <a:off x="6865961" y="4059101"/>
              <a:ext cx="3868299" cy="484632"/>
            </a:xfrm>
            <a:prstGeom prst="homePlate">
              <a:avLst/>
            </a:prstGeom>
            <a:solidFill>
              <a:sysClr val="window" lastClr="FFFFFF"/>
            </a:solidFill>
            <a:ln w="38100" cap="flat" cmpd="sng" algn="ctr">
              <a:solidFill>
                <a:srgbClr val="1C82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28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1" name="Pentagon 14">
              <a:extLst>
                <a:ext uri="{FF2B5EF4-FFF2-40B4-BE49-F238E27FC236}">
                  <a16:creationId xmlns:a16="http://schemas.microsoft.com/office/drawing/2014/main" id="{6C62DD1F-C2A1-4DEF-B0F7-3483DB6433AE}"/>
                </a:ext>
              </a:extLst>
            </p:cNvPr>
            <p:cNvSpPr/>
            <p:nvPr/>
          </p:nvSpPr>
          <p:spPr>
            <a:xfrm>
              <a:off x="6456040" y="3274505"/>
              <a:ext cx="2308448" cy="484632"/>
            </a:xfrm>
            <a:prstGeom prst="homePlate">
              <a:avLst/>
            </a:prstGeom>
            <a:solidFill>
              <a:sysClr val="window" lastClr="FFFFFF"/>
            </a:solidFill>
            <a:ln w="38100" cap="flat" cmpd="sng" algn="ctr">
              <a:solidFill>
                <a:srgbClr val="1ED0A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28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2" name="Pentagon 15">
              <a:extLst>
                <a:ext uri="{FF2B5EF4-FFF2-40B4-BE49-F238E27FC236}">
                  <a16:creationId xmlns:a16="http://schemas.microsoft.com/office/drawing/2014/main" id="{97AF1ED0-2E58-44F3-80E1-BC9FA5DA2D80}"/>
                </a:ext>
              </a:extLst>
            </p:cNvPr>
            <p:cNvSpPr/>
            <p:nvPr/>
          </p:nvSpPr>
          <p:spPr>
            <a:xfrm flipH="1">
              <a:off x="1232353" y="4059101"/>
              <a:ext cx="4068000" cy="484632"/>
            </a:xfrm>
            <a:prstGeom prst="homePlate">
              <a:avLst/>
            </a:prstGeom>
            <a:solidFill>
              <a:sysClr val="window" lastClr="FFFFFF"/>
            </a:solidFill>
            <a:ln w="38100" cap="flat" cmpd="sng" algn="ctr">
              <a:solidFill>
                <a:srgbClr val="1C82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28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3" name="Pentagon 16">
              <a:extLst>
                <a:ext uri="{FF2B5EF4-FFF2-40B4-BE49-F238E27FC236}">
                  <a16:creationId xmlns:a16="http://schemas.microsoft.com/office/drawing/2014/main" id="{EB498FB1-B3D6-41A0-A261-977856DC72E6}"/>
                </a:ext>
              </a:extLst>
            </p:cNvPr>
            <p:cNvSpPr/>
            <p:nvPr/>
          </p:nvSpPr>
          <p:spPr>
            <a:xfrm flipH="1">
              <a:off x="3415406" y="3274505"/>
              <a:ext cx="2302026" cy="484632"/>
            </a:xfrm>
            <a:prstGeom prst="homePlate">
              <a:avLst/>
            </a:prstGeom>
            <a:solidFill>
              <a:sysClr val="window" lastClr="FFFFFF"/>
            </a:solidFill>
            <a:ln w="38100" cap="flat" cmpd="sng" algn="ctr">
              <a:solidFill>
                <a:srgbClr val="1ED0A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28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4" name="Pentagon 30">
              <a:extLst>
                <a:ext uri="{FF2B5EF4-FFF2-40B4-BE49-F238E27FC236}">
                  <a16:creationId xmlns:a16="http://schemas.microsoft.com/office/drawing/2014/main" id="{564BEB2A-662C-4900-9996-535BD708AE98}"/>
                </a:ext>
              </a:extLst>
            </p:cNvPr>
            <p:cNvSpPr/>
            <p:nvPr/>
          </p:nvSpPr>
          <p:spPr>
            <a:xfrm>
              <a:off x="4476002" y="2470860"/>
              <a:ext cx="3211003" cy="484632"/>
            </a:xfrm>
            <a:custGeom>
              <a:avLst/>
              <a:gdLst/>
              <a:ahLst/>
              <a:cxnLst/>
              <a:rect l="l" t="t" r="r" b="b"/>
              <a:pathLst>
                <a:path w="3211003" h="484632">
                  <a:moveTo>
                    <a:pt x="242316" y="0"/>
                  </a:moveTo>
                  <a:lnTo>
                    <a:pt x="1591003" y="0"/>
                  </a:lnTo>
                  <a:lnTo>
                    <a:pt x="1620000" y="0"/>
                  </a:lnTo>
                  <a:lnTo>
                    <a:pt x="2968687" y="0"/>
                  </a:lnTo>
                  <a:lnTo>
                    <a:pt x="3211003" y="242316"/>
                  </a:lnTo>
                  <a:lnTo>
                    <a:pt x="2968687" y="484632"/>
                  </a:lnTo>
                  <a:lnTo>
                    <a:pt x="1620000" y="484632"/>
                  </a:lnTo>
                  <a:lnTo>
                    <a:pt x="1591003" y="484632"/>
                  </a:lnTo>
                  <a:lnTo>
                    <a:pt x="242316" y="484632"/>
                  </a:lnTo>
                  <a:lnTo>
                    <a:pt x="0" y="242316"/>
                  </a:lnTo>
                  <a:close/>
                </a:path>
              </a:pathLst>
            </a:custGeom>
            <a:solidFill>
              <a:srgbClr val="00BDFB"/>
            </a:solidFill>
            <a:ln w="38100" cap="flat" cmpd="sng" algn="ctr">
              <a:solidFill>
                <a:srgbClr val="00BDFB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28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AC241D7-B865-46E3-A97A-7BC615B70699}"/>
                </a:ext>
              </a:extLst>
            </p:cNvPr>
            <p:cNvSpPr txBox="1"/>
            <p:nvPr/>
          </p:nvSpPr>
          <p:spPr>
            <a:xfrm>
              <a:off x="4679469" y="2551259"/>
              <a:ext cx="2804068" cy="2968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286"/>
              <a:r>
                <a:rPr lang="en-US" altLang="ko-KR" sz="2400" b="1" dirty="0">
                  <a:solidFill>
                    <a:prstClr val="white"/>
                  </a:solidFill>
                  <a:latin typeface="Arial"/>
                  <a:cs typeface="Arial" pitchFamily="34" charset="0"/>
                </a:rPr>
                <a:t>Photoluminescence</a:t>
              </a:r>
              <a:r>
                <a:rPr lang="en-US" altLang="ko-KR" sz="1800" b="1" dirty="0">
                  <a:solidFill>
                    <a:prstClr val="white"/>
                  </a:solidFill>
                  <a:latin typeface="Arial"/>
                  <a:cs typeface="Arial" pitchFamily="34" charset="0"/>
                </a:rPr>
                <a:t> </a:t>
              </a:r>
              <a:r>
                <a:rPr lang="en-US" altLang="ko-KR" sz="2400" b="1" dirty="0">
                  <a:solidFill>
                    <a:prstClr val="white"/>
                  </a:solidFill>
                  <a:latin typeface="Arial"/>
                  <a:cs typeface="Arial" pitchFamily="34" charset="0"/>
                </a:rPr>
                <a:t>QY</a:t>
              </a:r>
              <a:endParaRPr lang="ko-KR" altLang="en-US" sz="2400" b="1" dirty="0">
                <a:solidFill>
                  <a:prstClr val="white"/>
                </a:solidFill>
                <a:latin typeface="Arial"/>
                <a:cs typeface="Arial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C5FA901-EDE4-4BC2-B522-0C6C3A738852}"/>
                </a:ext>
              </a:extLst>
            </p:cNvPr>
            <p:cNvSpPr txBox="1"/>
            <p:nvPr/>
          </p:nvSpPr>
          <p:spPr>
            <a:xfrm>
              <a:off x="3415406" y="3368778"/>
              <a:ext cx="2374898" cy="3042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286"/>
              <a:r>
                <a:rPr lang="en-US" altLang="ko-KR" sz="24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cs typeface="Arial" pitchFamily="34" charset="0"/>
                </a:rPr>
                <a:t> Tunable band gaps</a:t>
              </a:r>
              <a:endParaRPr lang="ko-KR" altLang="en-US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cs typeface="Arial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98B10CD-5726-45BA-BB9A-2558A308226A}"/>
                </a:ext>
              </a:extLst>
            </p:cNvPr>
            <p:cNvSpPr txBox="1"/>
            <p:nvPr/>
          </p:nvSpPr>
          <p:spPr>
            <a:xfrm>
              <a:off x="1249111" y="4160379"/>
              <a:ext cx="4176000" cy="288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286"/>
              <a:r>
                <a:rPr lang="en-US" altLang="ko-KR" sz="24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cs typeface="Arial" pitchFamily="34" charset="0"/>
                </a:rPr>
                <a:t>Suppressed defect formation </a:t>
              </a:r>
              <a:endParaRPr lang="ko-KR" altLang="en-US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cs typeface="Arial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D9EEDA8-C7D4-4AF8-A91D-5852E3AD13C7}"/>
                </a:ext>
              </a:extLst>
            </p:cNvPr>
            <p:cNvSpPr txBox="1"/>
            <p:nvPr/>
          </p:nvSpPr>
          <p:spPr>
            <a:xfrm>
              <a:off x="6675851" y="4146459"/>
              <a:ext cx="4177273" cy="288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286"/>
              <a:r>
                <a:rPr lang="en-US" altLang="ko-KR" sz="24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cs typeface="Arial" pitchFamily="34" charset="0"/>
                </a:rPr>
                <a:t>Low non-radiative recombination </a:t>
              </a:r>
              <a:endParaRPr lang="ko-KR" altLang="en-US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cs typeface="Arial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3C1ADBA-22F6-4154-8C56-B04DF89D8E3F}"/>
                </a:ext>
              </a:extLst>
            </p:cNvPr>
            <p:cNvSpPr txBox="1"/>
            <p:nvPr/>
          </p:nvSpPr>
          <p:spPr>
            <a:xfrm>
              <a:off x="6576397" y="3366594"/>
              <a:ext cx="2064019" cy="288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286"/>
              <a:r>
                <a:rPr lang="en-US" altLang="ko-KR" sz="24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cs typeface="Arial" pitchFamily="34" charset="0"/>
                </a:rPr>
                <a:t>High color purity</a:t>
              </a:r>
              <a:endParaRPr lang="ko-KR" altLang="en-US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cs typeface="Arial" pitchFamily="34" charset="0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7DDD1F9-06D1-4078-8B04-659D47C7A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6"/>
                </a:ext>
              </a:extLst>
            </a:blip>
            <a:stretch>
              <a:fillRect/>
            </a:stretch>
          </p:blipFill>
          <p:spPr>
            <a:xfrm>
              <a:off x="5219825" y="4897647"/>
              <a:ext cx="1764000" cy="1764000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544D09A8-7DE2-412B-BCA3-8EE3D72E7931}"/>
              </a:ext>
            </a:extLst>
          </p:cNvPr>
          <p:cNvSpPr txBox="1"/>
          <p:nvPr/>
        </p:nvSpPr>
        <p:spPr>
          <a:xfrm>
            <a:off x="5233077" y="11755647"/>
            <a:ext cx="1728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286"/>
            <a:r>
              <a:rPr lang="en-IN" sz="900">
                <a:solidFill>
                  <a:prstClr val="black"/>
                </a:solidFill>
                <a:latin typeface="Arial"/>
                <a:hlinkClick r:id="rId6" tooltip="https://en.wikipedia.org/wiki/Perovskite_solar_cell"/>
              </a:rPr>
              <a:t>This Photo</a:t>
            </a:r>
            <a:r>
              <a:rPr lang="en-IN" sz="900">
                <a:solidFill>
                  <a:prstClr val="black"/>
                </a:solidFill>
                <a:latin typeface="Arial"/>
              </a:rPr>
              <a:t> by Unknown Author is licensed under </a:t>
            </a:r>
            <a:r>
              <a:rPr lang="en-IN" sz="900">
                <a:solidFill>
                  <a:prstClr val="black"/>
                </a:solidFill>
                <a:latin typeface="Arial"/>
                <a:hlinkClick r:id="rId7" tooltip="https://creativecommons.org/licenses/by-sa/3.0/"/>
              </a:rPr>
              <a:t>CC BY-SA</a:t>
            </a:r>
            <a:endParaRPr lang="en-IN" sz="900">
              <a:solidFill>
                <a:prstClr val="black"/>
              </a:solidFill>
              <a:latin typeface="Arial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2CAAD6A-4D97-453D-8496-2A4E518C7185}"/>
              </a:ext>
            </a:extLst>
          </p:cNvPr>
          <p:cNvSpPr/>
          <p:nvPr/>
        </p:nvSpPr>
        <p:spPr>
          <a:xfrm>
            <a:off x="1184486" y="1669632"/>
            <a:ext cx="15461750" cy="1684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 defTabSz="914286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Perovskites promise a bright future for light-emitting diodes (LEDs) owing to their desirable   </a:t>
            </a: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optoelectronic </a:t>
            </a: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properties </a:t>
            </a:r>
            <a:endParaRPr lang="en-IN" sz="2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0B694E-2551-4CAB-BC74-1F7D4A7B8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38517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1824"/>
            <a:ext cx="18288001" cy="1333419"/>
            <a:chOff x="0" y="-1824"/>
            <a:chExt cx="18288001" cy="1333419"/>
          </a:xfrm>
        </p:grpSpPr>
        <p:sp>
          <p:nvSpPr>
            <p:cNvPr id="9" name="Rectangle 8"/>
            <p:cNvSpPr/>
            <p:nvPr/>
          </p:nvSpPr>
          <p:spPr>
            <a:xfrm>
              <a:off x="0" y="3732"/>
              <a:ext cx="13601700" cy="1275320"/>
            </a:xfrm>
            <a:prstGeom prst="rect">
              <a:avLst/>
            </a:prstGeom>
            <a:gradFill flip="none" rotWithShape="1">
              <a:gsLst>
                <a:gs pos="0">
                  <a:srgbClr val="15A1A2">
                    <a:shade val="30000"/>
                    <a:satMod val="115000"/>
                  </a:srgbClr>
                </a:gs>
                <a:gs pos="50000">
                  <a:srgbClr val="15A1A2">
                    <a:shade val="67500"/>
                    <a:satMod val="115000"/>
                  </a:srgbClr>
                </a:gs>
                <a:gs pos="100000">
                  <a:srgbClr val="15A1A2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3071496" y="-1824"/>
              <a:ext cx="5216504" cy="45719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71495" y="49348"/>
              <a:ext cx="3752639" cy="1240260"/>
            </a:xfrm>
            <a:prstGeom prst="rect">
              <a:avLst/>
            </a:prstGeom>
          </p:spPr>
        </p:pic>
        <p:sp>
          <p:nvSpPr>
            <p:cNvPr id="14" name="Rectangle 13"/>
            <p:cNvSpPr/>
            <p:nvPr/>
          </p:nvSpPr>
          <p:spPr>
            <a:xfrm flipV="1">
              <a:off x="0" y="1285876"/>
              <a:ext cx="18288000" cy="45719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Picture 14" descr="shutterstock_30373966 circle-01.png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060" b="17396"/>
            <a:stretch/>
          </p:blipFill>
          <p:spPr>
            <a:xfrm>
              <a:off x="16977205" y="19052"/>
              <a:ext cx="1310796" cy="1252536"/>
            </a:xfrm>
            <a:prstGeom prst="rect">
              <a:avLst/>
            </a:prstGeom>
          </p:spPr>
        </p:pic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9A1FBB50-CBA4-4F01-BF93-7AB51CD20CAB}"/>
              </a:ext>
            </a:extLst>
          </p:cNvPr>
          <p:cNvSpPr/>
          <p:nvPr/>
        </p:nvSpPr>
        <p:spPr>
          <a:xfrm>
            <a:off x="719999" y="180000"/>
            <a:ext cx="1208162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23">
              <a:lnSpc>
                <a:spcPct val="90000"/>
              </a:lnSpc>
              <a:spcBef>
                <a:spcPts val="1000"/>
              </a:spcBef>
            </a:pPr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Strategy to overcome the snags</a:t>
            </a:r>
            <a:endParaRPr lang="en-IN" sz="6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A9EB17D-714E-487B-9488-51A0155A76AA}"/>
              </a:ext>
            </a:extLst>
          </p:cNvPr>
          <p:cNvSpPr/>
          <p:nvPr/>
        </p:nvSpPr>
        <p:spPr>
          <a:xfrm>
            <a:off x="1090011" y="1771335"/>
            <a:ext cx="9955132" cy="86792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defTabSz="914286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Numerous approaches have been proposed to improve the device performance of </a:t>
            </a:r>
            <a:r>
              <a:rPr lang="en-US" sz="2800" dirty="0" err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PeLEDs</a:t>
            </a: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primarily by controlling </a:t>
            </a:r>
          </a:p>
          <a:p>
            <a:pPr marL="457200" lvl="0" indent="-457200" defTabSz="914286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Film morphology</a:t>
            </a:r>
          </a:p>
          <a:p>
            <a:pPr marL="457200" lvl="0" indent="-457200" defTabSz="914286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Chemical compositions of perovskite materials </a:t>
            </a:r>
          </a:p>
          <a:p>
            <a:pPr marL="457200" lvl="0" indent="-457200" defTabSz="914286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Tuning the interfacial energy levels at the contacts</a:t>
            </a: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IN" sz="2800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defTabSz="914286">
              <a:lnSpc>
                <a:spcPct val="200000"/>
              </a:lnSpc>
            </a:pPr>
            <a:endParaRPr lang="en-IN" sz="1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defTabSz="914286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This proposal is focused on</a:t>
            </a:r>
          </a:p>
          <a:p>
            <a:pPr marL="457200" indent="-457200" defTabSz="914286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Non-radiative recombination loss </a:t>
            </a:r>
          </a:p>
          <a:p>
            <a:pPr marL="457200" indent="-457200" defTabSz="914286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Extraction of emitted photons.</a:t>
            </a:r>
          </a:p>
          <a:p>
            <a:pPr defTabSz="914286">
              <a:lnSpc>
                <a:spcPct val="200000"/>
              </a:lnSpc>
            </a:pPr>
            <a:endParaRPr lang="en-US" sz="2800" b="1" dirty="0">
              <a:solidFill>
                <a:srgbClr val="002060"/>
              </a:solidFill>
              <a:latin typeface="Arial"/>
            </a:endParaRPr>
          </a:p>
          <a:p>
            <a:pPr defTabSz="914286"/>
            <a:endParaRPr lang="en-IN" sz="1800" dirty="0">
              <a:solidFill>
                <a:srgbClr val="002060"/>
              </a:solidFill>
              <a:latin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FFA1724-6C75-4E2A-BCBB-402CC779BF78}"/>
              </a:ext>
            </a:extLst>
          </p:cNvPr>
          <p:cNvGrpSpPr/>
          <p:nvPr/>
        </p:nvGrpSpPr>
        <p:grpSpPr>
          <a:xfrm>
            <a:off x="9734481" y="2971934"/>
            <a:ext cx="8553520" cy="5684142"/>
            <a:chOff x="7216891" y="2808225"/>
            <a:chExt cx="9101387" cy="5929894"/>
          </a:xfrm>
        </p:grpSpPr>
        <p:grpSp>
          <p:nvGrpSpPr>
            <p:cNvPr id="12" name="그룹 4">
              <a:extLst>
                <a:ext uri="{FF2B5EF4-FFF2-40B4-BE49-F238E27FC236}">
                  <a16:creationId xmlns:a16="http://schemas.microsoft.com/office/drawing/2014/main" id="{C7DA5508-5883-4A4C-8003-9BC3193788E0}"/>
                </a:ext>
              </a:extLst>
            </p:cNvPr>
            <p:cNvGrpSpPr/>
            <p:nvPr/>
          </p:nvGrpSpPr>
          <p:grpSpPr>
            <a:xfrm>
              <a:off x="10425562" y="3006397"/>
              <a:ext cx="4630625" cy="4970506"/>
              <a:chOff x="4737812" y="2390015"/>
              <a:chExt cx="3159394" cy="3764690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2EBED741-A65C-4896-B81B-189476F1ED31}"/>
                  </a:ext>
                </a:extLst>
              </p:cNvPr>
              <p:cNvGrpSpPr/>
              <p:nvPr/>
            </p:nvGrpSpPr>
            <p:grpSpPr>
              <a:xfrm rot="19800000">
                <a:off x="5964234" y="4473736"/>
                <a:ext cx="1932972" cy="1680969"/>
                <a:chOff x="2084105" y="5383623"/>
                <a:chExt cx="815482" cy="891098"/>
              </a:xfrm>
            </p:grpSpPr>
            <p:sp>
              <p:nvSpPr>
                <p:cNvPr id="20" name="Rectangle 8">
                  <a:extLst>
                    <a:ext uri="{FF2B5EF4-FFF2-40B4-BE49-F238E27FC236}">
                      <a16:creationId xmlns:a16="http://schemas.microsoft.com/office/drawing/2014/main" id="{4EB75579-B48E-4CFF-91C1-1D2F169D8BD7}"/>
                    </a:ext>
                  </a:extLst>
                </p:cNvPr>
                <p:cNvSpPr/>
                <p:nvPr/>
              </p:nvSpPr>
              <p:spPr>
                <a:xfrm>
                  <a:off x="2084105" y="5383623"/>
                  <a:ext cx="815482" cy="891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2378" h="1800199">
                      <a:moveTo>
                        <a:pt x="0" y="0"/>
                      </a:moveTo>
                      <a:lnTo>
                        <a:pt x="1802378" y="0"/>
                      </a:lnTo>
                      <a:lnTo>
                        <a:pt x="1802378" y="289727"/>
                      </a:lnTo>
                      <a:lnTo>
                        <a:pt x="1801366" y="289727"/>
                      </a:lnTo>
                      <a:lnTo>
                        <a:pt x="901188" y="1800199"/>
                      </a:lnTo>
                      <a:lnTo>
                        <a:pt x="1012" y="289727"/>
                      </a:lnTo>
                      <a:lnTo>
                        <a:pt x="0" y="289727"/>
                      </a:lnTo>
                      <a:lnTo>
                        <a:pt x="0" y="28803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1ED0A6">
                        <a:lumMod val="55000"/>
                        <a:lumOff val="45000"/>
                      </a:srgbClr>
                    </a:gs>
                    <a:gs pos="100000">
                      <a:srgbClr val="1ED0A6">
                        <a:lumMod val="55000"/>
                        <a:lumOff val="45000"/>
                      </a:srgbClr>
                    </a:gs>
                  </a:gsLst>
                  <a:lin ang="19800000" scaled="0"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28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7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cs typeface="+mn-cs"/>
                  </a:endParaRPr>
                </a:p>
              </p:txBody>
            </p:sp>
            <p:sp>
              <p:nvSpPr>
                <p:cNvPr id="21" name="Rectangle 8">
                  <a:extLst>
                    <a:ext uri="{FF2B5EF4-FFF2-40B4-BE49-F238E27FC236}">
                      <a16:creationId xmlns:a16="http://schemas.microsoft.com/office/drawing/2014/main" id="{F6FB3F29-3605-4879-8B01-B0968A0D3633}"/>
                    </a:ext>
                  </a:extLst>
                </p:cNvPr>
                <p:cNvSpPr/>
                <p:nvPr/>
              </p:nvSpPr>
              <p:spPr>
                <a:xfrm>
                  <a:off x="2084106" y="5383623"/>
                  <a:ext cx="614896" cy="884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9043" h="1787331">
                      <a:moveTo>
                        <a:pt x="0" y="0"/>
                      </a:moveTo>
                      <a:lnTo>
                        <a:pt x="1359043" y="0"/>
                      </a:lnTo>
                      <a:lnTo>
                        <a:pt x="1359043" y="212596"/>
                      </a:lnTo>
                      <a:lnTo>
                        <a:pt x="893519" y="1787331"/>
                      </a:lnTo>
                      <a:lnTo>
                        <a:pt x="1012" y="289727"/>
                      </a:lnTo>
                      <a:lnTo>
                        <a:pt x="0" y="289727"/>
                      </a:lnTo>
                      <a:lnTo>
                        <a:pt x="0" y="28803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1ED0A6">
                        <a:lumMod val="45000"/>
                        <a:lumOff val="55000"/>
                      </a:srgbClr>
                    </a:gs>
                    <a:gs pos="100000">
                      <a:srgbClr val="1ED0A6">
                        <a:lumMod val="45000"/>
                        <a:lumOff val="55000"/>
                      </a:srgbClr>
                    </a:gs>
                  </a:gsLst>
                  <a:lin ang="19800000" scaled="0"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28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7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cs typeface="+mn-cs"/>
                  </a:endParaRPr>
                </a:p>
              </p:txBody>
            </p:sp>
            <p:sp>
              <p:nvSpPr>
                <p:cNvPr id="22" name="Rectangle 8">
                  <a:extLst>
                    <a:ext uri="{FF2B5EF4-FFF2-40B4-BE49-F238E27FC236}">
                      <a16:creationId xmlns:a16="http://schemas.microsoft.com/office/drawing/2014/main" id="{7B1DAC1D-5547-44B9-A96A-9E5A78D5377B}"/>
                    </a:ext>
                  </a:extLst>
                </p:cNvPr>
                <p:cNvSpPr/>
                <p:nvPr/>
              </p:nvSpPr>
              <p:spPr>
                <a:xfrm>
                  <a:off x="2084106" y="5383623"/>
                  <a:ext cx="408037" cy="8859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1843" h="1789890">
                      <a:moveTo>
                        <a:pt x="0" y="0"/>
                      </a:moveTo>
                      <a:lnTo>
                        <a:pt x="897414" y="0"/>
                      </a:lnTo>
                      <a:lnTo>
                        <a:pt x="901843" y="212596"/>
                      </a:lnTo>
                      <a:lnTo>
                        <a:pt x="895045" y="1789890"/>
                      </a:lnTo>
                      <a:lnTo>
                        <a:pt x="1012" y="289727"/>
                      </a:lnTo>
                      <a:lnTo>
                        <a:pt x="0" y="289727"/>
                      </a:lnTo>
                      <a:lnTo>
                        <a:pt x="0" y="28803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1ED0A6">
                        <a:lumMod val="30000"/>
                        <a:lumOff val="70000"/>
                      </a:srgbClr>
                    </a:gs>
                    <a:gs pos="100000">
                      <a:srgbClr val="1ED0A6">
                        <a:lumMod val="30000"/>
                        <a:lumOff val="70000"/>
                      </a:srgbClr>
                    </a:gs>
                  </a:gsLst>
                  <a:lin ang="19800000" scaled="0"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28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7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cs typeface="+mn-cs"/>
                  </a:endParaRPr>
                </a:p>
              </p:txBody>
            </p:sp>
            <p:sp>
              <p:nvSpPr>
                <p:cNvPr id="23" name="Rectangle 8">
                  <a:extLst>
                    <a:ext uri="{FF2B5EF4-FFF2-40B4-BE49-F238E27FC236}">
                      <a16:creationId xmlns:a16="http://schemas.microsoft.com/office/drawing/2014/main" id="{0693E006-3577-4EFD-850F-0DBBB43AAAD4}"/>
                    </a:ext>
                  </a:extLst>
                </p:cNvPr>
                <p:cNvSpPr/>
                <p:nvPr/>
              </p:nvSpPr>
              <p:spPr>
                <a:xfrm>
                  <a:off x="2084105" y="5383623"/>
                  <a:ext cx="405505" cy="8869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246" h="1791906">
                      <a:moveTo>
                        <a:pt x="0" y="0"/>
                      </a:moveTo>
                      <a:lnTo>
                        <a:pt x="440115" y="0"/>
                      </a:lnTo>
                      <a:lnTo>
                        <a:pt x="452263" y="212596"/>
                      </a:lnTo>
                      <a:lnTo>
                        <a:pt x="896246" y="1791906"/>
                      </a:lnTo>
                      <a:lnTo>
                        <a:pt x="1012" y="289727"/>
                      </a:lnTo>
                      <a:lnTo>
                        <a:pt x="0" y="289727"/>
                      </a:lnTo>
                      <a:lnTo>
                        <a:pt x="0" y="28803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1ED0A6">
                        <a:lumMod val="20000"/>
                        <a:lumOff val="80000"/>
                      </a:srgbClr>
                    </a:gs>
                    <a:gs pos="100000">
                      <a:srgbClr val="1ED0A6">
                        <a:lumMod val="20000"/>
                        <a:lumOff val="80000"/>
                      </a:srgbClr>
                    </a:gs>
                  </a:gsLst>
                  <a:lin ang="19800000" scaled="0"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28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7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cs typeface="+mn-cs"/>
                  </a:endParaRPr>
                </a:p>
              </p:txBody>
            </p:sp>
          </p:grpSp>
          <p:sp>
            <p:nvSpPr>
              <p:cNvPr id="16" name="Rounded Rectangle 1">
                <a:extLst>
                  <a:ext uri="{FF2B5EF4-FFF2-40B4-BE49-F238E27FC236}">
                    <a16:creationId xmlns:a16="http://schemas.microsoft.com/office/drawing/2014/main" id="{0B4CB1CB-E725-40EC-803B-03EEECAF838E}"/>
                  </a:ext>
                </a:extLst>
              </p:cNvPr>
              <p:cNvSpPr/>
              <p:nvPr/>
            </p:nvSpPr>
            <p:spPr>
              <a:xfrm rot="14400000">
                <a:off x="5631591" y="4004066"/>
                <a:ext cx="989547" cy="1217904"/>
              </a:xfrm>
              <a:custGeom>
                <a:avLst/>
                <a:gdLst/>
                <a:ahLst/>
                <a:cxnLst/>
                <a:rect l="l" t="t" r="r" b="b"/>
                <a:pathLst>
                  <a:path w="936104" h="1152128">
                    <a:moveTo>
                      <a:pt x="156020" y="0"/>
                    </a:moveTo>
                    <a:lnTo>
                      <a:pt x="780084" y="0"/>
                    </a:lnTo>
                    <a:cubicBezTo>
                      <a:pt x="866251" y="0"/>
                      <a:pt x="936104" y="69853"/>
                      <a:pt x="936104" y="156020"/>
                    </a:cubicBezTo>
                    <a:lnTo>
                      <a:pt x="936104" y="346108"/>
                    </a:lnTo>
                    <a:cubicBezTo>
                      <a:pt x="915878" y="331325"/>
                      <a:pt x="890838" y="324036"/>
                      <a:pt x="864096" y="324036"/>
                    </a:cubicBezTo>
                    <a:cubicBezTo>
                      <a:pt x="784558" y="324036"/>
                      <a:pt x="720080" y="388514"/>
                      <a:pt x="720080" y="468052"/>
                    </a:cubicBezTo>
                    <a:cubicBezTo>
                      <a:pt x="720080" y="547590"/>
                      <a:pt x="784558" y="612068"/>
                      <a:pt x="864096" y="612068"/>
                    </a:cubicBezTo>
                    <a:cubicBezTo>
                      <a:pt x="890838" y="612068"/>
                      <a:pt x="915878" y="604779"/>
                      <a:pt x="936104" y="589997"/>
                    </a:cubicBezTo>
                    <a:lnTo>
                      <a:pt x="936104" y="780084"/>
                    </a:lnTo>
                    <a:cubicBezTo>
                      <a:pt x="936104" y="866251"/>
                      <a:pt x="866251" y="936104"/>
                      <a:pt x="780084" y="936104"/>
                    </a:cubicBezTo>
                    <a:lnTo>
                      <a:pt x="589997" y="936104"/>
                    </a:lnTo>
                    <a:cubicBezTo>
                      <a:pt x="604779" y="956330"/>
                      <a:pt x="612068" y="981370"/>
                      <a:pt x="612068" y="1008112"/>
                    </a:cubicBezTo>
                    <a:cubicBezTo>
                      <a:pt x="612068" y="1087650"/>
                      <a:pt x="547590" y="1152128"/>
                      <a:pt x="468052" y="1152128"/>
                    </a:cubicBezTo>
                    <a:cubicBezTo>
                      <a:pt x="388514" y="1152128"/>
                      <a:pt x="324036" y="1087650"/>
                      <a:pt x="324036" y="1008112"/>
                    </a:cubicBezTo>
                    <a:cubicBezTo>
                      <a:pt x="324036" y="981370"/>
                      <a:pt x="331325" y="956330"/>
                      <a:pt x="346108" y="936104"/>
                    </a:cubicBezTo>
                    <a:lnTo>
                      <a:pt x="156020" y="936104"/>
                    </a:lnTo>
                    <a:cubicBezTo>
                      <a:pt x="69853" y="936104"/>
                      <a:pt x="0" y="866251"/>
                      <a:pt x="0" y="780084"/>
                    </a:cubicBezTo>
                    <a:lnTo>
                      <a:pt x="0" y="156020"/>
                    </a:lnTo>
                    <a:cubicBezTo>
                      <a:pt x="0" y="69853"/>
                      <a:pt x="69853" y="0"/>
                      <a:pt x="156020" y="0"/>
                    </a:cubicBezTo>
                    <a:close/>
                  </a:path>
                </a:pathLst>
              </a:custGeom>
              <a:solidFill>
                <a:srgbClr val="1ED0A6"/>
              </a:solidFill>
              <a:ln w="15875" cap="flat" cmpd="sng" algn="ctr">
                <a:gradFill>
                  <a:gsLst>
                    <a:gs pos="0">
                      <a:sysClr val="window" lastClr="FFFFFF"/>
                    </a:gs>
                    <a:gs pos="100000">
                      <a:srgbClr val="00BDFB">
                        <a:tint val="23500"/>
                        <a:satMod val="160000"/>
                        <a:alpha val="0"/>
                      </a:srgbClr>
                    </a:gs>
                  </a:gsLst>
                  <a:lin ang="5400000" scaled="0"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28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7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  <p:sp>
            <p:nvSpPr>
              <p:cNvPr id="17" name="Rounded Rectangle 1">
                <a:extLst>
                  <a:ext uri="{FF2B5EF4-FFF2-40B4-BE49-F238E27FC236}">
                    <a16:creationId xmlns:a16="http://schemas.microsoft.com/office/drawing/2014/main" id="{3DE60929-FC15-4369-B1F0-537AC3CF6DBC}"/>
                  </a:ext>
                </a:extLst>
              </p:cNvPr>
              <p:cNvSpPr/>
              <p:nvPr/>
            </p:nvSpPr>
            <p:spPr>
              <a:xfrm rot="4400993">
                <a:off x="5833816" y="2266987"/>
                <a:ext cx="971848" cy="1217904"/>
              </a:xfrm>
              <a:custGeom>
                <a:avLst/>
                <a:gdLst/>
                <a:ahLst/>
                <a:cxnLst/>
                <a:rect l="l" t="t" r="r" b="b"/>
                <a:pathLst>
                  <a:path w="936104" h="1152128">
                    <a:moveTo>
                      <a:pt x="156020" y="0"/>
                    </a:moveTo>
                    <a:lnTo>
                      <a:pt x="780084" y="0"/>
                    </a:lnTo>
                    <a:cubicBezTo>
                      <a:pt x="866251" y="0"/>
                      <a:pt x="936104" y="69853"/>
                      <a:pt x="936104" y="156020"/>
                    </a:cubicBezTo>
                    <a:lnTo>
                      <a:pt x="936104" y="346108"/>
                    </a:lnTo>
                    <a:cubicBezTo>
                      <a:pt x="915878" y="331325"/>
                      <a:pt x="890838" y="324036"/>
                      <a:pt x="864096" y="324036"/>
                    </a:cubicBezTo>
                    <a:cubicBezTo>
                      <a:pt x="784558" y="324036"/>
                      <a:pt x="720080" y="388514"/>
                      <a:pt x="720080" y="468052"/>
                    </a:cubicBezTo>
                    <a:cubicBezTo>
                      <a:pt x="720080" y="547590"/>
                      <a:pt x="784558" y="612068"/>
                      <a:pt x="864096" y="612068"/>
                    </a:cubicBezTo>
                    <a:cubicBezTo>
                      <a:pt x="890838" y="612068"/>
                      <a:pt x="915878" y="604779"/>
                      <a:pt x="936104" y="589997"/>
                    </a:cubicBezTo>
                    <a:lnTo>
                      <a:pt x="936104" y="780084"/>
                    </a:lnTo>
                    <a:cubicBezTo>
                      <a:pt x="936104" y="866251"/>
                      <a:pt x="866251" y="936104"/>
                      <a:pt x="780084" y="936104"/>
                    </a:cubicBezTo>
                    <a:lnTo>
                      <a:pt x="589997" y="936104"/>
                    </a:lnTo>
                    <a:cubicBezTo>
                      <a:pt x="604779" y="956330"/>
                      <a:pt x="612068" y="981370"/>
                      <a:pt x="612068" y="1008112"/>
                    </a:cubicBezTo>
                    <a:cubicBezTo>
                      <a:pt x="612068" y="1087650"/>
                      <a:pt x="547590" y="1152128"/>
                      <a:pt x="468052" y="1152128"/>
                    </a:cubicBezTo>
                    <a:cubicBezTo>
                      <a:pt x="388514" y="1152128"/>
                      <a:pt x="324036" y="1087650"/>
                      <a:pt x="324036" y="1008112"/>
                    </a:cubicBezTo>
                    <a:cubicBezTo>
                      <a:pt x="324036" y="981370"/>
                      <a:pt x="331325" y="956330"/>
                      <a:pt x="346108" y="936104"/>
                    </a:cubicBezTo>
                    <a:lnTo>
                      <a:pt x="156020" y="936104"/>
                    </a:lnTo>
                    <a:cubicBezTo>
                      <a:pt x="69853" y="936104"/>
                      <a:pt x="0" y="866251"/>
                      <a:pt x="0" y="780084"/>
                    </a:cubicBezTo>
                    <a:lnTo>
                      <a:pt x="0" y="156020"/>
                    </a:lnTo>
                    <a:cubicBezTo>
                      <a:pt x="0" y="69853"/>
                      <a:pt x="69853" y="0"/>
                      <a:pt x="156020" y="0"/>
                    </a:cubicBezTo>
                    <a:close/>
                  </a:path>
                </a:pathLst>
              </a:custGeom>
              <a:solidFill>
                <a:srgbClr val="565874"/>
              </a:solidFill>
              <a:ln w="15875" cap="flat" cmpd="sng" algn="ctr">
                <a:gradFill>
                  <a:gsLst>
                    <a:gs pos="0">
                      <a:sysClr val="window" lastClr="FFFFFF"/>
                    </a:gs>
                    <a:gs pos="100000">
                      <a:srgbClr val="00BDFB">
                        <a:tint val="23500"/>
                        <a:satMod val="160000"/>
                        <a:alpha val="0"/>
                      </a:srgbClr>
                    </a:gs>
                  </a:gsLst>
                  <a:lin ang="2400000" scaled="0"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28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7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  <p:sp>
            <p:nvSpPr>
              <p:cNvPr id="18" name="Rounded Rectangle 1">
                <a:extLst>
                  <a:ext uri="{FF2B5EF4-FFF2-40B4-BE49-F238E27FC236}">
                    <a16:creationId xmlns:a16="http://schemas.microsoft.com/office/drawing/2014/main" id="{3FDC283F-E299-4511-A34B-87B9F552F2E1}"/>
                  </a:ext>
                </a:extLst>
              </p:cNvPr>
              <p:cNvSpPr/>
              <p:nvPr/>
            </p:nvSpPr>
            <p:spPr>
              <a:xfrm rot="9000000">
                <a:off x="6348871" y="3420912"/>
                <a:ext cx="971848" cy="1217903"/>
              </a:xfrm>
              <a:custGeom>
                <a:avLst/>
                <a:gdLst/>
                <a:ahLst/>
                <a:cxnLst/>
                <a:rect l="l" t="t" r="r" b="b"/>
                <a:pathLst>
                  <a:path w="936104" h="1152128">
                    <a:moveTo>
                      <a:pt x="156020" y="0"/>
                    </a:moveTo>
                    <a:lnTo>
                      <a:pt x="780084" y="0"/>
                    </a:lnTo>
                    <a:cubicBezTo>
                      <a:pt x="866251" y="0"/>
                      <a:pt x="936104" y="69853"/>
                      <a:pt x="936104" y="156020"/>
                    </a:cubicBezTo>
                    <a:lnTo>
                      <a:pt x="936104" y="346108"/>
                    </a:lnTo>
                    <a:cubicBezTo>
                      <a:pt x="915878" y="331325"/>
                      <a:pt x="890838" y="324036"/>
                      <a:pt x="864096" y="324036"/>
                    </a:cubicBezTo>
                    <a:cubicBezTo>
                      <a:pt x="784558" y="324036"/>
                      <a:pt x="720080" y="388514"/>
                      <a:pt x="720080" y="468052"/>
                    </a:cubicBezTo>
                    <a:cubicBezTo>
                      <a:pt x="720080" y="547590"/>
                      <a:pt x="784558" y="612068"/>
                      <a:pt x="864096" y="612068"/>
                    </a:cubicBezTo>
                    <a:cubicBezTo>
                      <a:pt x="890838" y="612068"/>
                      <a:pt x="915878" y="604779"/>
                      <a:pt x="936104" y="589997"/>
                    </a:cubicBezTo>
                    <a:lnTo>
                      <a:pt x="936104" y="780084"/>
                    </a:lnTo>
                    <a:cubicBezTo>
                      <a:pt x="936104" y="866251"/>
                      <a:pt x="866251" y="936104"/>
                      <a:pt x="780084" y="936104"/>
                    </a:cubicBezTo>
                    <a:lnTo>
                      <a:pt x="589997" y="936104"/>
                    </a:lnTo>
                    <a:cubicBezTo>
                      <a:pt x="604779" y="956330"/>
                      <a:pt x="612068" y="981370"/>
                      <a:pt x="612068" y="1008112"/>
                    </a:cubicBezTo>
                    <a:cubicBezTo>
                      <a:pt x="612068" y="1087650"/>
                      <a:pt x="547590" y="1152128"/>
                      <a:pt x="468052" y="1152128"/>
                    </a:cubicBezTo>
                    <a:cubicBezTo>
                      <a:pt x="388514" y="1152128"/>
                      <a:pt x="324036" y="1087650"/>
                      <a:pt x="324036" y="1008112"/>
                    </a:cubicBezTo>
                    <a:cubicBezTo>
                      <a:pt x="324036" y="981370"/>
                      <a:pt x="331325" y="956330"/>
                      <a:pt x="346108" y="936104"/>
                    </a:cubicBezTo>
                    <a:lnTo>
                      <a:pt x="156020" y="936104"/>
                    </a:lnTo>
                    <a:cubicBezTo>
                      <a:pt x="69853" y="936104"/>
                      <a:pt x="0" y="866251"/>
                      <a:pt x="0" y="780084"/>
                    </a:cubicBezTo>
                    <a:lnTo>
                      <a:pt x="0" y="156020"/>
                    </a:lnTo>
                    <a:cubicBezTo>
                      <a:pt x="0" y="69853"/>
                      <a:pt x="69853" y="0"/>
                      <a:pt x="156020" y="0"/>
                    </a:cubicBezTo>
                    <a:close/>
                  </a:path>
                </a:pathLst>
              </a:custGeom>
              <a:solidFill>
                <a:srgbClr val="1C82FF"/>
              </a:solidFill>
              <a:ln w="15875" cap="flat" cmpd="sng" algn="ctr">
                <a:gradFill>
                  <a:gsLst>
                    <a:gs pos="0">
                      <a:sysClr val="window" lastClr="FFFFFF"/>
                    </a:gs>
                    <a:gs pos="100000">
                      <a:srgbClr val="00BDFB">
                        <a:tint val="23500"/>
                        <a:satMod val="160000"/>
                        <a:alpha val="0"/>
                      </a:srgbClr>
                    </a:gs>
                  </a:gsLst>
                  <a:lin ang="19800000" scaled="0"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28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7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  <p:sp>
            <p:nvSpPr>
              <p:cNvPr id="19" name="Rounded Rectangle 1">
                <a:extLst>
                  <a:ext uri="{FF2B5EF4-FFF2-40B4-BE49-F238E27FC236}">
                    <a16:creationId xmlns:a16="http://schemas.microsoft.com/office/drawing/2014/main" id="{E62C697B-C27B-45DA-820A-6FECFF2387C5}"/>
                  </a:ext>
                </a:extLst>
              </p:cNvPr>
              <p:cNvSpPr/>
              <p:nvPr/>
            </p:nvSpPr>
            <p:spPr>
              <a:xfrm rot="18596325">
                <a:off x="4851990" y="3080834"/>
                <a:ext cx="989547" cy="1217904"/>
              </a:xfrm>
              <a:custGeom>
                <a:avLst/>
                <a:gdLst/>
                <a:ahLst/>
                <a:cxnLst/>
                <a:rect l="l" t="t" r="r" b="b"/>
                <a:pathLst>
                  <a:path w="936104" h="1152128">
                    <a:moveTo>
                      <a:pt x="156020" y="0"/>
                    </a:moveTo>
                    <a:lnTo>
                      <a:pt x="780084" y="0"/>
                    </a:lnTo>
                    <a:cubicBezTo>
                      <a:pt x="866251" y="0"/>
                      <a:pt x="936104" y="69853"/>
                      <a:pt x="936104" y="156020"/>
                    </a:cubicBezTo>
                    <a:lnTo>
                      <a:pt x="936104" y="346108"/>
                    </a:lnTo>
                    <a:cubicBezTo>
                      <a:pt x="915878" y="331325"/>
                      <a:pt x="890838" y="324036"/>
                      <a:pt x="864096" y="324036"/>
                    </a:cubicBezTo>
                    <a:cubicBezTo>
                      <a:pt x="784558" y="324036"/>
                      <a:pt x="720080" y="388514"/>
                      <a:pt x="720080" y="468052"/>
                    </a:cubicBezTo>
                    <a:cubicBezTo>
                      <a:pt x="720080" y="547590"/>
                      <a:pt x="784558" y="612068"/>
                      <a:pt x="864096" y="612068"/>
                    </a:cubicBezTo>
                    <a:cubicBezTo>
                      <a:pt x="890838" y="612068"/>
                      <a:pt x="915878" y="604779"/>
                      <a:pt x="936104" y="589997"/>
                    </a:cubicBezTo>
                    <a:lnTo>
                      <a:pt x="936104" y="780084"/>
                    </a:lnTo>
                    <a:cubicBezTo>
                      <a:pt x="936104" y="866251"/>
                      <a:pt x="866251" y="936104"/>
                      <a:pt x="780084" y="936104"/>
                    </a:cubicBezTo>
                    <a:lnTo>
                      <a:pt x="589997" y="936104"/>
                    </a:lnTo>
                    <a:cubicBezTo>
                      <a:pt x="604779" y="956330"/>
                      <a:pt x="612068" y="981370"/>
                      <a:pt x="612068" y="1008112"/>
                    </a:cubicBezTo>
                    <a:cubicBezTo>
                      <a:pt x="612068" y="1087650"/>
                      <a:pt x="547590" y="1152128"/>
                      <a:pt x="468052" y="1152128"/>
                    </a:cubicBezTo>
                    <a:cubicBezTo>
                      <a:pt x="388514" y="1152128"/>
                      <a:pt x="324036" y="1087650"/>
                      <a:pt x="324036" y="1008112"/>
                    </a:cubicBezTo>
                    <a:cubicBezTo>
                      <a:pt x="324036" y="981370"/>
                      <a:pt x="331325" y="956330"/>
                      <a:pt x="346108" y="936104"/>
                    </a:cubicBezTo>
                    <a:lnTo>
                      <a:pt x="156020" y="936104"/>
                    </a:lnTo>
                    <a:cubicBezTo>
                      <a:pt x="69853" y="936104"/>
                      <a:pt x="0" y="866251"/>
                      <a:pt x="0" y="780084"/>
                    </a:cubicBezTo>
                    <a:lnTo>
                      <a:pt x="0" y="156020"/>
                    </a:lnTo>
                    <a:cubicBezTo>
                      <a:pt x="0" y="69853"/>
                      <a:pt x="69853" y="0"/>
                      <a:pt x="156020" y="0"/>
                    </a:cubicBezTo>
                    <a:close/>
                  </a:path>
                </a:pathLst>
              </a:custGeom>
              <a:solidFill>
                <a:srgbClr val="00BDFB"/>
              </a:solidFill>
              <a:ln w="15875" cap="flat" cmpd="sng" algn="ctr">
                <a:gradFill>
                  <a:gsLst>
                    <a:gs pos="0">
                      <a:sysClr val="window" lastClr="FFFFFF"/>
                    </a:gs>
                    <a:gs pos="100000">
                      <a:srgbClr val="00BDFB">
                        <a:tint val="23500"/>
                        <a:satMod val="160000"/>
                        <a:alpha val="0"/>
                      </a:srgbClr>
                    </a:gs>
                  </a:gsLst>
                  <a:lin ang="5400000" scaled="0"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28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7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997A441-D440-420A-BF94-D7A9EDB99949}"/>
                </a:ext>
              </a:extLst>
            </p:cNvPr>
            <p:cNvSpPr/>
            <p:nvPr/>
          </p:nvSpPr>
          <p:spPr>
            <a:xfrm>
              <a:off x="14982593" y="4460870"/>
              <a:ext cx="1335685" cy="5458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914286"/>
              <a:r>
                <a:rPr lang="en-US" sz="28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PLQY</a:t>
              </a:r>
              <a:endParaRPr lang="en-IN" sz="2800" b="1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97590B9-8638-4A81-998D-C65948E1610A}"/>
                </a:ext>
              </a:extLst>
            </p:cNvPr>
            <p:cNvSpPr/>
            <p:nvPr/>
          </p:nvSpPr>
          <p:spPr>
            <a:xfrm>
              <a:off x="14325688" y="2808225"/>
              <a:ext cx="124425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286"/>
              <a:r>
                <a:rPr lang="en-US" sz="2800" b="1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doping</a:t>
              </a:r>
              <a:endParaRPr lang="en-IN" sz="2800" b="1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1D913F7-73FD-414C-AE10-575FBA3DC427}"/>
                </a:ext>
              </a:extLst>
            </p:cNvPr>
            <p:cNvSpPr/>
            <p:nvPr/>
          </p:nvSpPr>
          <p:spPr>
            <a:xfrm>
              <a:off x="9195152" y="4621255"/>
              <a:ext cx="58541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286"/>
              <a:r>
                <a:rPr lang="en-US" altLang="ko-KR" sz="2800" b="1" dirty="0">
                  <a:solidFill>
                    <a:srgbClr val="00BDFB"/>
                  </a:solidFill>
                  <a:latin typeface="Arial"/>
                  <a:cs typeface="Arial" pitchFamily="34" charset="0"/>
                </a:rPr>
                <a:t>01</a:t>
              </a:r>
              <a:endParaRPr lang="ko-KR" altLang="en-US" sz="2800" b="1" dirty="0">
                <a:solidFill>
                  <a:srgbClr val="00BDFB"/>
                </a:solidFill>
                <a:latin typeface="Arial"/>
                <a:cs typeface="Arial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D072AA6-6EC9-4155-9E22-D2FE3B5C2D8C}"/>
                </a:ext>
              </a:extLst>
            </p:cNvPr>
            <p:cNvSpPr/>
            <p:nvPr/>
          </p:nvSpPr>
          <p:spPr>
            <a:xfrm>
              <a:off x="10480489" y="6267169"/>
              <a:ext cx="58541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286"/>
              <a:r>
                <a:rPr lang="en-US" altLang="ko-KR" sz="2800" b="1" dirty="0">
                  <a:solidFill>
                    <a:srgbClr val="1ED0A6">
                      <a:lumMod val="75000"/>
                    </a:srgbClr>
                  </a:solidFill>
                  <a:latin typeface="Arial"/>
                  <a:cs typeface="Arial" pitchFamily="34" charset="0"/>
                </a:rPr>
                <a:t>01</a:t>
              </a:r>
              <a:endParaRPr lang="ko-KR" altLang="en-US" sz="2800" b="1" dirty="0">
                <a:solidFill>
                  <a:srgbClr val="1ED0A6">
                    <a:lumMod val="75000"/>
                  </a:srgbClr>
                </a:solidFill>
                <a:latin typeface="Arial"/>
                <a:cs typeface="Arial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672F466-AD99-474C-B489-07FE5EE19B69}"/>
                </a:ext>
              </a:extLst>
            </p:cNvPr>
            <p:cNvSpPr/>
            <p:nvPr/>
          </p:nvSpPr>
          <p:spPr>
            <a:xfrm>
              <a:off x="13857742" y="2831399"/>
              <a:ext cx="58541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286"/>
              <a:r>
                <a:rPr lang="en-US" altLang="ko-KR" sz="2800" b="1" dirty="0">
                  <a:solidFill>
                    <a:srgbClr val="565874">
                      <a:lumMod val="75000"/>
                    </a:srgbClr>
                  </a:solidFill>
                  <a:latin typeface="Arial"/>
                  <a:cs typeface="Arial" pitchFamily="34" charset="0"/>
                </a:rPr>
                <a:t>02</a:t>
              </a:r>
              <a:endParaRPr lang="ko-KR" altLang="en-US" sz="2800" b="1" dirty="0">
                <a:solidFill>
                  <a:srgbClr val="565874">
                    <a:lumMod val="75000"/>
                  </a:srgbClr>
                </a:solidFill>
                <a:latin typeface="Arial"/>
                <a:cs typeface="Arial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A4EC929-674C-4EA3-A5CA-B99F3498FFD3}"/>
                </a:ext>
              </a:extLst>
            </p:cNvPr>
            <p:cNvSpPr/>
            <p:nvPr/>
          </p:nvSpPr>
          <p:spPr>
            <a:xfrm>
              <a:off x="14517830" y="4475182"/>
              <a:ext cx="58541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286"/>
              <a:r>
                <a:rPr lang="en-US" altLang="ko-KR" sz="2800" b="1" dirty="0">
                  <a:solidFill>
                    <a:srgbClr val="0070C0"/>
                  </a:solidFill>
                  <a:latin typeface="Arial"/>
                  <a:cs typeface="Arial" pitchFamily="34" charset="0"/>
                </a:rPr>
                <a:t>02</a:t>
              </a:r>
              <a:endParaRPr lang="ko-KR" altLang="en-US" sz="2800" b="1" dirty="0">
                <a:solidFill>
                  <a:srgbClr val="0070C0"/>
                </a:solidFill>
                <a:latin typeface="Arial"/>
                <a:cs typeface="Arial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DC98ECA-2FE5-4C3D-8A98-5E1C5E4234B1}"/>
                </a:ext>
              </a:extLst>
            </p:cNvPr>
            <p:cNvSpPr/>
            <p:nvPr/>
          </p:nvSpPr>
          <p:spPr>
            <a:xfrm>
              <a:off x="7263538" y="6267169"/>
              <a:ext cx="3349224" cy="5458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914286"/>
              <a:r>
                <a:rPr lang="en-US" sz="28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Calibri" panose="020F0502020204030204" pitchFamily="34" charset="0"/>
                </a:rPr>
                <a:t>Outcoupling(EQE</a:t>
              </a:r>
              <a:r>
                <a:rPr lang="en-US" sz="2800" b="1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)</a:t>
              </a:r>
              <a:endParaRPr lang="en-IN" sz="280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2A301B4-3B2E-4351-9E72-BEDC2F03489D}"/>
                </a:ext>
              </a:extLst>
            </p:cNvPr>
            <p:cNvSpPr/>
            <p:nvPr/>
          </p:nvSpPr>
          <p:spPr>
            <a:xfrm>
              <a:off x="7216891" y="4621255"/>
              <a:ext cx="1980029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286"/>
              <a:r>
                <a:rPr lang="en-US" sz="2800" b="1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Fabrication</a:t>
              </a:r>
              <a:endParaRPr lang="en-IN" sz="280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D59E198-086F-439D-BCC0-4475CC94464E}"/>
                </a:ext>
              </a:extLst>
            </p:cNvPr>
            <p:cNvSpPr/>
            <p:nvPr/>
          </p:nvSpPr>
          <p:spPr>
            <a:xfrm>
              <a:off x="13065533" y="8214899"/>
              <a:ext cx="284565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286"/>
              <a:r>
                <a:rPr 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</a:rPr>
                <a:t>Efficient </a:t>
              </a:r>
              <a:r>
                <a:rPr lang="en-US" sz="28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</a:rPr>
                <a:t>PeLEDs</a:t>
              </a:r>
              <a:endParaRPr lang="en-I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8FD385-AE70-4D2E-BEFE-4BB206B2F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10018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1824"/>
            <a:ext cx="18288001" cy="1333419"/>
            <a:chOff x="0" y="-1824"/>
            <a:chExt cx="18288001" cy="1333419"/>
          </a:xfrm>
        </p:grpSpPr>
        <p:sp>
          <p:nvSpPr>
            <p:cNvPr id="9" name="Rectangle 8"/>
            <p:cNvSpPr/>
            <p:nvPr/>
          </p:nvSpPr>
          <p:spPr>
            <a:xfrm>
              <a:off x="0" y="3732"/>
              <a:ext cx="13601700" cy="1275320"/>
            </a:xfrm>
            <a:prstGeom prst="rect">
              <a:avLst/>
            </a:prstGeom>
            <a:gradFill flip="none" rotWithShape="1">
              <a:gsLst>
                <a:gs pos="0">
                  <a:srgbClr val="15A1A2">
                    <a:shade val="30000"/>
                    <a:satMod val="115000"/>
                  </a:srgbClr>
                </a:gs>
                <a:gs pos="50000">
                  <a:srgbClr val="15A1A2">
                    <a:shade val="67500"/>
                    <a:satMod val="115000"/>
                  </a:srgbClr>
                </a:gs>
                <a:gs pos="100000">
                  <a:srgbClr val="15A1A2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3071496" y="-1824"/>
              <a:ext cx="5216504" cy="45719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71495" y="49348"/>
              <a:ext cx="3752639" cy="1240260"/>
            </a:xfrm>
            <a:prstGeom prst="rect">
              <a:avLst/>
            </a:prstGeom>
          </p:spPr>
        </p:pic>
        <p:sp>
          <p:nvSpPr>
            <p:cNvPr id="14" name="Rectangle 13"/>
            <p:cNvSpPr/>
            <p:nvPr/>
          </p:nvSpPr>
          <p:spPr>
            <a:xfrm flipV="1">
              <a:off x="0" y="1285876"/>
              <a:ext cx="18288000" cy="45719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Picture 14" descr="shutterstock_30373966 circle-01.png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060" b="17396"/>
            <a:stretch/>
          </p:blipFill>
          <p:spPr>
            <a:xfrm>
              <a:off x="16977205" y="19052"/>
              <a:ext cx="1310796" cy="1252536"/>
            </a:xfrm>
            <a:prstGeom prst="rect">
              <a:avLst/>
            </a:prstGeom>
          </p:spPr>
        </p:pic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DC29D1EA-A24F-4E2B-A5F1-3FFD4112D568}"/>
              </a:ext>
            </a:extLst>
          </p:cNvPr>
          <p:cNvSpPr/>
          <p:nvPr/>
        </p:nvSpPr>
        <p:spPr>
          <a:xfrm>
            <a:off x="1630017" y="1131607"/>
            <a:ext cx="91705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86"/>
            <a:endParaRPr lang="en-IN" sz="1800" dirty="0">
              <a:solidFill>
                <a:srgbClr val="002060"/>
              </a:solidFill>
              <a:latin typeface="Arial"/>
            </a:endParaRPr>
          </a:p>
          <a:p>
            <a:pPr defTabSz="914286"/>
            <a:endParaRPr lang="en-IN" sz="180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938A83-6705-4C53-B8BE-2262AE609B33}"/>
              </a:ext>
            </a:extLst>
          </p:cNvPr>
          <p:cNvSpPr/>
          <p:nvPr/>
        </p:nvSpPr>
        <p:spPr>
          <a:xfrm>
            <a:off x="409913" y="2210312"/>
            <a:ext cx="9170505" cy="68331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 defTabSz="914286">
              <a:lnSpc>
                <a:spcPct val="200000"/>
              </a:lnSpc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defects, probably vacancies can deteriorate the short-range order of the lattice and act as trapping centers of photogenerated carriers</a:t>
            </a: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 marL="457200" indent="-457200" algn="just" defTabSz="914286">
              <a:lnSpc>
                <a:spcPct val="200000"/>
              </a:lnSpc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These defects form localized defects states which trap charge carriers and leads to the formation of indirect band gaps</a:t>
            </a: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 algn="just" defTabSz="914286">
              <a:lnSpc>
                <a:spcPct val="200000"/>
              </a:lnSpc>
              <a:spcAft>
                <a:spcPts val="1000"/>
              </a:spcAft>
            </a:pP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pPr algn="just" defTabSz="914286">
              <a:lnSpc>
                <a:spcPct val="150000"/>
              </a:lnSpc>
              <a:spcAft>
                <a:spcPts val="1000"/>
              </a:spcAft>
            </a:pPr>
            <a:endParaRPr lang="en-IN" sz="1600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FD7549-C874-43BA-B541-4261339706D8}"/>
              </a:ext>
            </a:extLst>
          </p:cNvPr>
          <p:cNvSpPr/>
          <p:nvPr/>
        </p:nvSpPr>
        <p:spPr>
          <a:xfrm>
            <a:off x="72644" y="180000"/>
            <a:ext cx="12792284" cy="10638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defTabSz="914286">
              <a:lnSpc>
                <a:spcPct val="115000"/>
              </a:lnSpc>
            </a:pPr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Non-radiative recombination loss  </a:t>
            </a:r>
            <a:endParaRPr lang="en-IN" sz="6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BE123D-3C87-4120-B601-225E9F973A94}"/>
              </a:ext>
            </a:extLst>
          </p:cNvPr>
          <p:cNvSpPr/>
          <p:nvPr/>
        </p:nvSpPr>
        <p:spPr>
          <a:xfrm>
            <a:off x="11517579" y="9929913"/>
            <a:ext cx="677042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Advances in Optics and Photonics, </a:t>
            </a:r>
            <a:r>
              <a:rPr lang="en-US" sz="16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Vol. 3, pp. 53-87 (2011).</a:t>
            </a:r>
            <a:endParaRPr lang="en-US" sz="1600" b="0" i="0" dirty="0"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D8E51CC-01C8-4A2B-88C2-910542FC4F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8818" y="2729545"/>
            <a:ext cx="7553103" cy="439370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1AE3FA-1179-4D58-99DD-828F8A0C4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0252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1824"/>
            <a:ext cx="18288001" cy="1333419"/>
            <a:chOff x="0" y="-1824"/>
            <a:chExt cx="18288001" cy="1333419"/>
          </a:xfrm>
        </p:grpSpPr>
        <p:sp>
          <p:nvSpPr>
            <p:cNvPr id="9" name="Rectangle 8"/>
            <p:cNvSpPr/>
            <p:nvPr/>
          </p:nvSpPr>
          <p:spPr>
            <a:xfrm>
              <a:off x="0" y="3732"/>
              <a:ext cx="13601700" cy="1275320"/>
            </a:xfrm>
            <a:prstGeom prst="rect">
              <a:avLst/>
            </a:prstGeom>
            <a:gradFill flip="none" rotWithShape="1">
              <a:gsLst>
                <a:gs pos="0">
                  <a:srgbClr val="15A1A2">
                    <a:shade val="30000"/>
                    <a:satMod val="115000"/>
                  </a:srgbClr>
                </a:gs>
                <a:gs pos="50000">
                  <a:srgbClr val="15A1A2">
                    <a:shade val="67500"/>
                    <a:satMod val="115000"/>
                  </a:srgbClr>
                </a:gs>
                <a:gs pos="100000">
                  <a:srgbClr val="15A1A2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3071496" y="-1824"/>
              <a:ext cx="5216504" cy="45719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71495" y="49348"/>
              <a:ext cx="3752639" cy="1240260"/>
            </a:xfrm>
            <a:prstGeom prst="rect">
              <a:avLst/>
            </a:prstGeom>
          </p:spPr>
        </p:pic>
        <p:sp>
          <p:nvSpPr>
            <p:cNvPr id="14" name="Rectangle 13"/>
            <p:cNvSpPr/>
            <p:nvPr/>
          </p:nvSpPr>
          <p:spPr>
            <a:xfrm flipV="1">
              <a:off x="0" y="1285876"/>
              <a:ext cx="18288000" cy="45719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Picture 14" descr="shutterstock_30373966 circle-01.png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060" b="17396"/>
            <a:stretch/>
          </p:blipFill>
          <p:spPr>
            <a:xfrm>
              <a:off x="16977205" y="19052"/>
              <a:ext cx="1310796" cy="1252536"/>
            </a:xfrm>
            <a:prstGeom prst="rect">
              <a:avLst/>
            </a:prstGeom>
          </p:spPr>
        </p:pic>
      </p:grp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02BC1A1B-E430-4B03-9594-8300B7D8AF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4543717"/>
              </p:ext>
            </p:extLst>
          </p:nvPr>
        </p:nvGraphicFramePr>
        <p:xfrm>
          <a:off x="43410" y="95067"/>
          <a:ext cx="1420456" cy="11488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DC6C3DFF-D229-42AD-9F1C-B9C5584E2F71}"/>
              </a:ext>
            </a:extLst>
          </p:cNvPr>
          <p:cNvSpPr/>
          <p:nvPr/>
        </p:nvSpPr>
        <p:spPr>
          <a:xfrm>
            <a:off x="720000" y="180000"/>
            <a:ext cx="826219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6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Doping of perovskites</a:t>
            </a:r>
            <a:endParaRPr lang="en-IN" sz="6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2578D9-AC24-4686-9D3A-6BED7F59FF3D}"/>
              </a:ext>
            </a:extLst>
          </p:cNvPr>
          <p:cNvSpPr/>
          <p:nvPr/>
        </p:nvSpPr>
        <p:spPr>
          <a:xfrm>
            <a:off x="1559590" y="2203494"/>
            <a:ext cx="14795701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defTabSz="914286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Low PLQY in undoped NCs is associated with short-range disorder of the lattice.</a:t>
            </a:r>
          </a:p>
          <a:p>
            <a:pPr marL="457200" indent="-457200" defTabSz="914286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Designed a general strategy for the synthesis of light emitting CsPbX</a:t>
            </a:r>
            <a:r>
              <a:rPr lang="en-US" sz="2800" baseline="-250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</a:t>
            </a: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NCs (X = Cl, Br, I)  to obtain high PLQY through Manganese (Mn) doping.</a:t>
            </a:r>
          </a:p>
          <a:p>
            <a:pPr marL="457200" indent="-457200" defTabSz="914286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Mn doping may eliminate these defects and result in increased short-range order of the lattice.</a:t>
            </a:r>
          </a:p>
          <a:p>
            <a:pPr marL="457200" indent="-457200" defTabSz="914286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May increase defect formation energy. </a:t>
            </a:r>
          </a:p>
          <a:p>
            <a:pPr defTabSz="914286"/>
            <a:endParaRPr lang="en-IN" sz="1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C69DE7-8D74-4116-BEE1-F2E275FD4E01}"/>
              </a:ext>
            </a:extLst>
          </p:cNvPr>
          <p:cNvSpPr/>
          <p:nvPr/>
        </p:nvSpPr>
        <p:spPr>
          <a:xfrm>
            <a:off x="1559591" y="4373050"/>
            <a:ext cx="93385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86"/>
            <a:r>
              <a:rPr lang="en-US" sz="1800" dirty="0">
                <a:solidFill>
                  <a:srgbClr val="000000"/>
                </a:solidFill>
                <a:latin typeface="Helvetica" panose="020B0604020202020204" pitchFamily="34" charset="0"/>
              </a:rPr>
              <a:t> </a:t>
            </a:r>
            <a:endParaRPr lang="en-IN" sz="1800" dirty="0">
              <a:solidFill>
                <a:prstClr val="black"/>
              </a:solidFill>
              <a:latin typeface="Arial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EBBB484-88B5-4DD3-95A9-63F7CD1F72B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00463" y="5945331"/>
            <a:ext cx="6409058" cy="370317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25C810E-8876-4169-95B0-AABB1D7C4FCA}"/>
              </a:ext>
            </a:extLst>
          </p:cNvPr>
          <p:cNvSpPr/>
          <p:nvPr/>
        </p:nvSpPr>
        <p:spPr>
          <a:xfrm>
            <a:off x="10898135" y="9931097"/>
            <a:ext cx="581371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r>
              <a:rPr lang="en-US" sz="1600" i="1" dirty="0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Journal of the American Chemical Society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 </a:t>
            </a:r>
            <a:r>
              <a:rPr lang="en-US" sz="1600" i="1" dirty="0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140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(31), 9942-9951.</a:t>
            </a:r>
            <a:endParaRPr lang="en-IN" sz="1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3FEA19-F5AC-429D-B324-B13794471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582568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3601700" cy="1271588"/>
          </a:xfrm>
          <a:prstGeom prst="rect">
            <a:avLst/>
          </a:prstGeom>
          <a:gradFill flip="none" rotWithShape="1">
            <a:gsLst>
              <a:gs pos="0">
                <a:srgbClr val="15A1A2">
                  <a:shade val="30000"/>
                  <a:satMod val="115000"/>
                </a:srgbClr>
              </a:gs>
              <a:gs pos="50000">
                <a:srgbClr val="15A1A2">
                  <a:shade val="67500"/>
                  <a:satMod val="115000"/>
                </a:srgbClr>
              </a:gs>
              <a:gs pos="100000">
                <a:srgbClr val="15A1A2">
                  <a:shade val="100000"/>
                  <a:satMod val="115000"/>
                </a:srgbClr>
              </a:gs>
            </a:gsLst>
            <a:lin ang="0" scaled="1"/>
            <a:tileRect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2887" y="284406"/>
            <a:ext cx="122015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adugi" panose="020B0502040204020203" pitchFamily="34" charset="0"/>
                <a:ea typeface="+mn-ea"/>
                <a:cs typeface="+mn-cs"/>
              </a:rPr>
              <a:t>Outline and Fields of Interest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5A448F4-E672-4D41-89E6-4898807E7AF6}"/>
              </a:ext>
            </a:extLst>
          </p:cNvPr>
          <p:cNvGrpSpPr/>
          <p:nvPr/>
        </p:nvGrpSpPr>
        <p:grpSpPr>
          <a:xfrm>
            <a:off x="0" y="-1824"/>
            <a:ext cx="18288001" cy="1333419"/>
            <a:chOff x="0" y="-1824"/>
            <a:chExt cx="18288001" cy="133341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DAE4089-DDE0-4027-BDA5-300BB2DC46ED}"/>
                </a:ext>
              </a:extLst>
            </p:cNvPr>
            <p:cNvSpPr/>
            <p:nvPr/>
          </p:nvSpPr>
          <p:spPr>
            <a:xfrm>
              <a:off x="0" y="3732"/>
              <a:ext cx="13601700" cy="1275320"/>
            </a:xfrm>
            <a:prstGeom prst="rect">
              <a:avLst/>
            </a:prstGeom>
            <a:gradFill flip="none" rotWithShape="1">
              <a:gsLst>
                <a:gs pos="0">
                  <a:srgbClr val="15A1A2">
                    <a:shade val="30000"/>
                    <a:satMod val="115000"/>
                  </a:srgbClr>
                </a:gs>
                <a:gs pos="50000">
                  <a:srgbClr val="15A1A2">
                    <a:shade val="67500"/>
                    <a:satMod val="115000"/>
                  </a:srgbClr>
                </a:gs>
                <a:gs pos="100000">
                  <a:srgbClr val="15A1A2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14EC8E2-8C94-4D4A-BD57-9455FD8D5285}"/>
                </a:ext>
              </a:extLst>
            </p:cNvPr>
            <p:cNvSpPr/>
            <p:nvPr/>
          </p:nvSpPr>
          <p:spPr>
            <a:xfrm>
              <a:off x="13071496" y="-1824"/>
              <a:ext cx="5216504" cy="45719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388B9DE-59D7-4D51-B958-8A925143B8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71495" y="49348"/>
              <a:ext cx="3752639" cy="1240260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1597E6A-2D10-4739-B875-7FF34BD442C9}"/>
                </a:ext>
              </a:extLst>
            </p:cNvPr>
            <p:cNvSpPr/>
            <p:nvPr/>
          </p:nvSpPr>
          <p:spPr>
            <a:xfrm flipV="1">
              <a:off x="0" y="1285876"/>
              <a:ext cx="18288000" cy="45719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25" name="Picture 24" descr="shutterstock_30373966 circle-01.png">
              <a:extLst>
                <a:ext uri="{FF2B5EF4-FFF2-40B4-BE49-F238E27FC236}">
                  <a16:creationId xmlns:a16="http://schemas.microsoft.com/office/drawing/2014/main" id="{F1EF3E62-1105-4FA4-8DE6-7D349B5B9B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060" b="17396"/>
            <a:stretch/>
          </p:blipFill>
          <p:spPr>
            <a:xfrm>
              <a:off x="16977205" y="19052"/>
              <a:ext cx="1310796" cy="1252536"/>
            </a:xfrm>
            <a:prstGeom prst="rect">
              <a:avLst/>
            </a:prstGeom>
          </p:spPr>
        </p:pic>
      </p:grpSp>
      <p:sp>
        <p:nvSpPr>
          <p:cNvPr id="13" name="Rounded Rectangle 10">
            <a:extLst>
              <a:ext uri="{FF2B5EF4-FFF2-40B4-BE49-F238E27FC236}">
                <a16:creationId xmlns:a16="http://schemas.microsoft.com/office/drawing/2014/main" id="{F562C328-AE77-49D7-AD96-1A91797987BB}"/>
              </a:ext>
            </a:extLst>
          </p:cNvPr>
          <p:cNvSpPr/>
          <p:nvPr/>
        </p:nvSpPr>
        <p:spPr>
          <a:xfrm>
            <a:off x="4661396" y="2014129"/>
            <a:ext cx="303909" cy="402189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4" name="Rounded Rectangle 6">
            <a:extLst>
              <a:ext uri="{FF2B5EF4-FFF2-40B4-BE49-F238E27FC236}">
                <a16:creationId xmlns:a16="http://schemas.microsoft.com/office/drawing/2014/main" id="{6FA60B71-EF4C-4833-94EE-EA7ADD305FA0}"/>
              </a:ext>
            </a:extLst>
          </p:cNvPr>
          <p:cNvSpPr/>
          <p:nvPr/>
        </p:nvSpPr>
        <p:spPr>
          <a:xfrm>
            <a:off x="2004162" y="2014129"/>
            <a:ext cx="413723" cy="420627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A53B6D1E-3467-4D71-A5CA-BE37DD58C27F}"/>
              </a:ext>
            </a:extLst>
          </p:cNvPr>
          <p:cNvSpPr/>
          <p:nvPr/>
        </p:nvSpPr>
        <p:spPr>
          <a:xfrm>
            <a:off x="9773303" y="2021200"/>
            <a:ext cx="414537" cy="388044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0D23C86-2B28-45FF-B48C-A38373A3B5C8}"/>
              </a:ext>
            </a:extLst>
          </p:cNvPr>
          <p:cNvCxnSpPr>
            <a:cxnSpLocks/>
          </p:cNvCxnSpPr>
          <p:nvPr/>
        </p:nvCxnSpPr>
        <p:spPr>
          <a:xfrm>
            <a:off x="3349045" y="5796026"/>
            <a:ext cx="2360044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84C17027-88AA-444D-882D-4C74E5ABF3BD}"/>
              </a:ext>
            </a:extLst>
          </p:cNvPr>
          <p:cNvSpPr/>
          <p:nvPr/>
        </p:nvSpPr>
        <p:spPr>
          <a:xfrm>
            <a:off x="4512081" y="5227753"/>
            <a:ext cx="298629" cy="23985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F056DA-0309-47D1-A8E8-06BB62E17701}"/>
              </a:ext>
            </a:extLst>
          </p:cNvPr>
          <p:cNvSpPr/>
          <p:nvPr/>
        </p:nvSpPr>
        <p:spPr>
          <a:xfrm>
            <a:off x="732233" y="8063486"/>
            <a:ext cx="353801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Dry</a:t>
            </a:r>
            <a:r>
              <a:rPr lang="en-US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under vacuum for 1 </a:t>
            </a:r>
            <a:r>
              <a:rPr lang="en-US" sz="28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hr</a:t>
            </a:r>
            <a:r>
              <a:rPr lang="en-US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at 120 °C, and then heat under N</a:t>
            </a:r>
            <a:r>
              <a:rPr lang="en-US" sz="2800" baseline="-25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r>
              <a:rPr lang="en-US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at 120 °C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CE6B0AB-4B47-4629-9DBF-2D114ADB5816}"/>
              </a:ext>
            </a:extLst>
          </p:cNvPr>
          <p:cNvSpPr/>
          <p:nvPr/>
        </p:nvSpPr>
        <p:spPr>
          <a:xfrm>
            <a:off x="8134020" y="2856986"/>
            <a:ext cx="173041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Cs-oleate solution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D7DFE69-3F45-4F8B-88DE-4E97C13115FE}"/>
              </a:ext>
            </a:extLst>
          </p:cNvPr>
          <p:cNvSpPr/>
          <p:nvPr/>
        </p:nvSpPr>
        <p:spPr>
          <a:xfrm>
            <a:off x="6003482" y="7915173"/>
            <a:ext cx="353801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Keep for 5 min at 210 °C temperature and add Cs-oleate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C644D28-E05C-4A3F-AB22-2490C68F32D7}"/>
              </a:ext>
            </a:extLst>
          </p:cNvPr>
          <p:cNvSpPr/>
          <p:nvPr/>
        </p:nvSpPr>
        <p:spPr>
          <a:xfrm>
            <a:off x="9096354" y="5159513"/>
            <a:ext cx="17684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</a:rPr>
              <a:t>60 seconds</a:t>
            </a:r>
            <a:endParaRPr lang="en-IN" sz="28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699F8B1-D3CA-4066-A50F-F8FD01A2568A}"/>
              </a:ext>
            </a:extLst>
          </p:cNvPr>
          <p:cNvGrpSpPr/>
          <p:nvPr/>
        </p:nvGrpSpPr>
        <p:grpSpPr>
          <a:xfrm>
            <a:off x="11377927" y="3696691"/>
            <a:ext cx="3730939" cy="4307013"/>
            <a:chOff x="6010635" y="1623149"/>
            <a:chExt cx="2388993" cy="3148381"/>
          </a:xfrm>
        </p:grpSpPr>
        <p:sp>
          <p:nvSpPr>
            <p:cNvPr id="33" name="Parallelogram 15">
              <a:extLst>
                <a:ext uri="{FF2B5EF4-FFF2-40B4-BE49-F238E27FC236}">
                  <a16:creationId xmlns:a16="http://schemas.microsoft.com/office/drawing/2014/main" id="{90D3FF31-5F6C-462F-AF91-2DA76AB79665}"/>
                </a:ext>
              </a:extLst>
            </p:cNvPr>
            <p:cNvSpPr/>
            <p:nvPr/>
          </p:nvSpPr>
          <p:spPr>
            <a:xfrm flipH="1">
              <a:off x="7208815" y="2043497"/>
              <a:ext cx="420627" cy="420627"/>
            </a:xfrm>
            <a:custGeom>
              <a:avLst/>
              <a:gdLst/>
              <a:ahLst/>
              <a:cxnLst/>
              <a:rect l="l" t="t" r="r" b="b"/>
              <a:pathLst>
                <a:path w="3242753" h="3227814">
                  <a:moveTo>
                    <a:pt x="1621376" y="1043635"/>
                  </a:moveTo>
                  <a:cubicBezTo>
                    <a:pt x="1557188" y="1043635"/>
                    <a:pt x="1505154" y="1095669"/>
                    <a:pt x="1505154" y="1159857"/>
                  </a:cubicBezTo>
                  <a:lnTo>
                    <a:pt x="1505154" y="1625483"/>
                  </a:lnTo>
                  <a:lnTo>
                    <a:pt x="1033577" y="1625483"/>
                  </a:lnTo>
                  <a:cubicBezTo>
                    <a:pt x="969389" y="1625483"/>
                    <a:pt x="917355" y="1677517"/>
                    <a:pt x="917355" y="1741705"/>
                  </a:cubicBezTo>
                  <a:cubicBezTo>
                    <a:pt x="917355" y="1805893"/>
                    <a:pt x="969389" y="1857927"/>
                    <a:pt x="1033577" y="1857927"/>
                  </a:cubicBezTo>
                  <a:lnTo>
                    <a:pt x="1614688" y="1857927"/>
                  </a:lnTo>
                  <a:lnTo>
                    <a:pt x="1619859" y="1856884"/>
                  </a:lnTo>
                  <a:cubicBezTo>
                    <a:pt x="1620361" y="1857187"/>
                    <a:pt x="1620868" y="1857190"/>
                    <a:pt x="1621376" y="1857190"/>
                  </a:cubicBezTo>
                  <a:cubicBezTo>
                    <a:pt x="1685564" y="1857190"/>
                    <a:pt x="1737598" y="1805156"/>
                    <a:pt x="1737598" y="1740968"/>
                  </a:cubicBezTo>
                  <a:lnTo>
                    <a:pt x="1737598" y="1159857"/>
                  </a:lnTo>
                  <a:cubicBezTo>
                    <a:pt x="1737598" y="1095669"/>
                    <a:pt x="1685564" y="1043635"/>
                    <a:pt x="1621376" y="1043635"/>
                  </a:cubicBezTo>
                  <a:close/>
                  <a:moveTo>
                    <a:pt x="1621376" y="628818"/>
                  </a:moveTo>
                  <a:cubicBezTo>
                    <a:pt x="2206882" y="628818"/>
                    <a:pt x="2681529" y="1103464"/>
                    <a:pt x="2681529" y="1688970"/>
                  </a:cubicBezTo>
                  <a:cubicBezTo>
                    <a:pt x="2681529" y="2274476"/>
                    <a:pt x="2206882" y="2749122"/>
                    <a:pt x="1621376" y="2749122"/>
                  </a:cubicBezTo>
                  <a:cubicBezTo>
                    <a:pt x="1035870" y="2749122"/>
                    <a:pt x="561223" y="2274476"/>
                    <a:pt x="561223" y="1688970"/>
                  </a:cubicBezTo>
                  <a:cubicBezTo>
                    <a:pt x="561223" y="1103464"/>
                    <a:pt x="1035870" y="628818"/>
                    <a:pt x="1621376" y="628818"/>
                  </a:cubicBezTo>
                  <a:close/>
                  <a:moveTo>
                    <a:pt x="1621376" y="424596"/>
                  </a:moveTo>
                  <a:cubicBezTo>
                    <a:pt x="923081" y="424596"/>
                    <a:pt x="357001" y="990676"/>
                    <a:pt x="357001" y="1688970"/>
                  </a:cubicBezTo>
                  <a:cubicBezTo>
                    <a:pt x="357001" y="2128645"/>
                    <a:pt x="581423" y="2515905"/>
                    <a:pt x="922189" y="2742109"/>
                  </a:cubicBezTo>
                  <a:lnTo>
                    <a:pt x="652992" y="3227814"/>
                  </a:lnTo>
                  <a:lnTo>
                    <a:pt x="911997" y="3227814"/>
                  </a:lnTo>
                  <a:lnTo>
                    <a:pt x="1121304" y="2850168"/>
                  </a:lnTo>
                  <a:cubicBezTo>
                    <a:pt x="1274563" y="2916691"/>
                    <a:pt x="1443689" y="2953344"/>
                    <a:pt x="1621376" y="2953344"/>
                  </a:cubicBezTo>
                  <a:cubicBezTo>
                    <a:pt x="1799063" y="2953344"/>
                    <a:pt x="1968189" y="2916691"/>
                    <a:pt x="2121449" y="2850168"/>
                  </a:cubicBezTo>
                  <a:lnTo>
                    <a:pt x="2330755" y="3227814"/>
                  </a:lnTo>
                  <a:lnTo>
                    <a:pt x="2589760" y="3227814"/>
                  </a:lnTo>
                  <a:lnTo>
                    <a:pt x="2320563" y="2742109"/>
                  </a:lnTo>
                  <a:cubicBezTo>
                    <a:pt x="2661329" y="2515905"/>
                    <a:pt x="2885751" y="2128645"/>
                    <a:pt x="2885751" y="1688970"/>
                  </a:cubicBezTo>
                  <a:cubicBezTo>
                    <a:pt x="2885751" y="990676"/>
                    <a:pt x="2319671" y="424596"/>
                    <a:pt x="1621376" y="424596"/>
                  </a:cubicBezTo>
                  <a:close/>
                  <a:moveTo>
                    <a:pt x="2599800" y="123238"/>
                  </a:moveTo>
                  <a:cubicBezTo>
                    <a:pt x="2434609" y="120698"/>
                    <a:pt x="2268460" y="180476"/>
                    <a:pt x="2139563" y="303161"/>
                  </a:cubicBezTo>
                  <a:lnTo>
                    <a:pt x="3057258" y="1232053"/>
                  </a:lnTo>
                  <a:cubicBezTo>
                    <a:pt x="3305736" y="977255"/>
                    <a:pt x="3304415" y="570405"/>
                    <a:pt x="3054287" y="317226"/>
                  </a:cubicBezTo>
                  <a:cubicBezTo>
                    <a:pt x="2929224" y="190636"/>
                    <a:pt x="2764991" y="125778"/>
                    <a:pt x="2599800" y="123238"/>
                  </a:cubicBezTo>
                  <a:close/>
                  <a:moveTo>
                    <a:pt x="642953" y="123238"/>
                  </a:moveTo>
                  <a:cubicBezTo>
                    <a:pt x="477762" y="125778"/>
                    <a:pt x="313529" y="190636"/>
                    <a:pt x="188466" y="317226"/>
                  </a:cubicBezTo>
                  <a:cubicBezTo>
                    <a:pt x="-61662" y="570405"/>
                    <a:pt x="-62983" y="977255"/>
                    <a:pt x="185495" y="1232053"/>
                  </a:cubicBezTo>
                  <a:lnTo>
                    <a:pt x="1103190" y="303161"/>
                  </a:lnTo>
                  <a:cubicBezTo>
                    <a:pt x="974294" y="180476"/>
                    <a:pt x="808144" y="120698"/>
                    <a:pt x="642953" y="123238"/>
                  </a:cubicBezTo>
                  <a:close/>
                  <a:moveTo>
                    <a:pt x="1722692" y="0"/>
                  </a:moveTo>
                  <a:lnTo>
                    <a:pt x="1520061" y="0"/>
                  </a:lnTo>
                  <a:cubicBezTo>
                    <a:pt x="1440152" y="0"/>
                    <a:pt x="1375373" y="64779"/>
                    <a:pt x="1375373" y="144688"/>
                  </a:cubicBezTo>
                  <a:lnTo>
                    <a:pt x="1375373" y="289376"/>
                  </a:lnTo>
                  <a:lnTo>
                    <a:pt x="1867380" y="289376"/>
                  </a:lnTo>
                  <a:lnTo>
                    <a:pt x="1867380" y="144688"/>
                  </a:lnTo>
                  <a:cubicBezTo>
                    <a:pt x="1867380" y="64779"/>
                    <a:pt x="1802601" y="0"/>
                    <a:pt x="172269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AE1799BB-622D-437E-9307-ED5B1108D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6"/>
                </a:ext>
              </a:extLst>
            </a:blip>
            <a:stretch>
              <a:fillRect/>
            </a:stretch>
          </p:blipFill>
          <p:spPr>
            <a:xfrm>
              <a:off x="6540282" y="2126479"/>
              <a:ext cx="1499102" cy="1850743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28BDEFF1-2D3C-407F-8C01-0CC86D7E6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8"/>
                </a:ext>
              </a:extLst>
            </a:blip>
            <a:stretch>
              <a:fillRect/>
            </a:stretch>
          </p:blipFill>
          <p:spPr>
            <a:xfrm>
              <a:off x="6010635" y="1623149"/>
              <a:ext cx="2388993" cy="3148381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53AE077E-1008-4E1B-A6C7-BA766153C4F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10"/>
                </a:ext>
              </a:extLst>
            </a:blip>
            <a:stretch>
              <a:fillRect/>
            </a:stretch>
          </p:blipFill>
          <p:spPr>
            <a:xfrm>
              <a:off x="6337828" y="3509668"/>
              <a:ext cx="1970295" cy="1130225"/>
            </a:xfrm>
            <a:prstGeom prst="rect">
              <a:avLst/>
            </a:prstGeom>
            <a:effectLst>
              <a:softEdge rad="127000"/>
            </a:effectLst>
          </p:spPr>
        </p:pic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0E7D53C5-4C25-4A91-BF48-DC1DD1D6D571}"/>
              </a:ext>
            </a:extLst>
          </p:cNvPr>
          <p:cNvSpPr/>
          <p:nvPr/>
        </p:nvSpPr>
        <p:spPr>
          <a:xfrm>
            <a:off x="11704480" y="7859266"/>
            <a:ext cx="353801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Cool the reaction mixture in ice–water bath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9E0071D-F98F-4E05-A604-8E83010957C9}"/>
              </a:ext>
            </a:extLst>
          </p:cNvPr>
          <p:cNvSpPr/>
          <p:nvPr/>
        </p:nvSpPr>
        <p:spPr>
          <a:xfrm>
            <a:off x="13972464" y="1395827"/>
            <a:ext cx="4477347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>
                <a:highlight>
                  <a:srgbClr val="00FF00"/>
                </a:highligh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X= I, Cl, Br </a:t>
            </a:r>
          </a:p>
          <a:p>
            <a:r>
              <a:rPr lang="en-IN" sz="2800" dirty="0" err="1">
                <a:highlight>
                  <a:srgbClr val="00FF00"/>
                </a:highligh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Oleylamine</a:t>
            </a:r>
            <a:r>
              <a:rPr lang="en-IN" sz="2800" dirty="0">
                <a:highlight>
                  <a:srgbClr val="00FF00"/>
                </a:highligh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</a:t>
            </a:r>
            <a:r>
              <a:rPr lang="en-IN" sz="2800" dirty="0" err="1">
                <a:highlight>
                  <a:srgbClr val="00FF00"/>
                </a:highligh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OAm</a:t>
            </a:r>
            <a:r>
              <a:rPr lang="en-IN" sz="2800" dirty="0">
                <a:highlight>
                  <a:srgbClr val="00FF00"/>
                </a:highligh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),</a:t>
            </a:r>
          </a:p>
          <a:p>
            <a:r>
              <a:rPr lang="en-IN" sz="2800" dirty="0">
                <a:highlight>
                  <a:srgbClr val="00FF00"/>
                </a:highligh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1-Octadecene (ODE),</a:t>
            </a:r>
          </a:p>
          <a:p>
            <a:r>
              <a:rPr lang="en-IN" sz="2800" dirty="0">
                <a:highlight>
                  <a:srgbClr val="00FF00"/>
                </a:highligh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Tri-n-</a:t>
            </a:r>
            <a:r>
              <a:rPr lang="en-IN" sz="2800" dirty="0" err="1">
                <a:highlight>
                  <a:srgbClr val="00FF00"/>
                </a:highligh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octylphosphine</a:t>
            </a:r>
            <a:r>
              <a:rPr lang="en-IN" sz="2800" dirty="0">
                <a:highlight>
                  <a:srgbClr val="00FF00"/>
                </a:highligh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(TOP)</a:t>
            </a:r>
            <a:r>
              <a:rPr lang="en-IN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en-IN" sz="2800" dirty="0"/>
          </a:p>
          <a:p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en-IN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2573BFE-4485-486F-B7D7-6B6384161A41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2232402" y="3684802"/>
            <a:ext cx="40389" cy="509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E66D22E1-4A15-420B-8F81-A54B488901A0}"/>
              </a:ext>
            </a:extLst>
          </p:cNvPr>
          <p:cNvGrpSpPr/>
          <p:nvPr/>
        </p:nvGrpSpPr>
        <p:grpSpPr>
          <a:xfrm>
            <a:off x="851777" y="1491486"/>
            <a:ext cx="2684029" cy="6409343"/>
            <a:chOff x="484275" y="314285"/>
            <a:chExt cx="1956066" cy="5021430"/>
          </a:xfrm>
        </p:grpSpPr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11" name="3D Model 10" descr="Magnetic Stirrer">
                  <a:extLst>
                    <a:ext uri="{FF2B5EF4-FFF2-40B4-BE49-F238E27FC236}">
                      <a16:creationId xmlns:a16="http://schemas.microsoft.com/office/drawing/2014/main" id="{701D6915-4E96-48D5-82D0-852B215EC6B5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94814270"/>
                    </p:ext>
                  </p:extLst>
                </p:nvPr>
              </p:nvGraphicFramePr>
              <p:xfrm>
                <a:off x="484275" y="3958610"/>
                <a:ext cx="1956066" cy="1377105"/>
              </p:xfrm>
              <a:graphic>
                <a:graphicData uri="http://schemas.microsoft.com/office/drawing/2017/model3d">
                  <am3d:model3d r:embed="rId11">
                    <am3d:spPr>
                      <a:xfrm>
                        <a:off x="0" y="0"/>
                        <a:ext cx="1956066" cy="1377105"/>
                      </a:xfrm>
                      <a:prstGeom prst="rect">
                        <a:avLst/>
                      </a:prstGeom>
                    </am3d:spPr>
                    <am3d:camera>
                      <am3d:pos x="0" y="0" z="67477980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3076923" d="1000000"/>
                      <am3d:preTrans dx="0" dy="-6576921" dz="0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1200000"/>
                      <am3d:postTrans dx="0" dy="0" dz="0"/>
                    </am3d:trans>
                    <am3d:attrSrcUrl r:id="rId12"/>
                    <am3d:raster rName="Office3DRenderer" rVer="16.0.8326">
                      <am3d:blip r:embed="rId13"/>
                    </am3d:raster>
                    <am3d:objViewport viewportSz="3184781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11" name="3D Model 10" descr="Magnetic Stirrer">
                  <a:extLst>
                    <a:ext uri="{FF2B5EF4-FFF2-40B4-BE49-F238E27FC236}">
                      <a16:creationId xmlns:a16="http://schemas.microsoft.com/office/drawing/2014/main" id="{701D6915-4E96-48D5-82D0-852B215EC6B5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51777" y="6143095"/>
                  <a:ext cx="2684029" cy="1757734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88776D0-456B-4256-B4D3-63DFCA9A47C8}"/>
                </a:ext>
              </a:extLst>
            </p:cNvPr>
            <p:cNvSpPr/>
            <p:nvPr/>
          </p:nvSpPr>
          <p:spPr>
            <a:xfrm>
              <a:off x="729895" y="314285"/>
              <a:ext cx="1532581" cy="17602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2800" dirty="0"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PbX</a:t>
              </a:r>
              <a:r>
                <a:rPr lang="en-IN" sz="2800" baseline="-25000" dirty="0"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2</a:t>
              </a:r>
              <a:r>
                <a:rPr lang="en-IN" sz="2800" dirty="0"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+dried MnX</a:t>
              </a:r>
              <a:r>
                <a:rPr lang="en-IN" sz="2800" baseline="-25000" dirty="0"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2</a:t>
              </a:r>
              <a:r>
                <a:rPr lang="en-IN" sz="2800" dirty="0"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+ODE+ </a:t>
              </a:r>
              <a:r>
                <a:rPr lang="en-IN" sz="2800" dirty="0" err="1"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OAm+OA</a:t>
              </a:r>
              <a:r>
                <a:rPr lang="en-IN" sz="2800" dirty="0"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+</a:t>
              </a:r>
            </a:p>
            <a:p>
              <a:pPr algn="ctr"/>
              <a:r>
                <a:rPr lang="en-IN" sz="2800" dirty="0">
                  <a:latin typeface="Times New Roman" panose="02020603050405020304" pitchFamily="18" charset="0"/>
                  <a:ea typeface="Calibri" panose="020F0502020204030204" pitchFamily="34" charset="0"/>
                </a:rPr>
                <a:t>TOP  </a:t>
              </a: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B77E0ADE-CC9D-419A-8DA3-49BA670BBC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6"/>
                </a:ext>
              </a:extLst>
            </a:blip>
            <a:stretch>
              <a:fillRect/>
            </a:stretch>
          </p:blipFill>
          <p:spPr>
            <a:xfrm>
              <a:off x="682045" y="2415283"/>
              <a:ext cx="1656683" cy="2045287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1F711AE-9A6B-4677-BB96-7A5986CA0BAD}"/>
              </a:ext>
            </a:extLst>
          </p:cNvPr>
          <p:cNvGrpSpPr/>
          <p:nvPr/>
        </p:nvGrpSpPr>
        <p:grpSpPr>
          <a:xfrm>
            <a:off x="5709089" y="2402733"/>
            <a:ext cx="2874125" cy="5452434"/>
            <a:chOff x="2992406" y="1053819"/>
            <a:chExt cx="2008210" cy="4018087"/>
          </a:xfrm>
        </p:grpSpPr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10" name="3D Model 9" descr="Magnetic Stirrer">
                  <a:extLst>
                    <a:ext uri="{FF2B5EF4-FFF2-40B4-BE49-F238E27FC236}">
                      <a16:creationId xmlns:a16="http://schemas.microsoft.com/office/drawing/2014/main" id="{5597E399-633E-4744-89CE-E936BBB5CEFC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701118772"/>
                    </p:ext>
                  </p:extLst>
                </p:nvPr>
              </p:nvGraphicFramePr>
              <p:xfrm>
                <a:off x="2992406" y="4080054"/>
                <a:ext cx="2008210" cy="991852"/>
              </p:xfrm>
              <a:graphic>
                <a:graphicData uri="http://schemas.microsoft.com/office/drawing/2017/model3d">
                  <am3d:model3d r:embed="rId11">
                    <am3d:spPr>
                      <a:xfrm>
                        <a:off x="0" y="0"/>
                        <a:ext cx="2008210" cy="991852"/>
                      </a:xfrm>
                      <a:prstGeom prst="rect">
                        <a:avLst/>
                      </a:prstGeom>
                    </am3d:spPr>
                    <am3d:camera>
                      <am3d:pos x="0" y="0" z="67477980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3076923" d="1000000"/>
                      <am3d:preTrans dx="0" dy="-6576921" dz="0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330169" ay="-65259" az="-6288"/>
                      <am3d:postTrans dx="0" dy="0" dz="0"/>
                    </am3d:trans>
                    <am3d:attrSrcUrl r:id="rId12"/>
                    <am3d:raster rName="Office3DRenderer" rVer="16.0.8326">
                      <am3d:blip r:embed="rId14"/>
                    </am3d:raster>
                    <am3d:objViewport viewportSz="3245662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10" name="3D Model 9" descr="Magnetic Stirrer">
                  <a:extLst>
                    <a:ext uri="{FF2B5EF4-FFF2-40B4-BE49-F238E27FC236}">
                      <a16:creationId xmlns:a16="http://schemas.microsoft.com/office/drawing/2014/main" id="{5597E399-633E-4744-89CE-E936BBB5CEFC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709089" y="6509251"/>
                  <a:ext cx="2874125" cy="1345916"/>
                </a:xfrm>
                <a:prstGeom prst="rect">
                  <a:avLst/>
                </a:prstGeom>
              </p:spPr>
            </p:pic>
          </mc:Fallback>
        </mc:AlternateContent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A6CBA62-514E-4F14-9DE1-183BC18F9D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6"/>
                </a:ext>
              </a:extLst>
            </a:blip>
            <a:stretch>
              <a:fillRect/>
            </a:stretch>
          </p:blipFill>
          <p:spPr>
            <a:xfrm>
              <a:off x="3138276" y="2208606"/>
              <a:ext cx="1701566" cy="2100698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A106EBC6-2485-4570-ABD4-9E9FF0603C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346575" y="1053819"/>
              <a:ext cx="310923" cy="1646063"/>
            </a:xfrm>
            <a:prstGeom prst="rect">
              <a:avLst/>
            </a:prstGeom>
          </p:spPr>
        </p:pic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B3231E8D-3E83-4E9F-9D30-15E21C9A6701}"/>
              </a:ext>
            </a:extLst>
          </p:cNvPr>
          <p:cNvSpPr/>
          <p:nvPr/>
        </p:nvSpPr>
        <p:spPr>
          <a:xfrm>
            <a:off x="720000" y="-180000"/>
            <a:ext cx="11967300" cy="1328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IN" sz="60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Synthesis of Mn-Doped CsPbX</a:t>
            </a:r>
            <a:r>
              <a:rPr lang="en-IN" sz="6000" b="1" baseline="-250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r>
              <a:rPr lang="en-IN" sz="60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60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41CA775-938F-444F-B69E-01167B45BBE8}"/>
              </a:ext>
            </a:extLst>
          </p:cNvPr>
          <p:cNvCxnSpPr>
            <a:cxnSpLocks/>
          </p:cNvCxnSpPr>
          <p:nvPr/>
        </p:nvCxnSpPr>
        <p:spPr>
          <a:xfrm>
            <a:off x="8793591" y="5759288"/>
            <a:ext cx="2811454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5EB79F2E-FDBF-4667-B410-C82E204E8B98}"/>
              </a:ext>
            </a:extLst>
          </p:cNvPr>
          <p:cNvSpPr/>
          <p:nvPr/>
        </p:nvSpPr>
        <p:spPr>
          <a:xfrm>
            <a:off x="727023" y="1365196"/>
            <a:ext cx="3010758" cy="2319606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34AC6C-DBDD-491F-85B0-3E63A0961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1619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3601700" cy="1271588"/>
          </a:xfrm>
          <a:prstGeom prst="rect">
            <a:avLst/>
          </a:prstGeom>
          <a:gradFill flip="none" rotWithShape="1">
            <a:gsLst>
              <a:gs pos="0">
                <a:srgbClr val="15A1A2">
                  <a:shade val="30000"/>
                  <a:satMod val="115000"/>
                </a:srgbClr>
              </a:gs>
              <a:gs pos="50000">
                <a:srgbClr val="15A1A2">
                  <a:shade val="67500"/>
                  <a:satMod val="115000"/>
                </a:srgbClr>
              </a:gs>
              <a:gs pos="100000">
                <a:srgbClr val="15A1A2">
                  <a:shade val="100000"/>
                  <a:satMod val="115000"/>
                </a:srgbClr>
              </a:gs>
            </a:gsLst>
            <a:lin ang="0" scaled="1"/>
            <a:tileRect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2887" y="284406"/>
            <a:ext cx="122015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adugi" panose="020B0502040204020203" pitchFamily="34" charset="0"/>
                <a:ea typeface="+mn-ea"/>
                <a:cs typeface="+mn-cs"/>
              </a:rPr>
              <a:t>Outline and Fields of Interest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5A448F4-E672-4D41-89E6-4898807E7AF6}"/>
              </a:ext>
            </a:extLst>
          </p:cNvPr>
          <p:cNvGrpSpPr/>
          <p:nvPr/>
        </p:nvGrpSpPr>
        <p:grpSpPr>
          <a:xfrm>
            <a:off x="0" y="-1824"/>
            <a:ext cx="18288001" cy="1333419"/>
            <a:chOff x="0" y="-1824"/>
            <a:chExt cx="18288001" cy="133341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DAE4089-DDE0-4027-BDA5-300BB2DC46ED}"/>
                </a:ext>
              </a:extLst>
            </p:cNvPr>
            <p:cNvSpPr/>
            <p:nvPr/>
          </p:nvSpPr>
          <p:spPr>
            <a:xfrm>
              <a:off x="0" y="3732"/>
              <a:ext cx="13601700" cy="1275320"/>
            </a:xfrm>
            <a:prstGeom prst="rect">
              <a:avLst/>
            </a:prstGeom>
            <a:gradFill flip="none" rotWithShape="1">
              <a:gsLst>
                <a:gs pos="0">
                  <a:srgbClr val="15A1A2">
                    <a:shade val="30000"/>
                    <a:satMod val="115000"/>
                  </a:srgbClr>
                </a:gs>
                <a:gs pos="50000">
                  <a:srgbClr val="15A1A2">
                    <a:shade val="67500"/>
                    <a:satMod val="115000"/>
                  </a:srgbClr>
                </a:gs>
                <a:gs pos="100000">
                  <a:srgbClr val="15A1A2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14EC8E2-8C94-4D4A-BD57-9455FD8D5285}"/>
                </a:ext>
              </a:extLst>
            </p:cNvPr>
            <p:cNvSpPr/>
            <p:nvPr/>
          </p:nvSpPr>
          <p:spPr>
            <a:xfrm>
              <a:off x="13071496" y="-1824"/>
              <a:ext cx="5216504" cy="45719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388B9DE-59D7-4D51-B958-8A925143B8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71495" y="49348"/>
              <a:ext cx="3752639" cy="1240260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1597E6A-2D10-4739-B875-7FF34BD442C9}"/>
                </a:ext>
              </a:extLst>
            </p:cNvPr>
            <p:cNvSpPr/>
            <p:nvPr/>
          </p:nvSpPr>
          <p:spPr>
            <a:xfrm flipV="1">
              <a:off x="0" y="1285876"/>
              <a:ext cx="18288000" cy="45719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25" name="Picture 24" descr="shutterstock_30373966 circle-01.png">
              <a:extLst>
                <a:ext uri="{FF2B5EF4-FFF2-40B4-BE49-F238E27FC236}">
                  <a16:creationId xmlns:a16="http://schemas.microsoft.com/office/drawing/2014/main" id="{F1EF3E62-1105-4FA4-8DE6-7D349B5B9B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060" b="17396"/>
            <a:stretch/>
          </p:blipFill>
          <p:spPr>
            <a:xfrm>
              <a:off x="16977205" y="19052"/>
              <a:ext cx="1310796" cy="1252536"/>
            </a:xfrm>
            <a:prstGeom prst="rect">
              <a:avLst/>
            </a:prstGeom>
          </p:spPr>
        </p:pic>
      </p:grpSp>
      <p:sp>
        <p:nvSpPr>
          <p:cNvPr id="26" name="Text Placeholder 1">
            <a:extLst>
              <a:ext uri="{FF2B5EF4-FFF2-40B4-BE49-F238E27FC236}">
                <a16:creationId xmlns:a16="http://schemas.microsoft.com/office/drawing/2014/main" id="{D41DB25E-5A24-4724-A213-A5E9FEDB9FF3}"/>
              </a:ext>
            </a:extLst>
          </p:cNvPr>
          <p:cNvSpPr txBox="1">
            <a:spLocks/>
          </p:cNvSpPr>
          <p:nvPr/>
        </p:nvSpPr>
        <p:spPr>
          <a:xfrm>
            <a:off x="719999" y="180000"/>
            <a:ext cx="11499709" cy="72424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2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18" indent="-228605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28" indent="-228605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40" indent="-228605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52" indent="-228605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63" indent="-228605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75" indent="-228605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85" indent="-228605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98" indent="-228605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2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6000" b="1" i="0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</a:rPr>
              <a:t>Extraction of emitted photons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33924B-914F-456A-BBA2-DD0E68034887}"/>
              </a:ext>
            </a:extLst>
          </p:cNvPr>
          <p:cNvSpPr/>
          <p:nvPr/>
        </p:nvSpPr>
        <p:spPr>
          <a:xfrm>
            <a:off x="561111" y="1357748"/>
            <a:ext cx="15129160" cy="95718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defTabSz="914286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EQE in conventional </a:t>
            </a:r>
            <a:r>
              <a:rPr lang="en-US" sz="2800" dirty="0" err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PeLEDs</a:t>
            </a: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have low light outcoupling efficiency.</a:t>
            </a:r>
          </a:p>
          <a:p>
            <a:pPr marL="457200" indent="-457200" defTabSz="914286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Caused by a large refractive index difference between the active layer and charge injection layers.</a:t>
            </a:r>
          </a:p>
          <a:p>
            <a:pPr defTabSz="914286">
              <a:lnSpc>
                <a:spcPct val="150000"/>
              </a:lnSpc>
            </a:pPr>
            <a:endParaRPr lang="en-US" sz="2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refractive indexes at 550 nm wavelength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Perovskite(</a:t>
            </a:r>
            <a:r>
              <a:rPr lang="en-IN" sz="2800" dirty="0">
                <a:solidFill>
                  <a:srgbClr val="00206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CsPbCl</a:t>
            </a:r>
            <a:r>
              <a:rPr lang="en-IN" sz="2800" baseline="-25000" dirty="0">
                <a:solidFill>
                  <a:srgbClr val="00206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  </a:t>
            </a:r>
            <a:r>
              <a:rPr lang="en-US" sz="2800" i="1" dirty="0" err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sz="2800" baseline="-25000" dirty="0" err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pero</a:t>
            </a: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≈ 2.25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(3,4-ethylenedioxythiophene) polystyrene sulfonate  </a:t>
            </a:r>
            <a:r>
              <a:rPr lang="en-US" sz="2800" i="1" dirty="0" err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sz="2800" baseline="-25000" dirty="0" err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PEDOT:PSS</a:t>
            </a: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≈ 1.5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(F8)</a:t>
            </a:r>
            <a:r>
              <a:rPr lang="en-US" sz="2800" i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Poly(9,9-di-n-octylfluorenyl-2,7-diyl)  </a:t>
            </a:r>
            <a:r>
              <a:rPr lang="en-US" sz="2800" i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sz="2800" baseline="-250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F8</a:t>
            </a: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≈ 1.7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n-IN" sz="28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286">
              <a:lnSpc>
                <a:spcPct val="150000"/>
              </a:lnSpc>
            </a:pPr>
            <a:endParaRPr lang="en-US" sz="2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286">
              <a:lnSpc>
                <a:spcPct val="150000"/>
              </a:lnSpc>
            </a:pPr>
            <a:endParaRPr lang="en-US" sz="2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286">
              <a:lnSpc>
                <a:spcPct val="150000"/>
              </a:lnSpc>
            </a:pPr>
            <a:endParaRPr lang="en-US" sz="2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286">
              <a:lnSpc>
                <a:spcPct val="150000"/>
              </a:lnSpc>
            </a:pPr>
            <a:endParaRPr lang="en-US" sz="2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defTabSz="914286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high EQE there is need of enhancing outcoupling  efficiency.</a:t>
            </a:r>
          </a:p>
          <a:p>
            <a:pPr marL="457200" indent="-457200" defTabSz="91428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286"/>
            <a:endParaRPr lang="en-IN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E722D3C-B587-47A3-A7FD-33D4A506DD1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5328" t="-1332" r="-32792" b="11471"/>
          <a:stretch/>
        </p:blipFill>
        <p:spPr>
          <a:xfrm>
            <a:off x="12682303" y="4341173"/>
            <a:ext cx="7149800" cy="2376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CEAC833-B0C1-4C95-9D0E-899A9D1FC013}"/>
              </a:ext>
            </a:extLst>
          </p:cNvPr>
          <p:cNvSpPr/>
          <p:nvPr/>
        </p:nvSpPr>
        <p:spPr>
          <a:xfrm>
            <a:off x="12219708" y="6568232"/>
            <a:ext cx="31806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 layer(perovskite)</a:t>
            </a:r>
            <a:endParaRPr lang="en-IN" sz="240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0E39B4D-328A-448D-9C15-048641AF9B07}"/>
              </a:ext>
            </a:extLst>
          </p:cNvPr>
          <p:cNvCxnSpPr>
            <a:cxnSpLocks/>
          </p:cNvCxnSpPr>
          <p:nvPr/>
        </p:nvCxnSpPr>
        <p:spPr>
          <a:xfrm>
            <a:off x="12960391" y="4035416"/>
            <a:ext cx="1" cy="10700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79E8ADA8-3B76-4100-A5E1-36487D918358}"/>
              </a:ext>
            </a:extLst>
          </p:cNvPr>
          <p:cNvSpPr/>
          <p:nvPr/>
        </p:nvSpPr>
        <p:spPr>
          <a:xfrm>
            <a:off x="11139812" y="3565457"/>
            <a:ext cx="28905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Injection layers(ETH)</a:t>
            </a:r>
            <a:endParaRPr lang="en-IN" sz="2400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5FDB31F-97E0-4F0A-B349-B593FD8AE3FF}"/>
              </a:ext>
            </a:extLst>
          </p:cNvPr>
          <p:cNvCxnSpPr/>
          <p:nvPr/>
        </p:nvCxnSpPr>
        <p:spPr>
          <a:xfrm flipV="1">
            <a:off x="16824134" y="6051763"/>
            <a:ext cx="0" cy="8897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BE29E73E-EE21-4639-9175-45ED06E730C6}"/>
              </a:ext>
            </a:extLst>
          </p:cNvPr>
          <p:cNvSpPr/>
          <p:nvPr/>
        </p:nvSpPr>
        <p:spPr>
          <a:xfrm>
            <a:off x="15386854" y="6941476"/>
            <a:ext cx="28729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injection layers(HTL)</a:t>
            </a:r>
            <a:endParaRPr lang="en-IN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C5C977-C29F-4A9A-AA17-A335A47D1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729387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3601700" cy="1271588"/>
          </a:xfrm>
          <a:prstGeom prst="rect">
            <a:avLst/>
          </a:prstGeom>
          <a:gradFill flip="none" rotWithShape="1">
            <a:gsLst>
              <a:gs pos="0">
                <a:srgbClr val="15A1A2">
                  <a:shade val="30000"/>
                  <a:satMod val="115000"/>
                </a:srgbClr>
              </a:gs>
              <a:gs pos="50000">
                <a:srgbClr val="15A1A2">
                  <a:shade val="67500"/>
                  <a:satMod val="115000"/>
                </a:srgbClr>
              </a:gs>
              <a:gs pos="100000">
                <a:srgbClr val="15A1A2">
                  <a:shade val="100000"/>
                  <a:satMod val="115000"/>
                </a:srgbClr>
              </a:gs>
            </a:gsLst>
            <a:lin ang="0" scaled="1"/>
            <a:tileRect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2887" y="284406"/>
            <a:ext cx="122015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adugi" panose="020B0502040204020203" pitchFamily="34" charset="0"/>
                <a:ea typeface="+mn-ea"/>
                <a:cs typeface="+mn-cs"/>
              </a:rPr>
              <a:t>Outline and Fields of Interest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5A448F4-E672-4D41-89E6-4898807E7AF6}"/>
              </a:ext>
            </a:extLst>
          </p:cNvPr>
          <p:cNvGrpSpPr/>
          <p:nvPr/>
        </p:nvGrpSpPr>
        <p:grpSpPr>
          <a:xfrm>
            <a:off x="0" y="-1824"/>
            <a:ext cx="18288001" cy="1333419"/>
            <a:chOff x="0" y="-1824"/>
            <a:chExt cx="18288001" cy="133341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DAE4089-DDE0-4027-BDA5-300BB2DC46ED}"/>
                </a:ext>
              </a:extLst>
            </p:cNvPr>
            <p:cNvSpPr/>
            <p:nvPr/>
          </p:nvSpPr>
          <p:spPr>
            <a:xfrm>
              <a:off x="0" y="3732"/>
              <a:ext cx="13601700" cy="1275320"/>
            </a:xfrm>
            <a:prstGeom prst="rect">
              <a:avLst/>
            </a:prstGeom>
            <a:gradFill flip="none" rotWithShape="1">
              <a:gsLst>
                <a:gs pos="0">
                  <a:srgbClr val="15A1A2">
                    <a:shade val="30000"/>
                    <a:satMod val="115000"/>
                  </a:srgbClr>
                </a:gs>
                <a:gs pos="50000">
                  <a:srgbClr val="15A1A2">
                    <a:shade val="67500"/>
                    <a:satMod val="115000"/>
                  </a:srgbClr>
                </a:gs>
                <a:gs pos="100000">
                  <a:srgbClr val="15A1A2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14EC8E2-8C94-4D4A-BD57-9455FD8D5285}"/>
                </a:ext>
              </a:extLst>
            </p:cNvPr>
            <p:cNvSpPr/>
            <p:nvPr/>
          </p:nvSpPr>
          <p:spPr>
            <a:xfrm>
              <a:off x="13071496" y="-1824"/>
              <a:ext cx="5216504" cy="45719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388B9DE-59D7-4D51-B958-8A925143B8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71495" y="49348"/>
              <a:ext cx="3752639" cy="1240260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1597E6A-2D10-4739-B875-7FF34BD442C9}"/>
                </a:ext>
              </a:extLst>
            </p:cNvPr>
            <p:cNvSpPr/>
            <p:nvPr/>
          </p:nvSpPr>
          <p:spPr>
            <a:xfrm flipV="1">
              <a:off x="0" y="1285876"/>
              <a:ext cx="18288000" cy="45719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25" name="Picture 24" descr="shutterstock_30373966 circle-01.png">
              <a:extLst>
                <a:ext uri="{FF2B5EF4-FFF2-40B4-BE49-F238E27FC236}">
                  <a16:creationId xmlns:a16="http://schemas.microsoft.com/office/drawing/2014/main" id="{F1EF3E62-1105-4FA4-8DE6-7D349B5B9B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060" b="17396"/>
            <a:stretch/>
          </p:blipFill>
          <p:spPr>
            <a:xfrm>
              <a:off x="16977205" y="19052"/>
              <a:ext cx="1310796" cy="1252536"/>
            </a:xfrm>
            <a:prstGeom prst="rect">
              <a:avLst/>
            </a:prstGeom>
          </p:spPr>
        </p:pic>
      </p:grp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10CCD2C-D6B5-41E1-94CA-BD3ABF1A694B}"/>
              </a:ext>
            </a:extLst>
          </p:cNvPr>
          <p:cNvSpPr txBox="1">
            <a:spLocks/>
          </p:cNvSpPr>
          <p:nvPr/>
        </p:nvSpPr>
        <p:spPr>
          <a:xfrm>
            <a:off x="-16327" y="284406"/>
            <a:ext cx="13601699" cy="72424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2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18" indent="-228605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28" indent="-228605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40" indent="-228605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52" indent="-228605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63" indent="-228605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75" indent="-228605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85" indent="-228605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98" indent="-228605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2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6000" b="1" i="0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</a:rPr>
              <a:t>Enhancing outcoupling  efficiency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E90EA0-55CA-4F93-A415-28AADDCD09A0}"/>
              </a:ext>
            </a:extLst>
          </p:cNvPr>
          <p:cNvSpPr/>
          <p:nvPr/>
        </p:nvSpPr>
        <p:spPr>
          <a:xfrm>
            <a:off x="757866" y="1345883"/>
            <a:ext cx="13955661" cy="8576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Widely adopted material system  is</a:t>
            </a:r>
          </a:p>
          <a:p>
            <a:pPr>
              <a:lnSpc>
                <a:spcPct val="200000"/>
              </a:lnSpc>
            </a:pP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ITO/PEDOT: PSS /Perovskite /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Poly(9,9-di-n-octylfluorenyl-2,7-diyl) (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F8)/Ag</a:t>
            </a:r>
          </a:p>
          <a:p>
            <a:pPr>
              <a:lnSpc>
                <a:spcPct val="200000"/>
              </a:lnSpc>
            </a:pPr>
            <a:endParaRPr lang="en-US" sz="2800" b="1" dirty="0">
              <a:solidFill>
                <a:srgbClr val="00206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endParaRPr lang="en-US" sz="2800" dirty="0">
              <a:solidFill>
                <a:srgbClr val="00206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Reduce surface reﬂection and improve device power conversion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efﬁciency.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nanostructures can improve refractive index matching  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Anodic alumina membranes (AAMs) Nanophotonic substrate</a:t>
            </a:r>
          </a:p>
          <a:p>
            <a:pPr>
              <a:lnSpc>
                <a:spcPct val="200000"/>
              </a:lnSpc>
            </a:pP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ITO/AAMs/PEDOT: PSS /Perovskite / Poly(9,9-di-n-octylfluorenyl-2,7-diyl) (F8)/Ag</a:t>
            </a:r>
          </a:p>
          <a:p>
            <a:pPr>
              <a:lnSpc>
                <a:spcPct val="200000"/>
              </a:lnSpc>
            </a:pPr>
            <a:endParaRPr lang="en-US" sz="2800" b="1" dirty="0">
              <a:solidFill>
                <a:srgbClr val="00206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4B80759-229B-4856-BF45-B283C0498173}"/>
              </a:ext>
            </a:extLst>
          </p:cNvPr>
          <p:cNvGrpSpPr/>
          <p:nvPr/>
        </p:nvGrpSpPr>
        <p:grpSpPr>
          <a:xfrm>
            <a:off x="825843" y="3443740"/>
            <a:ext cx="6824034" cy="898861"/>
            <a:chOff x="479685" y="1585740"/>
            <a:chExt cx="8080352" cy="118312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31CFF85-FEFD-4B41-BC7B-3836DBC7BA2D}"/>
                </a:ext>
              </a:extLst>
            </p:cNvPr>
            <p:cNvSpPr/>
            <p:nvPr/>
          </p:nvSpPr>
          <p:spPr>
            <a:xfrm>
              <a:off x="1927425" y="1653604"/>
              <a:ext cx="5607945" cy="9317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286"/>
              <a:r>
                <a:rPr lang="en-US" sz="4000" b="1" dirty="0">
                  <a:solidFill>
                    <a:srgbClr val="00206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Nanophotonic structures</a:t>
              </a:r>
              <a:endParaRPr lang="en-IN" sz="4000" b="1" dirty="0">
                <a:solidFill>
                  <a:srgbClr val="002060"/>
                </a:solidFill>
                <a:latin typeface="Arial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3075EBA-31F8-4141-9EA6-3F7E3F70A232}"/>
                </a:ext>
              </a:extLst>
            </p:cNvPr>
            <p:cNvSpPr/>
            <p:nvPr/>
          </p:nvSpPr>
          <p:spPr>
            <a:xfrm>
              <a:off x="1725596" y="1585740"/>
              <a:ext cx="6834441" cy="1183125"/>
            </a:xfrm>
            <a:prstGeom prst="rect">
              <a:avLst/>
            </a:prstGeom>
            <a:noFill/>
            <a:ln w="38100" cap="flat" cmpd="sng" algn="ctr">
              <a:solidFill>
                <a:srgbClr val="1ED0A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28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B2EEC41-76CF-4CDF-BF36-A66DA4B24C4D}"/>
                </a:ext>
              </a:extLst>
            </p:cNvPr>
            <p:cNvSpPr/>
            <p:nvPr/>
          </p:nvSpPr>
          <p:spPr>
            <a:xfrm>
              <a:off x="479685" y="1740201"/>
              <a:ext cx="1492269" cy="883445"/>
            </a:xfrm>
            <a:prstGeom prst="rect">
              <a:avLst/>
            </a:prstGeom>
            <a:solidFill>
              <a:srgbClr val="1ED0A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28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altLang="ko-KR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+mn-cs"/>
                </a:rPr>
                <a:t>AAM</a:t>
              </a:r>
              <a:endParaRPr kumimoji="0" lang="ko-KR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22425-6A38-4742-AD58-1EA750E0D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11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8D4C10-7B79-4EA6-9FED-D819B1F23926}"/>
              </a:ext>
            </a:extLst>
          </p:cNvPr>
          <p:cNvSpPr/>
          <p:nvPr/>
        </p:nvSpPr>
        <p:spPr>
          <a:xfrm>
            <a:off x="7219950" y="9829236"/>
            <a:ext cx="9144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dirty="0"/>
              <a:t>Schematic-illustration-of-nanophotonic-structures-used-for-light-trapping-a-1D-Bragg_fig2_231899465</a:t>
            </a:r>
          </a:p>
        </p:txBody>
      </p:sp>
      <p:pic>
        <p:nvPicPr>
          <p:cNvPr id="1026" name="Picture 2" descr="Schematic illustration of nanophotonic structures used for light trapping: (a) 1D (Bragg) stacks used as back refl ectors; (b) 2D gratings used for light trapping; (c) 3D photonic crystals, which are highly effective as omnidirectional refl ectors; and (d) nanowires, which trap light by a waveguiding effect. Â ">
            <a:extLst>
              <a:ext uri="{FF2B5EF4-FFF2-40B4-BE49-F238E27FC236}">
                <a16:creationId xmlns:a16="http://schemas.microsoft.com/office/drawing/2014/main" id="{BFC8142D-EEFA-4E27-AC48-D06B047AD4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68" t="62527" r="2369"/>
          <a:stretch/>
        </p:blipFill>
        <p:spPr bwMode="auto">
          <a:xfrm>
            <a:off x="11940216" y="4558924"/>
            <a:ext cx="4423734" cy="3228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419656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3601700" cy="1271588"/>
          </a:xfrm>
          <a:prstGeom prst="rect">
            <a:avLst/>
          </a:prstGeom>
          <a:gradFill flip="none" rotWithShape="1">
            <a:gsLst>
              <a:gs pos="0">
                <a:srgbClr val="15A1A2">
                  <a:shade val="30000"/>
                  <a:satMod val="115000"/>
                </a:srgbClr>
              </a:gs>
              <a:gs pos="50000">
                <a:srgbClr val="15A1A2">
                  <a:shade val="67500"/>
                  <a:satMod val="115000"/>
                </a:srgbClr>
              </a:gs>
              <a:gs pos="100000">
                <a:srgbClr val="15A1A2">
                  <a:shade val="100000"/>
                  <a:satMod val="115000"/>
                </a:srgbClr>
              </a:gs>
            </a:gsLst>
            <a:lin ang="0" scaled="1"/>
            <a:tileRect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2887" y="284406"/>
            <a:ext cx="122015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adugi" panose="020B0502040204020203" pitchFamily="34" charset="0"/>
                <a:ea typeface="+mn-ea"/>
                <a:cs typeface="+mn-cs"/>
              </a:rPr>
              <a:t>Outline and Fields of Interest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5A448F4-E672-4D41-89E6-4898807E7AF6}"/>
              </a:ext>
            </a:extLst>
          </p:cNvPr>
          <p:cNvGrpSpPr/>
          <p:nvPr/>
        </p:nvGrpSpPr>
        <p:grpSpPr>
          <a:xfrm>
            <a:off x="0" y="-1824"/>
            <a:ext cx="18288001" cy="1333419"/>
            <a:chOff x="0" y="-1824"/>
            <a:chExt cx="18288001" cy="133341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DAE4089-DDE0-4027-BDA5-300BB2DC46ED}"/>
                </a:ext>
              </a:extLst>
            </p:cNvPr>
            <p:cNvSpPr/>
            <p:nvPr/>
          </p:nvSpPr>
          <p:spPr>
            <a:xfrm>
              <a:off x="0" y="3732"/>
              <a:ext cx="13601700" cy="1275320"/>
            </a:xfrm>
            <a:prstGeom prst="rect">
              <a:avLst/>
            </a:prstGeom>
            <a:gradFill flip="none" rotWithShape="1">
              <a:gsLst>
                <a:gs pos="0">
                  <a:srgbClr val="15A1A2">
                    <a:shade val="30000"/>
                    <a:satMod val="115000"/>
                  </a:srgbClr>
                </a:gs>
                <a:gs pos="50000">
                  <a:srgbClr val="15A1A2">
                    <a:shade val="67500"/>
                    <a:satMod val="115000"/>
                  </a:srgbClr>
                </a:gs>
                <a:gs pos="100000">
                  <a:srgbClr val="15A1A2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14EC8E2-8C94-4D4A-BD57-9455FD8D5285}"/>
                </a:ext>
              </a:extLst>
            </p:cNvPr>
            <p:cNvSpPr/>
            <p:nvPr/>
          </p:nvSpPr>
          <p:spPr>
            <a:xfrm>
              <a:off x="13071496" y="-1824"/>
              <a:ext cx="5216504" cy="45719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388B9DE-59D7-4D51-B958-8A925143B8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71495" y="49348"/>
              <a:ext cx="3752639" cy="1240260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1597E6A-2D10-4739-B875-7FF34BD442C9}"/>
                </a:ext>
              </a:extLst>
            </p:cNvPr>
            <p:cNvSpPr/>
            <p:nvPr/>
          </p:nvSpPr>
          <p:spPr>
            <a:xfrm flipV="1">
              <a:off x="0" y="1285876"/>
              <a:ext cx="18288000" cy="45719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25" name="Picture 24" descr="shutterstock_30373966 circle-01.png">
              <a:extLst>
                <a:ext uri="{FF2B5EF4-FFF2-40B4-BE49-F238E27FC236}">
                  <a16:creationId xmlns:a16="http://schemas.microsoft.com/office/drawing/2014/main" id="{F1EF3E62-1105-4FA4-8DE6-7D349B5B9B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060" b="17396"/>
            <a:stretch/>
          </p:blipFill>
          <p:spPr>
            <a:xfrm>
              <a:off x="16977205" y="19052"/>
              <a:ext cx="1310796" cy="1252536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5AF9CD05-0BC9-437C-A924-0136F2E439E5}"/>
              </a:ext>
            </a:extLst>
          </p:cNvPr>
          <p:cNvSpPr/>
          <p:nvPr/>
        </p:nvSpPr>
        <p:spPr>
          <a:xfrm>
            <a:off x="2477138" y="2019719"/>
            <a:ext cx="6404526" cy="1183125"/>
          </a:xfrm>
          <a:prstGeom prst="rect">
            <a:avLst/>
          </a:prstGeom>
          <a:noFill/>
          <a:ln w="38100" cap="flat" cmpd="sng" algn="ctr">
            <a:solidFill>
              <a:srgbClr val="FFC000">
                <a:alpha val="7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8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E262C3-8035-4488-83CD-830C6D4E39AC}"/>
              </a:ext>
            </a:extLst>
          </p:cNvPr>
          <p:cNvSpPr/>
          <p:nvPr/>
        </p:nvSpPr>
        <p:spPr>
          <a:xfrm>
            <a:off x="1792783" y="2161980"/>
            <a:ext cx="1303663" cy="883445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8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altLang="ko-KR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MEN</a:t>
            </a:r>
            <a:endParaRPr kumimoji="0" lang="ko-KR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98B5CF-5862-41CB-AEDE-5A124759801F}"/>
              </a:ext>
            </a:extLst>
          </p:cNvPr>
          <p:cNvSpPr/>
          <p:nvPr/>
        </p:nvSpPr>
        <p:spPr>
          <a:xfrm>
            <a:off x="3083117" y="2214180"/>
            <a:ext cx="579854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86"/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Moth‐eye nanostructures </a:t>
            </a:r>
            <a:endParaRPr lang="en-IN" sz="4000" b="1" dirty="0">
              <a:solidFill>
                <a:srgbClr val="002060"/>
              </a:solidFill>
              <a:latin typeface="Arial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C874AC5-2B42-495A-9DCF-477D9B75A214}"/>
              </a:ext>
            </a:extLst>
          </p:cNvPr>
          <p:cNvPicPr/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t="3692" r="58620"/>
          <a:stretch/>
        </p:blipFill>
        <p:spPr bwMode="auto">
          <a:xfrm>
            <a:off x="12427295" y="1527037"/>
            <a:ext cx="4267199" cy="728445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2DDF046-54A1-401B-B66D-AC7DF3956BE3}"/>
              </a:ext>
            </a:extLst>
          </p:cNvPr>
          <p:cNvSpPr/>
          <p:nvPr/>
        </p:nvSpPr>
        <p:spPr>
          <a:xfrm>
            <a:off x="1720461" y="3770010"/>
            <a:ext cx="9977347" cy="25439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indent="-5715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Bioinspired moth‐eye nanostructures (MEN)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Suppress reflections at interfaces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Cost‐effective method for outcoupling the waveguided light</a:t>
            </a:r>
            <a:endParaRPr lang="en-IN" sz="2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8B244E-BC8D-4AE1-ACDC-BE91001421AB}"/>
              </a:ext>
            </a:extLst>
          </p:cNvPr>
          <p:cNvSpPr/>
          <p:nvPr/>
        </p:nvSpPr>
        <p:spPr>
          <a:xfrm>
            <a:off x="12444413" y="9783054"/>
            <a:ext cx="3630854" cy="489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 </a:t>
            </a:r>
            <a:r>
              <a:rPr lang="en-US" sz="1600" i="1" dirty="0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Advanced Materials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1901517,(2019)</a:t>
            </a:r>
            <a:r>
              <a:rPr lang="en-US" sz="24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EC209-7C15-469D-9C9C-C596DEFDB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106400" y="9534526"/>
            <a:ext cx="4267200" cy="547688"/>
          </a:xfrm>
        </p:spPr>
        <p:txBody>
          <a:bodyPr/>
          <a:lstStyle/>
          <a:p>
            <a:fld id="{2066355A-084C-D24E-9AD2-7E4FC41EA62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705026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3601700" cy="1271588"/>
          </a:xfrm>
          <a:prstGeom prst="rect">
            <a:avLst/>
          </a:prstGeom>
          <a:gradFill flip="none" rotWithShape="1">
            <a:gsLst>
              <a:gs pos="0">
                <a:srgbClr val="15A1A2">
                  <a:shade val="30000"/>
                  <a:satMod val="115000"/>
                </a:srgbClr>
              </a:gs>
              <a:gs pos="50000">
                <a:srgbClr val="15A1A2">
                  <a:shade val="67500"/>
                  <a:satMod val="115000"/>
                </a:srgbClr>
              </a:gs>
              <a:gs pos="100000">
                <a:srgbClr val="15A1A2">
                  <a:shade val="100000"/>
                  <a:satMod val="115000"/>
                </a:srgbClr>
              </a:gs>
            </a:gsLst>
            <a:lin ang="0" scaled="1"/>
            <a:tileRect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2887" y="284406"/>
            <a:ext cx="122015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adugi" panose="020B0502040204020203" pitchFamily="34" charset="0"/>
                <a:ea typeface="+mn-ea"/>
                <a:cs typeface="+mn-cs"/>
              </a:rPr>
              <a:t>Outline and Fields of Interest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5A448F4-E672-4D41-89E6-4898807E7AF6}"/>
              </a:ext>
            </a:extLst>
          </p:cNvPr>
          <p:cNvGrpSpPr/>
          <p:nvPr/>
        </p:nvGrpSpPr>
        <p:grpSpPr>
          <a:xfrm>
            <a:off x="0" y="-1824"/>
            <a:ext cx="18288001" cy="1333419"/>
            <a:chOff x="0" y="-1824"/>
            <a:chExt cx="18288001" cy="133341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DAE4089-DDE0-4027-BDA5-300BB2DC46ED}"/>
                </a:ext>
              </a:extLst>
            </p:cNvPr>
            <p:cNvSpPr/>
            <p:nvPr/>
          </p:nvSpPr>
          <p:spPr>
            <a:xfrm>
              <a:off x="0" y="3732"/>
              <a:ext cx="13601700" cy="1275320"/>
            </a:xfrm>
            <a:prstGeom prst="rect">
              <a:avLst/>
            </a:prstGeom>
            <a:gradFill flip="none" rotWithShape="1">
              <a:gsLst>
                <a:gs pos="0">
                  <a:srgbClr val="15A1A2">
                    <a:shade val="30000"/>
                    <a:satMod val="115000"/>
                  </a:srgbClr>
                </a:gs>
                <a:gs pos="50000">
                  <a:srgbClr val="15A1A2">
                    <a:shade val="67500"/>
                    <a:satMod val="115000"/>
                  </a:srgbClr>
                </a:gs>
                <a:gs pos="100000">
                  <a:srgbClr val="15A1A2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14EC8E2-8C94-4D4A-BD57-9455FD8D5285}"/>
                </a:ext>
              </a:extLst>
            </p:cNvPr>
            <p:cNvSpPr/>
            <p:nvPr/>
          </p:nvSpPr>
          <p:spPr>
            <a:xfrm>
              <a:off x="13071496" y="-1824"/>
              <a:ext cx="5216504" cy="45719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388B9DE-59D7-4D51-B958-8A925143B8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71495" y="49348"/>
              <a:ext cx="3752639" cy="1240260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1597E6A-2D10-4739-B875-7FF34BD442C9}"/>
                </a:ext>
              </a:extLst>
            </p:cNvPr>
            <p:cNvSpPr/>
            <p:nvPr/>
          </p:nvSpPr>
          <p:spPr>
            <a:xfrm flipV="1">
              <a:off x="0" y="1285876"/>
              <a:ext cx="18288000" cy="45719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25" name="Picture 24" descr="shutterstock_30373966 circle-01.png">
              <a:extLst>
                <a:ext uri="{FF2B5EF4-FFF2-40B4-BE49-F238E27FC236}">
                  <a16:creationId xmlns:a16="http://schemas.microsoft.com/office/drawing/2014/main" id="{F1EF3E62-1105-4FA4-8DE6-7D349B5B9B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060" b="17396"/>
            <a:stretch/>
          </p:blipFill>
          <p:spPr>
            <a:xfrm>
              <a:off x="16977205" y="19052"/>
              <a:ext cx="1310796" cy="1252536"/>
            </a:xfrm>
            <a:prstGeom prst="rect">
              <a:avLst/>
            </a:prstGeom>
          </p:spPr>
        </p:pic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88C3BAB-3EED-448D-9314-5871326DD3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584958"/>
              </p:ext>
            </p:extLst>
          </p:nvPr>
        </p:nvGraphicFramePr>
        <p:xfrm>
          <a:off x="1298384" y="2167265"/>
          <a:ext cx="15525750" cy="6824414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027663">
                  <a:extLst>
                    <a:ext uri="{9D8B030D-6E8A-4147-A177-3AD203B41FA5}">
                      <a16:colId xmlns:a16="http://schemas.microsoft.com/office/drawing/2014/main" val="3906618184"/>
                    </a:ext>
                  </a:extLst>
                </a:gridCol>
                <a:gridCol w="6511499">
                  <a:extLst>
                    <a:ext uri="{9D8B030D-6E8A-4147-A177-3AD203B41FA5}">
                      <a16:colId xmlns:a16="http://schemas.microsoft.com/office/drawing/2014/main" val="2080976759"/>
                    </a:ext>
                  </a:extLst>
                </a:gridCol>
                <a:gridCol w="4393787">
                  <a:extLst>
                    <a:ext uri="{9D8B030D-6E8A-4147-A177-3AD203B41FA5}">
                      <a16:colId xmlns:a16="http://schemas.microsoft.com/office/drawing/2014/main" val="1051245514"/>
                    </a:ext>
                  </a:extLst>
                </a:gridCol>
                <a:gridCol w="2592801">
                  <a:extLst>
                    <a:ext uri="{9D8B030D-6E8A-4147-A177-3AD203B41FA5}">
                      <a16:colId xmlns:a16="http://schemas.microsoft.com/office/drawing/2014/main" val="3543061615"/>
                    </a:ext>
                  </a:extLst>
                </a:gridCol>
              </a:tblGrid>
              <a:tr h="6697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200" dirty="0" err="1">
                          <a:effectLst/>
                        </a:rPr>
                        <a:t>S.No</a:t>
                      </a:r>
                      <a:endParaRPr lang="en-IN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200" dirty="0">
                          <a:effectLst/>
                        </a:rPr>
                        <a:t>Title</a:t>
                      </a:r>
                      <a:endParaRPr lang="en-IN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200">
                          <a:effectLst/>
                        </a:rPr>
                        <a:t>Cost in Lakh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200">
                          <a:effectLst/>
                        </a:rPr>
                        <a:t>Required time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87434805"/>
                  </a:ext>
                </a:extLst>
              </a:tr>
              <a:tr h="168755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200">
                          <a:effectLst/>
                        </a:rPr>
                        <a:t>1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3200" dirty="0">
                          <a:effectLst/>
                        </a:rPr>
                        <a:t>Synergic effect of Doping and outcoupling enhancement for high-efficiency perovskite light emitting diodes</a:t>
                      </a:r>
                      <a:r>
                        <a:rPr lang="en-US" sz="2800" dirty="0">
                          <a:effectLst/>
                        </a:rPr>
                        <a:t>.</a:t>
                      </a:r>
                      <a:endParaRPr lang="en-IN" sz="2800" dirty="0">
                        <a:effectLst/>
                      </a:endParaRPr>
                    </a:p>
                    <a:p>
                      <a:pPr marL="9144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800" dirty="0">
                          <a:effectLst/>
                        </a:rPr>
                        <a:t> </a:t>
                      </a:r>
                      <a:endParaRPr lang="en-IN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195" marR="3619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200" dirty="0">
                          <a:effectLst/>
                        </a:rPr>
                        <a:t>The total cost of the project is 25,00,000 INR</a:t>
                      </a:r>
                      <a:endParaRPr lang="en-IN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200">
                          <a:effectLst/>
                        </a:rPr>
                        <a:t> </a:t>
                      </a:r>
                      <a:endParaRPr lang="en-IN" sz="28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200">
                          <a:effectLst/>
                        </a:rPr>
                        <a:t>2 Years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62220291"/>
                  </a:ext>
                </a:extLst>
              </a:tr>
              <a:tr h="37423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200">
                          <a:effectLst/>
                        </a:rPr>
                        <a:t>2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200">
                          <a:effectLst/>
                        </a:rPr>
                        <a:t>Thermal Evaporator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200" dirty="0">
                          <a:effectLst/>
                        </a:rPr>
                        <a:t>5,00,000</a:t>
                      </a:r>
                      <a:endParaRPr lang="en-IN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rowSpan="5"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200">
                          <a:effectLst/>
                        </a:rPr>
                        <a:t> 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140582149"/>
                  </a:ext>
                </a:extLst>
              </a:tr>
              <a:tr h="37423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200">
                          <a:effectLst/>
                        </a:rPr>
                        <a:t>3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200">
                          <a:effectLst/>
                        </a:rPr>
                        <a:t>Glove  box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200" dirty="0">
                          <a:effectLst/>
                        </a:rPr>
                        <a:t>15,00,000</a:t>
                      </a:r>
                      <a:endParaRPr lang="en-IN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8951908"/>
                  </a:ext>
                </a:extLst>
              </a:tr>
              <a:tr h="37423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200">
                          <a:effectLst/>
                        </a:rPr>
                        <a:t>4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200">
                          <a:effectLst/>
                        </a:rPr>
                        <a:t>Spin Coater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200" dirty="0">
                          <a:effectLst/>
                        </a:rPr>
                        <a:t>1,00,000</a:t>
                      </a:r>
                      <a:endParaRPr lang="en-IN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414774"/>
                  </a:ext>
                </a:extLst>
              </a:tr>
              <a:tr h="37423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200">
                          <a:effectLst/>
                        </a:rPr>
                        <a:t>5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200">
                          <a:effectLst/>
                        </a:rPr>
                        <a:t>Chemicals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200" dirty="0">
                          <a:effectLst/>
                        </a:rPr>
                        <a:t>3,00,000</a:t>
                      </a:r>
                      <a:endParaRPr lang="en-IN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3747916"/>
                  </a:ext>
                </a:extLst>
              </a:tr>
              <a:tr h="37423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200">
                          <a:effectLst/>
                        </a:rPr>
                        <a:t>6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200">
                          <a:effectLst/>
                        </a:rPr>
                        <a:t>Other required instruments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200" dirty="0">
                          <a:effectLst/>
                        </a:rPr>
                        <a:t>1,00,000</a:t>
                      </a:r>
                      <a:endParaRPr lang="en-IN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654685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94A0EF3F-DBCD-4C80-94A3-012363BFD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87" y="177119"/>
            <a:ext cx="13848055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60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</a:t>
            </a:r>
            <a:r>
              <a:rPr kumimoji="0" lang="en-US" altLang="en-US" sz="60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ost of the project </a:t>
            </a:r>
            <a:endParaRPr kumimoji="0" lang="en-US" altLang="en-US" sz="6000" b="0" i="0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1AEE8-5E49-474B-A83E-78460B63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364650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3601700" cy="1271588"/>
          </a:xfrm>
          <a:prstGeom prst="rect">
            <a:avLst/>
          </a:prstGeom>
          <a:gradFill flip="none" rotWithShape="1">
            <a:gsLst>
              <a:gs pos="0">
                <a:srgbClr val="15A1A2">
                  <a:shade val="30000"/>
                  <a:satMod val="115000"/>
                </a:srgbClr>
              </a:gs>
              <a:gs pos="50000">
                <a:srgbClr val="15A1A2">
                  <a:shade val="67500"/>
                  <a:satMod val="115000"/>
                </a:srgbClr>
              </a:gs>
              <a:gs pos="100000">
                <a:srgbClr val="15A1A2">
                  <a:shade val="100000"/>
                  <a:satMod val="115000"/>
                </a:srgbClr>
              </a:gs>
            </a:gsLst>
            <a:lin ang="0" scaled="1"/>
            <a:tileRect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2887" y="284406"/>
            <a:ext cx="122015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adugi" panose="020B0502040204020203" pitchFamily="34" charset="0"/>
                <a:ea typeface="+mn-ea"/>
                <a:cs typeface="+mn-cs"/>
              </a:rPr>
              <a:t>Outline and Fields of Interest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5A448F4-E672-4D41-89E6-4898807E7AF6}"/>
              </a:ext>
            </a:extLst>
          </p:cNvPr>
          <p:cNvGrpSpPr/>
          <p:nvPr/>
        </p:nvGrpSpPr>
        <p:grpSpPr>
          <a:xfrm>
            <a:off x="0" y="-1824"/>
            <a:ext cx="18288001" cy="1333419"/>
            <a:chOff x="0" y="-1824"/>
            <a:chExt cx="18288001" cy="133341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DAE4089-DDE0-4027-BDA5-300BB2DC46ED}"/>
                </a:ext>
              </a:extLst>
            </p:cNvPr>
            <p:cNvSpPr/>
            <p:nvPr/>
          </p:nvSpPr>
          <p:spPr>
            <a:xfrm>
              <a:off x="0" y="3732"/>
              <a:ext cx="13601700" cy="1275320"/>
            </a:xfrm>
            <a:prstGeom prst="rect">
              <a:avLst/>
            </a:prstGeom>
            <a:gradFill flip="none" rotWithShape="1">
              <a:gsLst>
                <a:gs pos="0">
                  <a:srgbClr val="15A1A2">
                    <a:shade val="30000"/>
                    <a:satMod val="115000"/>
                  </a:srgbClr>
                </a:gs>
                <a:gs pos="50000">
                  <a:srgbClr val="15A1A2">
                    <a:shade val="67500"/>
                    <a:satMod val="115000"/>
                  </a:srgbClr>
                </a:gs>
                <a:gs pos="100000">
                  <a:srgbClr val="15A1A2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14EC8E2-8C94-4D4A-BD57-9455FD8D5285}"/>
                </a:ext>
              </a:extLst>
            </p:cNvPr>
            <p:cNvSpPr/>
            <p:nvPr/>
          </p:nvSpPr>
          <p:spPr>
            <a:xfrm>
              <a:off x="13071496" y="-1824"/>
              <a:ext cx="5216504" cy="45719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388B9DE-59D7-4D51-B958-8A925143B8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71495" y="49348"/>
              <a:ext cx="3752639" cy="1240260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1597E6A-2D10-4739-B875-7FF34BD442C9}"/>
                </a:ext>
              </a:extLst>
            </p:cNvPr>
            <p:cNvSpPr/>
            <p:nvPr/>
          </p:nvSpPr>
          <p:spPr>
            <a:xfrm flipV="1">
              <a:off x="0" y="1285876"/>
              <a:ext cx="18288000" cy="45719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25" name="Picture 24" descr="shutterstock_30373966 circle-01.png">
              <a:extLst>
                <a:ext uri="{FF2B5EF4-FFF2-40B4-BE49-F238E27FC236}">
                  <a16:creationId xmlns:a16="http://schemas.microsoft.com/office/drawing/2014/main" id="{F1EF3E62-1105-4FA4-8DE6-7D349B5B9B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060" b="17396"/>
            <a:stretch/>
          </p:blipFill>
          <p:spPr>
            <a:xfrm>
              <a:off x="16977205" y="19052"/>
              <a:ext cx="1310796" cy="1252536"/>
            </a:xfrm>
            <a:prstGeom prst="rect">
              <a:avLst/>
            </a:prstGeom>
          </p:spPr>
        </p:pic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8B7C082-63BD-4614-90FD-EB10DEF765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353859"/>
              </p:ext>
            </p:extLst>
          </p:nvPr>
        </p:nvGraphicFramePr>
        <p:xfrm>
          <a:off x="1965134" y="2415538"/>
          <a:ext cx="14859000" cy="6229228"/>
        </p:xfrm>
        <a:graphic>
          <a:graphicData uri="http://schemas.openxmlformats.org/drawingml/2006/table">
            <a:tbl>
              <a:tblPr firstRow="1" firstCol="1" bandRow="1"/>
              <a:tblGrid>
                <a:gridCol w="4200430">
                  <a:extLst>
                    <a:ext uri="{9D8B030D-6E8A-4147-A177-3AD203B41FA5}">
                      <a16:colId xmlns:a16="http://schemas.microsoft.com/office/drawing/2014/main" val="1451288000"/>
                    </a:ext>
                  </a:extLst>
                </a:gridCol>
                <a:gridCol w="2571053">
                  <a:extLst>
                    <a:ext uri="{9D8B030D-6E8A-4147-A177-3AD203B41FA5}">
                      <a16:colId xmlns:a16="http://schemas.microsoft.com/office/drawing/2014/main" val="1783251382"/>
                    </a:ext>
                  </a:extLst>
                </a:gridCol>
                <a:gridCol w="2795338">
                  <a:extLst>
                    <a:ext uri="{9D8B030D-6E8A-4147-A177-3AD203B41FA5}">
                      <a16:colId xmlns:a16="http://schemas.microsoft.com/office/drawing/2014/main" val="3592946248"/>
                    </a:ext>
                  </a:extLst>
                </a:gridCol>
                <a:gridCol w="2571053">
                  <a:extLst>
                    <a:ext uri="{9D8B030D-6E8A-4147-A177-3AD203B41FA5}">
                      <a16:colId xmlns:a16="http://schemas.microsoft.com/office/drawing/2014/main" val="1908977533"/>
                    </a:ext>
                  </a:extLst>
                </a:gridCol>
                <a:gridCol w="2721126">
                  <a:extLst>
                    <a:ext uri="{9D8B030D-6E8A-4147-A177-3AD203B41FA5}">
                      <a16:colId xmlns:a16="http://schemas.microsoft.com/office/drawing/2014/main" val="2416701221"/>
                    </a:ext>
                  </a:extLst>
                </a:gridCol>
              </a:tblGrid>
              <a:tr h="9835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Description of task</a:t>
                      </a:r>
                      <a:endParaRPr lang="en-IN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1-6 months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6-12 months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12-18 months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18-24 months</a:t>
                      </a:r>
                      <a:endParaRPr lang="en-IN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7158278"/>
                  </a:ext>
                </a:extLst>
              </a:tr>
              <a:tr h="10190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Synthesis of the perovskite</a:t>
                      </a:r>
                      <a:endParaRPr lang="en-IN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518997"/>
                  </a:ext>
                </a:extLst>
              </a:tr>
              <a:tr h="11381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Characterization</a:t>
                      </a:r>
                      <a:endParaRPr lang="en-IN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5506849"/>
                  </a:ext>
                </a:extLst>
              </a:tr>
              <a:tr h="11381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Fabrication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4415208"/>
                  </a:ext>
                </a:extLst>
              </a:tr>
              <a:tr h="17331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Property characterization and measurements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3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649385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436FF912-CFC0-4B28-B9DD-D29B1EFC0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0" y="180000"/>
            <a:ext cx="8702675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0" b="1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Time schedule </a:t>
            </a:r>
            <a:endParaRPr kumimoji="0" lang="en-US" altLang="en-US" sz="6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0A0F2-BDAD-4C60-843F-3F7CE0A4F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926100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3601700" cy="1271588"/>
          </a:xfrm>
          <a:prstGeom prst="rect">
            <a:avLst/>
          </a:prstGeom>
          <a:gradFill flip="none" rotWithShape="1">
            <a:gsLst>
              <a:gs pos="0">
                <a:srgbClr val="15A1A2">
                  <a:shade val="30000"/>
                  <a:satMod val="115000"/>
                </a:srgbClr>
              </a:gs>
              <a:gs pos="50000">
                <a:srgbClr val="15A1A2">
                  <a:shade val="67500"/>
                  <a:satMod val="115000"/>
                </a:srgbClr>
              </a:gs>
              <a:gs pos="100000">
                <a:srgbClr val="15A1A2">
                  <a:shade val="100000"/>
                  <a:satMod val="115000"/>
                </a:srgbClr>
              </a:gs>
            </a:gsLst>
            <a:lin ang="0" scaled="1"/>
            <a:tileRect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2887" y="284406"/>
            <a:ext cx="122015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adugi" panose="020B0502040204020203" pitchFamily="34" charset="0"/>
                <a:ea typeface="+mn-ea"/>
                <a:cs typeface="+mn-cs"/>
              </a:rPr>
              <a:t>Outline and Fields of Interest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5A448F4-E672-4D41-89E6-4898807E7AF6}"/>
              </a:ext>
            </a:extLst>
          </p:cNvPr>
          <p:cNvGrpSpPr/>
          <p:nvPr/>
        </p:nvGrpSpPr>
        <p:grpSpPr>
          <a:xfrm>
            <a:off x="0" y="-1824"/>
            <a:ext cx="18288001" cy="1333419"/>
            <a:chOff x="0" y="-1824"/>
            <a:chExt cx="18288001" cy="133341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DAE4089-DDE0-4027-BDA5-300BB2DC46ED}"/>
                </a:ext>
              </a:extLst>
            </p:cNvPr>
            <p:cNvSpPr/>
            <p:nvPr/>
          </p:nvSpPr>
          <p:spPr>
            <a:xfrm>
              <a:off x="0" y="3732"/>
              <a:ext cx="13601700" cy="1275320"/>
            </a:xfrm>
            <a:prstGeom prst="rect">
              <a:avLst/>
            </a:prstGeom>
            <a:gradFill flip="none" rotWithShape="1">
              <a:gsLst>
                <a:gs pos="0">
                  <a:srgbClr val="15A1A2">
                    <a:shade val="30000"/>
                    <a:satMod val="115000"/>
                  </a:srgbClr>
                </a:gs>
                <a:gs pos="50000">
                  <a:srgbClr val="15A1A2">
                    <a:shade val="67500"/>
                    <a:satMod val="115000"/>
                  </a:srgbClr>
                </a:gs>
                <a:gs pos="100000">
                  <a:srgbClr val="15A1A2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14EC8E2-8C94-4D4A-BD57-9455FD8D5285}"/>
                </a:ext>
              </a:extLst>
            </p:cNvPr>
            <p:cNvSpPr/>
            <p:nvPr/>
          </p:nvSpPr>
          <p:spPr>
            <a:xfrm>
              <a:off x="13071496" y="-1824"/>
              <a:ext cx="5216504" cy="45719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388B9DE-59D7-4D51-B958-8A925143B8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71495" y="49348"/>
              <a:ext cx="3752639" cy="1240260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1597E6A-2D10-4739-B875-7FF34BD442C9}"/>
                </a:ext>
              </a:extLst>
            </p:cNvPr>
            <p:cNvSpPr/>
            <p:nvPr/>
          </p:nvSpPr>
          <p:spPr>
            <a:xfrm flipV="1">
              <a:off x="0" y="1285876"/>
              <a:ext cx="18288000" cy="45719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25" name="Picture 24" descr="shutterstock_30373966 circle-01.png">
              <a:extLst>
                <a:ext uri="{FF2B5EF4-FFF2-40B4-BE49-F238E27FC236}">
                  <a16:creationId xmlns:a16="http://schemas.microsoft.com/office/drawing/2014/main" id="{F1EF3E62-1105-4FA4-8DE6-7D349B5B9B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060" b="17396"/>
            <a:stretch/>
          </p:blipFill>
          <p:spPr>
            <a:xfrm>
              <a:off x="16977205" y="19052"/>
              <a:ext cx="1310796" cy="1252536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47187C6-3D7A-4CAD-BDA0-EC961BC2C1C1}"/>
              </a:ext>
            </a:extLst>
          </p:cNvPr>
          <p:cNvSpPr/>
          <p:nvPr/>
        </p:nvSpPr>
        <p:spPr>
          <a:xfrm>
            <a:off x="1528762" y="2167265"/>
            <a:ext cx="14758988" cy="49924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High‐performance CsPbX</a:t>
            </a:r>
            <a:r>
              <a:rPr lang="en-US" baseline="-25000" dirty="0">
                <a:solidFill>
                  <a:srgbClr val="00206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PeLEDs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have to be achieved by implementing simple and cost‐effective methods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Doping may increase PLQY to obtain high-efficiency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PeLED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which is stable and brighter.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Nanophotonic structures may increase EQE through outcoupling enhancement</a:t>
            </a:r>
            <a:endParaRPr lang="en-IN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0EEA20-640A-4222-90E9-CA803596FC71}"/>
              </a:ext>
            </a:extLst>
          </p:cNvPr>
          <p:cNvSpPr/>
          <p:nvPr/>
        </p:nvSpPr>
        <p:spPr>
          <a:xfrm>
            <a:off x="720000" y="180000"/>
            <a:ext cx="3905236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Summary </a:t>
            </a:r>
            <a:endParaRPr lang="en-IN" sz="6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65E641-2EA3-4EDD-8787-70CA8395C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998926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3601700" cy="1271588"/>
          </a:xfrm>
          <a:prstGeom prst="rect">
            <a:avLst/>
          </a:prstGeom>
          <a:gradFill flip="none" rotWithShape="1">
            <a:gsLst>
              <a:gs pos="0">
                <a:srgbClr val="15A1A2">
                  <a:shade val="30000"/>
                  <a:satMod val="115000"/>
                </a:srgbClr>
              </a:gs>
              <a:gs pos="50000">
                <a:srgbClr val="15A1A2">
                  <a:shade val="67500"/>
                  <a:satMod val="115000"/>
                </a:srgbClr>
              </a:gs>
              <a:gs pos="100000">
                <a:srgbClr val="15A1A2">
                  <a:shade val="100000"/>
                  <a:satMod val="115000"/>
                </a:srgbClr>
              </a:gs>
            </a:gsLst>
            <a:lin ang="0" scaled="1"/>
            <a:tileRect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2887" y="284406"/>
            <a:ext cx="122015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adugi" panose="020B0502040204020203" pitchFamily="34" charset="0"/>
                <a:ea typeface="+mn-ea"/>
                <a:cs typeface="+mn-cs"/>
              </a:rPr>
              <a:t>Outline and Fields of Interest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5A448F4-E672-4D41-89E6-4898807E7AF6}"/>
              </a:ext>
            </a:extLst>
          </p:cNvPr>
          <p:cNvGrpSpPr/>
          <p:nvPr/>
        </p:nvGrpSpPr>
        <p:grpSpPr>
          <a:xfrm>
            <a:off x="0" y="-1824"/>
            <a:ext cx="18288001" cy="1333419"/>
            <a:chOff x="0" y="-1824"/>
            <a:chExt cx="18288001" cy="133341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DAE4089-DDE0-4027-BDA5-300BB2DC46ED}"/>
                </a:ext>
              </a:extLst>
            </p:cNvPr>
            <p:cNvSpPr/>
            <p:nvPr/>
          </p:nvSpPr>
          <p:spPr>
            <a:xfrm>
              <a:off x="0" y="3732"/>
              <a:ext cx="13601700" cy="1275320"/>
            </a:xfrm>
            <a:prstGeom prst="rect">
              <a:avLst/>
            </a:prstGeom>
            <a:gradFill flip="none" rotWithShape="1">
              <a:gsLst>
                <a:gs pos="0">
                  <a:srgbClr val="15A1A2">
                    <a:shade val="30000"/>
                    <a:satMod val="115000"/>
                  </a:srgbClr>
                </a:gs>
                <a:gs pos="50000">
                  <a:srgbClr val="15A1A2">
                    <a:shade val="67500"/>
                    <a:satMod val="115000"/>
                  </a:srgbClr>
                </a:gs>
                <a:gs pos="100000">
                  <a:srgbClr val="15A1A2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14EC8E2-8C94-4D4A-BD57-9455FD8D5285}"/>
                </a:ext>
              </a:extLst>
            </p:cNvPr>
            <p:cNvSpPr/>
            <p:nvPr/>
          </p:nvSpPr>
          <p:spPr>
            <a:xfrm>
              <a:off x="13071496" y="-1824"/>
              <a:ext cx="5216504" cy="45719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388B9DE-59D7-4D51-B958-8A925143B8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71495" y="49348"/>
              <a:ext cx="3752639" cy="1240260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1597E6A-2D10-4739-B875-7FF34BD442C9}"/>
                </a:ext>
              </a:extLst>
            </p:cNvPr>
            <p:cNvSpPr/>
            <p:nvPr/>
          </p:nvSpPr>
          <p:spPr>
            <a:xfrm flipV="1">
              <a:off x="0" y="1285876"/>
              <a:ext cx="18288000" cy="45719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25" name="Picture 24" descr="shutterstock_30373966 circle-01.png">
              <a:extLst>
                <a:ext uri="{FF2B5EF4-FFF2-40B4-BE49-F238E27FC236}">
                  <a16:creationId xmlns:a16="http://schemas.microsoft.com/office/drawing/2014/main" id="{F1EF3E62-1105-4FA4-8DE6-7D349B5B9B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060" b="17396"/>
            <a:stretch/>
          </p:blipFill>
          <p:spPr>
            <a:xfrm>
              <a:off x="16977205" y="19052"/>
              <a:ext cx="1310796" cy="1252536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1320C6-63CA-4BFA-8CA8-7B11EE9BF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16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3FA22A-4E52-490A-8978-FAE944F486F3}"/>
              </a:ext>
            </a:extLst>
          </p:cNvPr>
          <p:cNvSpPr/>
          <p:nvPr/>
        </p:nvSpPr>
        <p:spPr>
          <a:xfrm>
            <a:off x="760524" y="137488"/>
            <a:ext cx="670014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</a:t>
            </a:r>
            <a:endParaRPr lang="en-IN" sz="6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6171A4-D6FA-4D59-A2B7-320593DD93AB}"/>
              </a:ext>
            </a:extLst>
          </p:cNvPr>
          <p:cNvSpPr/>
          <p:nvPr/>
        </p:nvSpPr>
        <p:spPr>
          <a:xfrm>
            <a:off x="10375814" y="4820335"/>
            <a:ext cx="9144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b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endParaRPr lang="en-IN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9EE65E-29AA-4219-AE51-DCA754579E75}"/>
              </a:ext>
            </a:extLst>
          </p:cNvPr>
          <p:cNvSpPr/>
          <p:nvPr/>
        </p:nvSpPr>
        <p:spPr>
          <a:xfrm>
            <a:off x="498763" y="2389679"/>
            <a:ext cx="16708582" cy="65684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4964" indent="-5715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Dr. Murali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Banavoth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 Research supervisor)</a:t>
            </a:r>
            <a:endParaRPr lang="en-US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4964" indent="-5715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Pradeepta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K. Panda, Prof.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Srinivasarao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Yaragorla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(DRC Members)</a:t>
            </a:r>
            <a:endParaRPr lang="en-US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4964" indent="-5715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 and former Deans, School of Chemistry</a:t>
            </a:r>
            <a:endParaRPr lang="en-US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4964" indent="-5715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the faculty members, School of Chemistry</a:t>
            </a:r>
            <a:endParaRPr lang="en-US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4964" indent="-5715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 mates, friends, parents</a:t>
            </a:r>
            <a:endParaRPr lang="en-US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4964" indent="-5715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CSIR, DST, UGC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2626951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3601700" cy="1271588"/>
          </a:xfrm>
          <a:prstGeom prst="rect">
            <a:avLst/>
          </a:prstGeom>
          <a:gradFill flip="none" rotWithShape="1">
            <a:gsLst>
              <a:gs pos="0">
                <a:srgbClr val="15A1A2">
                  <a:shade val="30000"/>
                  <a:satMod val="115000"/>
                </a:srgbClr>
              </a:gs>
              <a:gs pos="50000">
                <a:srgbClr val="15A1A2">
                  <a:shade val="67500"/>
                  <a:satMod val="115000"/>
                </a:srgbClr>
              </a:gs>
              <a:gs pos="100000">
                <a:srgbClr val="15A1A2">
                  <a:shade val="100000"/>
                  <a:satMod val="115000"/>
                </a:srgbClr>
              </a:gs>
            </a:gsLst>
            <a:lin ang="0" scaled="1"/>
            <a:tileRect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2887" y="284406"/>
            <a:ext cx="122015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adugi" panose="020B0502040204020203" pitchFamily="34" charset="0"/>
                <a:ea typeface="+mn-ea"/>
                <a:cs typeface="+mn-cs"/>
              </a:rPr>
              <a:t>Outline and Fields of Interest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5A448F4-E672-4D41-89E6-4898807E7AF6}"/>
              </a:ext>
            </a:extLst>
          </p:cNvPr>
          <p:cNvGrpSpPr/>
          <p:nvPr/>
        </p:nvGrpSpPr>
        <p:grpSpPr>
          <a:xfrm>
            <a:off x="0" y="-1824"/>
            <a:ext cx="18288001" cy="1333419"/>
            <a:chOff x="0" y="-1824"/>
            <a:chExt cx="18288001" cy="133341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DAE4089-DDE0-4027-BDA5-300BB2DC46ED}"/>
                </a:ext>
              </a:extLst>
            </p:cNvPr>
            <p:cNvSpPr/>
            <p:nvPr/>
          </p:nvSpPr>
          <p:spPr>
            <a:xfrm>
              <a:off x="0" y="3732"/>
              <a:ext cx="13601700" cy="1275320"/>
            </a:xfrm>
            <a:prstGeom prst="rect">
              <a:avLst/>
            </a:prstGeom>
            <a:gradFill flip="none" rotWithShape="1">
              <a:gsLst>
                <a:gs pos="0">
                  <a:srgbClr val="15A1A2">
                    <a:shade val="30000"/>
                    <a:satMod val="115000"/>
                  </a:srgbClr>
                </a:gs>
                <a:gs pos="50000">
                  <a:srgbClr val="15A1A2">
                    <a:shade val="67500"/>
                    <a:satMod val="115000"/>
                  </a:srgbClr>
                </a:gs>
                <a:gs pos="100000">
                  <a:srgbClr val="15A1A2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14EC8E2-8C94-4D4A-BD57-9455FD8D5285}"/>
                </a:ext>
              </a:extLst>
            </p:cNvPr>
            <p:cNvSpPr/>
            <p:nvPr/>
          </p:nvSpPr>
          <p:spPr>
            <a:xfrm>
              <a:off x="13071496" y="-1824"/>
              <a:ext cx="5216504" cy="45719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388B9DE-59D7-4D51-B958-8A925143B8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71495" y="49348"/>
              <a:ext cx="3752639" cy="1240260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1597E6A-2D10-4739-B875-7FF34BD442C9}"/>
                </a:ext>
              </a:extLst>
            </p:cNvPr>
            <p:cNvSpPr/>
            <p:nvPr/>
          </p:nvSpPr>
          <p:spPr>
            <a:xfrm flipV="1">
              <a:off x="0" y="1285876"/>
              <a:ext cx="18288000" cy="45719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25" name="Picture 24" descr="shutterstock_30373966 circle-01.png">
              <a:extLst>
                <a:ext uri="{FF2B5EF4-FFF2-40B4-BE49-F238E27FC236}">
                  <a16:creationId xmlns:a16="http://schemas.microsoft.com/office/drawing/2014/main" id="{F1EF3E62-1105-4FA4-8DE6-7D349B5B9B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060" b="17396"/>
            <a:stretch/>
          </p:blipFill>
          <p:spPr>
            <a:xfrm>
              <a:off x="16977205" y="19052"/>
              <a:ext cx="1310796" cy="1252536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B1FC8D4-80BC-4CC7-812E-CDC5EF7632A7}"/>
              </a:ext>
            </a:extLst>
          </p:cNvPr>
          <p:cNvSpPr/>
          <p:nvPr/>
        </p:nvSpPr>
        <p:spPr>
          <a:xfrm>
            <a:off x="6135274" y="4358670"/>
            <a:ext cx="5489003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600" b="1" i="1" u="sng" dirty="0">
                <a:solidFill>
                  <a:srgbClr val="002060"/>
                </a:solidFill>
              </a:rPr>
              <a:t>Thank you</a:t>
            </a:r>
            <a:endParaRPr lang="en-IN" sz="9600" b="1" i="1" u="sng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2114D0-E870-44C5-9730-9AEA9A15E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8160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9B5074-18D4-4470-8BC2-04F1E3396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888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over and End Slide Master">
  <a:themeElements>
    <a:clrScheme name="trave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DFB"/>
      </a:accent1>
      <a:accent2>
        <a:srgbClr val="1ED0A6"/>
      </a:accent2>
      <a:accent3>
        <a:srgbClr val="1C82FF"/>
      </a:accent3>
      <a:accent4>
        <a:srgbClr val="565874"/>
      </a:accent4>
      <a:accent5>
        <a:srgbClr val="00BDFB"/>
      </a:accent5>
      <a:accent6>
        <a:srgbClr val="1ED0A6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E64AEEDD9B7A4D93545ACBE97D4615" ma:contentTypeVersion="2" ma:contentTypeDescription="Create a new document." ma:contentTypeScope="" ma:versionID="f49002b78e3a4a71b814eef46a983816">
  <xsd:schema xmlns:xsd="http://www.w3.org/2001/XMLSchema" xmlns:xs="http://www.w3.org/2001/XMLSchema" xmlns:p="http://schemas.microsoft.com/office/2006/metadata/properties" xmlns:ns2="http://schemas.microsoft.com/sharepoint/v3/fields" targetNamespace="http://schemas.microsoft.com/office/2006/metadata/properties" ma:root="true" ma:fieldsID="38f6db2dd0d9a0cf6a8dc37be32b365b" ns2:_=""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Status" minOccurs="0"/>
                <xsd:element ref="ns2:_Vers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8" nillable="true" ma:displayName="Status" ma:default="Not Started" ma:internalName="_Status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  <xsd:element name="_Version" ma:index="9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Status xmlns="http://schemas.microsoft.com/sharepoint/v3/fields">Not Started</_Status>
  </documentManagement>
</p:properties>
</file>

<file path=customXml/itemProps1.xml><?xml version="1.0" encoding="utf-8"?>
<ds:datastoreItem xmlns:ds="http://schemas.openxmlformats.org/officeDocument/2006/customXml" ds:itemID="{E4214858-785C-42F7-BE66-6D0E79395F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B6F2769-7194-4217-93D3-3AF3A4742282}">
  <ds:schemaRefs>
    <ds:schemaRef ds:uri="http://www.w3.org/XML/1998/namespace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sharepoint/v3/fields"/>
    <ds:schemaRef ds:uri="http://schemas.openxmlformats.org/package/2006/metadata/core-properties"/>
    <ds:schemaRef ds:uri="http://purl.org/dc/dcmitype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FNEMasterTemplateForThemePreview.pptx</Template>
  <TotalTime>5830</TotalTime>
  <Words>958</Words>
  <Application>Microsoft Office PowerPoint</Application>
  <PresentationFormat>Custom</PresentationFormat>
  <Paragraphs>240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Gadugi</vt:lpstr>
      <vt:lpstr>Helvetica</vt:lpstr>
      <vt:lpstr>Helvitica</vt:lpstr>
      <vt:lpstr>Times New Roman</vt:lpstr>
      <vt:lpstr>Wingdings</vt:lpstr>
      <vt:lpstr>Office Theme</vt:lpstr>
      <vt:lpstr>Cover and End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FileNewTemplate</dc:title>
  <dc:creator>Diana</dc:creator>
  <cp:lastModifiedBy>Ranadeep raj sumukam</cp:lastModifiedBy>
  <cp:revision>453</cp:revision>
  <dcterms:created xsi:type="dcterms:W3CDTF">2010-04-12T23:12:02Z</dcterms:created>
  <dcterms:modified xsi:type="dcterms:W3CDTF">2022-06-07T12:36:55Z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</Properties>
</file>