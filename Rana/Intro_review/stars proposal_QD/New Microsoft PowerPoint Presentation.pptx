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74" r:id="rId3"/>
    <p:sldId id="271" r:id="rId4"/>
    <p:sldId id="269" r:id="rId5"/>
    <p:sldId id="27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707A7-AC01-4929-BC93-23198F6663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D8C9E4-8538-4F82-A4C7-0930924ACC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22DA6D-2488-4D60-9C21-70571C0BD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D7714-1439-442C-8892-6602CC43B6CC}" type="datetimeFigureOut">
              <a:rPr lang="en-IN" smtClean="0"/>
              <a:t>16-08-2019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C2CEBE-A7B0-44B1-BA25-C5CBC1478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B19A9C-74DD-48D0-A607-66CC1AFBE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53F2F-6FC4-4DD9-9F30-14ED63D62B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2371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6F11C-0980-40C3-872A-DBEE3B025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08C4BA-B7A1-4B1B-A4F6-1CE7EBECFB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FEB7E2-743F-4839-9D4A-385F70DE8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D7714-1439-442C-8892-6602CC43B6CC}" type="datetimeFigureOut">
              <a:rPr lang="en-IN" smtClean="0"/>
              <a:t>16-08-2019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E7C639-EECC-4B8D-904F-74D2F6CCC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E70A84-CB37-4EC3-9EBD-CEA5ABF6F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53F2F-6FC4-4DD9-9F30-14ED63D62B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5250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C5F05-B2ED-4E5B-9552-4C2B0D67F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8DA117-1854-48C0-9A10-F0B51CCE8A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16E6EB-7838-46CC-93A3-1AB0438EA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D7714-1439-442C-8892-6602CC43B6CC}" type="datetimeFigureOut">
              <a:rPr lang="en-IN" smtClean="0"/>
              <a:t>16-08-2019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B51A0E-F3F6-4A0F-A516-ADF8AAC5C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66465D-0959-4DEB-B4E1-1F6212159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53F2F-6FC4-4DD9-9F30-14ED63D62B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7054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EE883-F6A4-422E-BC07-1021098CA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4A861B-C1BB-425D-857B-E9F433A04D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938B32-1718-4161-B5CD-78492E7FFE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09393B-0BCA-4344-B05C-D364C88C0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D7714-1439-442C-8892-6602CC43B6CC}" type="datetimeFigureOut">
              <a:rPr lang="en-IN" smtClean="0"/>
              <a:t>16-08-2019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8780F1-5367-4F97-A471-1349AF529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E2A514-2FD1-4026-BB87-D19331910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53F2F-6FC4-4DD9-9F30-14ED63D62B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5595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18A7E-2F91-4E94-BBAF-7E769A916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826B49-DAE0-4D5E-B486-56FD277920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456C8B-F9AE-4728-8655-A3ABB1997D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86A718-600C-4AEF-A358-DFBCC66061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550EF2-09EC-4ED2-98F6-3876731CA3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B7F01A-9E5F-4415-8C23-3727E3758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D7714-1439-442C-8892-6602CC43B6CC}" type="datetimeFigureOut">
              <a:rPr lang="en-IN" smtClean="0"/>
              <a:t>16-08-2019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DFC0CF-A4D8-4602-B361-A740D889D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3A1343-663F-4230-A26F-51C27B023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53F2F-6FC4-4DD9-9F30-14ED63D62B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93794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1DECF-3255-410D-8EC1-DDFC30E23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D740BE-EBD8-484B-AA1C-443CBE6FE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D7714-1439-442C-8892-6602CC43B6CC}" type="datetimeFigureOut">
              <a:rPr lang="en-IN" smtClean="0"/>
              <a:t>16-08-2019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A4C333-28E9-466F-B209-762939249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BC3810-E72A-4533-BDC7-091071721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53F2F-6FC4-4DD9-9F30-14ED63D62B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0636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A92922-F2CC-447E-8178-525CD4CDB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D7714-1439-442C-8892-6602CC43B6CC}" type="datetimeFigureOut">
              <a:rPr lang="en-IN" smtClean="0"/>
              <a:t>16-08-2019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4907B2-3CD3-4926-A545-5E83FE0FB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475AD6-4737-410D-9712-45DF5C730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53F2F-6FC4-4DD9-9F30-14ED63D62B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8004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35C7A-EC77-4961-B69D-28069E405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4E1188-5630-4482-89C3-3C54871F57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D4DF55-7DF3-46E4-A3BC-CACA8A34C0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21976-25E8-42E0-B970-D5D621D0A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D7714-1439-442C-8892-6602CC43B6CC}" type="datetimeFigureOut">
              <a:rPr lang="en-IN" smtClean="0"/>
              <a:t>16-08-2019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4E8316-A64D-4A99-AAB1-EB00543AD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C35C42-4B21-45F4-A1E8-EC32AE9BD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53F2F-6FC4-4DD9-9F30-14ED63D62B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530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49776-C5F9-47EB-94AB-5E08E392C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643321-95E5-4DE5-94C4-5B364A353C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0E6DF5-1C87-43DB-95FA-F50E3E1852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B428C-849D-4FA9-B06E-66DE362FB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D7714-1439-442C-8892-6602CC43B6CC}" type="datetimeFigureOut">
              <a:rPr lang="en-IN" smtClean="0"/>
              <a:t>16-08-2019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B39FF0-CF00-4D34-BB69-4411CC6D3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2DDB0F-380E-447A-9F52-E661D1D20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53F2F-6FC4-4DD9-9F30-14ED63D62B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2264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D914A-A6FF-4482-887A-5725A942B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4A72F4-C33B-452F-BB95-347581CE99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AC839D-1BC3-47BA-8047-0E347CBB2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D7714-1439-442C-8892-6602CC43B6CC}" type="datetimeFigureOut">
              <a:rPr lang="en-IN" smtClean="0"/>
              <a:t>16-08-2019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7338B-29C4-43B4-9155-B4092AB2A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334FAA-E36A-4E98-9403-E499FFB23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53F2F-6FC4-4DD9-9F30-14ED63D62B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3543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629150-C05A-4927-BB9C-3AE34176DC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100EBA-5A89-49A3-ADBA-749B5524C4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A9945D-7AFB-4071-B6C7-811C30021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D7714-1439-442C-8892-6602CC43B6CC}" type="datetimeFigureOut">
              <a:rPr lang="en-IN" smtClean="0"/>
              <a:t>16-08-2019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B0A16F-B68A-4EEF-AD0C-6100F681A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BD2056-BDDE-4CCC-93B7-0F1A498EF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53F2F-6FC4-4DD9-9F30-14ED63D62B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5325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00D9D6-B92D-4059-80AD-192D31422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8979A5-D9B8-4ED4-9E59-BB5D7EAD8D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50BCA8-05C5-4735-90CA-609875A69B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8D7714-1439-442C-8892-6602CC43B6CC}" type="datetimeFigureOut">
              <a:rPr lang="en-IN" smtClean="0"/>
              <a:t>16-08-2019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8080-44D7-4CF4-819C-021EEE634F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7623F5-3A51-4EFB-A3F0-02195E7BAA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C53F2F-6FC4-4DD9-9F30-14ED63D62B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8895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7" Type="http://schemas.microsoft.com/office/2007/relationships/hdphoto" Target="../media/hdphoto5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microsoft.com/office/2007/relationships/hdphoto" Target="../media/hdphoto4.wdp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68">
            <a:extLst>
              <a:ext uri="{FF2B5EF4-FFF2-40B4-BE49-F238E27FC236}">
                <a16:creationId xmlns:a16="http://schemas.microsoft.com/office/drawing/2014/main" id="{50CA3727-9B20-45CB-A1B4-CD9243E71B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81402" y="1533453"/>
            <a:ext cx="5295787" cy="2637053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58BBE191-3538-401C-9724-02B8372251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78004" y="2408508"/>
            <a:ext cx="5224182" cy="2943685"/>
          </a:xfrm>
          <a:prstGeom prst="rect">
            <a:avLst/>
          </a:prstGeom>
        </p:spPr>
      </p:pic>
      <p:sp>
        <p:nvSpPr>
          <p:cNvPr id="71" name="TextBox 70">
            <a:extLst>
              <a:ext uri="{FF2B5EF4-FFF2-40B4-BE49-F238E27FC236}">
                <a16:creationId xmlns:a16="http://schemas.microsoft.com/office/drawing/2014/main" id="{737A53C4-0425-4DA6-BE37-AEEFA1625713}"/>
              </a:ext>
            </a:extLst>
          </p:cNvPr>
          <p:cNvSpPr txBox="1"/>
          <p:nvPr/>
        </p:nvSpPr>
        <p:spPr>
          <a:xfrm>
            <a:off x="2751209" y="5828715"/>
            <a:ext cx="75094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1. Mesoporous scaffolds for templet based NC’s  </a:t>
            </a:r>
          </a:p>
        </p:txBody>
      </p:sp>
    </p:spTree>
    <p:extLst>
      <p:ext uri="{BB962C8B-B14F-4D97-AF65-F5344CB8AC3E}">
        <p14:creationId xmlns:p14="http://schemas.microsoft.com/office/powerpoint/2010/main" val="22510711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1">
            <a:extLst>
              <a:ext uri="{FF2B5EF4-FFF2-40B4-BE49-F238E27FC236}">
                <a16:creationId xmlns:a16="http://schemas.microsoft.com/office/drawing/2014/main" id="{5C40AC60-590A-4750-88D3-B6E33BA8B3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3180" y="1754770"/>
            <a:ext cx="6145301" cy="5175953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AED5EC78-71D0-4620-AC3C-4CBB821924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48674"/>
            <a:ext cx="6145301" cy="5182049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98BC660D-FAAE-4E42-ABE9-0667D435C318}"/>
              </a:ext>
            </a:extLst>
          </p:cNvPr>
          <p:cNvSpPr txBox="1"/>
          <p:nvPr/>
        </p:nvSpPr>
        <p:spPr>
          <a:xfrm>
            <a:off x="4285639" y="741872"/>
            <a:ext cx="3575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Flexible solar cell devices using QDs</a:t>
            </a:r>
          </a:p>
        </p:txBody>
      </p:sp>
    </p:spTree>
    <p:extLst>
      <p:ext uri="{BB962C8B-B14F-4D97-AF65-F5344CB8AC3E}">
        <p14:creationId xmlns:p14="http://schemas.microsoft.com/office/powerpoint/2010/main" val="38916925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9A355D6-CF13-46A7-BBC4-D11112D48D0B}"/>
              </a:ext>
            </a:extLst>
          </p:cNvPr>
          <p:cNvSpPr txBox="1"/>
          <p:nvPr/>
        </p:nvSpPr>
        <p:spPr>
          <a:xfrm>
            <a:off x="3038121" y="6457890"/>
            <a:ext cx="47117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/>
              <a:t>Hybrid perovskite heterojunction solar cell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A2DF93C-D06B-4D3B-BA95-4947B62EA8A3}"/>
              </a:ext>
            </a:extLst>
          </p:cNvPr>
          <p:cNvSpPr/>
          <p:nvPr/>
        </p:nvSpPr>
        <p:spPr>
          <a:xfrm>
            <a:off x="7405107" y="2967812"/>
            <a:ext cx="47231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 Solar device with perovskite NC’s as active layer.</a:t>
            </a:r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24B815-373D-482B-8D68-A4E765FF1B00}"/>
              </a:ext>
            </a:extLst>
          </p:cNvPr>
          <p:cNvSpPr/>
          <p:nvPr/>
        </p:nvSpPr>
        <p:spPr>
          <a:xfrm>
            <a:off x="40737" y="2967812"/>
            <a:ext cx="51898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 Solar device with perovskite thin layer as active layer.</a:t>
            </a:r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2D265F5-646B-47F3-AA73-7E9DF8C4B5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112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775195" y="3320801"/>
            <a:ext cx="4040807" cy="294642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C3FCA51-1993-4B56-84AD-803398E828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544928" y="2441"/>
            <a:ext cx="4443510" cy="315003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54CF234-FD2E-418A-AE3A-6E0AB9C9002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98174" y="3320801"/>
            <a:ext cx="4464764" cy="3337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9498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roup 70">
            <a:extLst>
              <a:ext uri="{FF2B5EF4-FFF2-40B4-BE49-F238E27FC236}">
                <a16:creationId xmlns:a16="http://schemas.microsoft.com/office/drawing/2014/main" id="{2A6C20C6-E63D-4308-A449-6A03E87A6DD8}"/>
              </a:ext>
            </a:extLst>
          </p:cNvPr>
          <p:cNvGrpSpPr/>
          <p:nvPr/>
        </p:nvGrpSpPr>
        <p:grpSpPr>
          <a:xfrm>
            <a:off x="1317859" y="591291"/>
            <a:ext cx="9584768" cy="6062238"/>
            <a:chOff x="1317859" y="591291"/>
            <a:chExt cx="9584768" cy="6062238"/>
          </a:xfrm>
        </p:grpSpPr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FBD39BE2-F192-4385-A17A-FB823E3B2E86}"/>
                </a:ext>
              </a:extLst>
            </p:cNvPr>
            <p:cNvSpPr txBox="1"/>
            <p:nvPr/>
          </p:nvSpPr>
          <p:spPr>
            <a:xfrm>
              <a:off x="2633579" y="6284197"/>
              <a:ext cx="77771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b="1" dirty="0"/>
                <a:t>Better matching energy levels between perovskites and HTL by Mixed </a:t>
              </a:r>
              <a:r>
                <a:rPr lang="en-IN" b="1" dirty="0" err="1"/>
                <a:t>pero</a:t>
              </a:r>
              <a:r>
                <a:rPr lang="en-IN" b="1" dirty="0"/>
                <a:t> NC’s</a:t>
              </a: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38BD9434-DBCE-4BFA-B0EB-F6872FE5B088}"/>
                </a:ext>
              </a:extLst>
            </p:cNvPr>
            <p:cNvGrpSpPr/>
            <p:nvPr/>
          </p:nvGrpSpPr>
          <p:grpSpPr>
            <a:xfrm>
              <a:off x="1317859" y="2284833"/>
              <a:ext cx="4913290" cy="4140584"/>
              <a:chOff x="1361101" y="2717416"/>
              <a:chExt cx="4913290" cy="4140584"/>
            </a:xfrm>
          </p:grpSpPr>
          <p:grpSp>
            <p:nvGrpSpPr>
              <p:cNvPr id="88" name="Group 87">
                <a:extLst>
                  <a:ext uri="{FF2B5EF4-FFF2-40B4-BE49-F238E27FC236}">
                    <a16:creationId xmlns:a16="http://schemas.microsoft.com/office/drawing/2014/main" id="{C4BD5BBF-2DFC-4000-B08F-0350BC5A6AFF}"/>
                  </a:ext>
                </a:extLst>
              </p:cNvPr>
              <p:cNvGrpSpPr/>
              <p:nvPr/>
            </p:nvGrpSpPr>
            <p:grpSpPr>
              <a:xfrm>
                <a:off x="1473506" y="3041668"/>
                <a:ext cx="4231148" cy="3816332"/>
                <a:chOff x="5513629" y="2967284"/>
                <a:chExt cx="4231148" cy="3816332"/>
              </a:xfrm>
            </p:grpSpPr>
            <p:sp>
              <p:nvSpPr>
                <p:cNvPr id="3" name="Rectangle: Single Corner Rounded 2">
                  <a:extLst>
                    <a:ext uri="{FF2B5EF4-FFF2-40B4-BE49-F238E27FC236}">
                      <a16:creationId xmlns:a16="http://schemas.microsoft.com/office/drawing/2014/main" id="{2B723C5A-B9D5-4C9E-AEA8-230AF7EC1A4C}"/>
                    </a:ext>
                  </a:extLst>
                </p:cNvPr>
                <p:cNvSpPr/>
                <p:nvPr/>
              </p:nvSpPr>
              <p:spPr>
                <a:xfrm>
                  <a:off x="5864592" y="4911616"/>
                  <a:ext cx="3627087" cy="1872000"/>
                </a:xfrm>
                <a:prstGeom prst="round1Rect">
                  <a:avLst>
                    <a:gd name="adj" fmla="val 0"/>
                  </a:avLst>
                </a:prstGeom>
                <a:solidFill>
                  <a:srgbClr val="00B0F0"/>
                </a:solidFill>
                <a:ln w="12700" cap="flat" cmpd="sng" algn="ctr">
                  <a:solidFill>
                    <a:srgbClr val="00B0F0"/>
                  </a:solidFill>
                  <a:prstDash val="solid"/>
                  <a:miter lim="800000"/>
                </a:ln>
                <a:effectLst/>
                <a:scene3d>
                  <a:camera prst="orthographicFront">
                    <a:rot lat="3880299" lon="6639842" rev="6595252"/>
                  </a:camera>
                  <a:lightRig rig="balanced" dir="t"/>
                </a:scene3d>
                <a:sp3d prstMaterial="plastic">
                  <a:bevelT w="0" h="425450"/>
                </a:sp3d>
              </p:spPr>
              <p:txBody>
                <a:bodyPr rtlCol="0" anchor="ctr"/>
                <a:lstStyle/>
                <a:p>
                  <a:pPr marL="0" marR="0" lvl="0" indent="0" algn="ctr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grpSp>
              <p:nvGrpSpPr>
                <p:cNvPr id="87" name="Group 86">
                  <a:extLst>
                    <a:ext uri="{FF2B5EF4-FFF2-40B4-BE49-F238E27FC236}">
                      <a16:creationId xmlns:a16="http://schemas.microsoft.com/office/drawing/2014/main" id="{0DD29528-BEE8-4102-9261-4E94571F8FE0}"/>
                    </a:ext>
                  </a:extLst>
                </p:cNvPr>
                <p:cNvGrpSpPr/>
                <p:nvPr/>
              </p:nvGrpSpPr>
              <p:grpSpPr>
                <a:xfrm>
                  <a:off x="5513629" y="2967284"/>
                  <a:ext cx="4231148" cy="3416912"/>
                  <a:chOff x="5513629" y="2967284"/>
                  <a:chExt cx="4231148" cy="3416912"/>
                </a:xfrm>
              </p:grpSpPr>
              <p:sp>
                <p:nvSpPr>
                  <p:cNvPr id="4" name="Rectangle: Single Corner Rounded 3">
                    <a:extLst>
                      <a:ext uri="{FF2B5EF4-FFF2-40B4-BE49-F238E27FC236}">
                        <a16:creationId xmlns:a16="http://schemas.microsoft.com/office/drawing/2014/main" id="{9A4F7F0F-8E5B-4715-AAB8-535682E11012}"/>
                      </a:ext>
                    </a:extLst>
                  </p:cNvPr>
                  <p:cNvSpPr/>
                  <p:nvPr/>
                </p:nvSpPr>
                <p:spPr>
                  <a:xfrm>
                    <a:off x="5861065" y="4512196"/>
                    <a:ext cx="3627087" cy="1872000"/>
                  </a:xfrm>
                  <a:prstGeom prst="round1Rect">
                    <a:avLst>
                      <a:gd name="adj" fmla="val 0"/>
                    </a:avLst>
                  </a:prstGeom>
                  <a:solidFill>
                    <a:srgbClr val="7030A0"/>
                  </a:solidFill>
                  <a:ln w="12700" cap="flat" cmpd="sng" algn="ctr">
                    <a:solidFill>
                      <a:srgbClr val="7030A0"/>
                    </a:solidFill>
                    <a:prstDash val="solid"/>
                    <a:miter lim="800000"/>
                  </a:ln>
                  <a:effectLst/>
                  <a:scene3d>
                    <a:camera prst="orthographicFront">
                      <a:rot lat="3880299" lon="6639842" rev="6595252"/>
                    </a:camera>
                    <a:lightRig rig="balanced" dir="t"/>
                  </a:scene3d>
                  <a:sp3d prstMaterial="plastic">
                    <a:bevelT w="0" h="425450"/>
                  </a:sp3d>
                </p:spPr>
                <p:txBody>
                  <a:bodyPr rtlCol="0" anchor="ctr"/>
                  <a:lstStyle/>
                  <a:p>
                    <a:pPr marL="0" marR="0" lvl="0" indent="0" algn="ctr" defTabSz="4572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" name="Rectangle: Single Corner Rounded 4">
                    <a:extLst>
                      <a:ext uri="{FF2B5EF4-FFF2-40B4-BE49-F238E27FC236}">
                        <a16:creationId xmlns:a16="http://schemas.microsoft.com/office/drawing/2014/main" id="{875DA07E-C594-42AE-8412-7DCFD5BF2A06}"/>
                      </a:ext>
                    </a:extLst>
                  </p:cNvPr>
                  <p:cNvSpPr/>
                  <p:nvPr/>
                </p:nvSpPr>
                <p:spPr>
                  <a:xfrm>
                    <a:off x="5858713" y="4109214"/>
                    <a:ext cx="3627087" cy="1872000"/>
                  </a:xfrm>
                  <a:prstGeom prst="round1Rect">
                    <a:avLst>
                      <a:gd name="adj" fmla="val 0"/>
                    </a:avLst>
                  </a:prstGeom>
                  <a:solidFill>
                    <a:schemeClr val="accent2">
                      <a:lumMod val="75000"/>
                    </a:schemeClr>
                  </a:solidFill>
                  <a:ln w="12700" cap="flat" cmpd="sng" algn="ctr">
                    <a:solidFill>
                      <a:schemeClr val="accent2">
                        <a:lumMod val="75000"/>
                      </a:schemeClr>
                    </a:solidFill>
                    <a:prstDash val="solid"/>
                    <a:miter lim="800000"/>
                  </a:ln>
                  <a:effectLst/>
                  <a:scene3d>
                    <a:camera prst="orthographicFront">
                      <a:rot lat="3880299" lon="6639842" rev="6595252"/>
                    </a:camera>
                    <a:lightRig rig="balanced" dir="t"/>
                  </a:scene3d>
                  <a:sp3d prstMaterial="plastic">
                    <a:bevelT w="0" h="425450"/>
                  </a:sp3d>
                </p:spPr>
                <p:txBody>
                  <a:bodyPr rtlCol="0" anchor="ctr"/>
                  <a:lstStyle/>
                  <a:p>
                    <a:pPr marL="0" marR="0" lvl="0" indent="0" algn="ctr" defTabSz="4572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" name="TextBox 5">
                    <a:extLst>
                      <a:ext uri="{FF2B5EF4-FFF2-40B4-BE49-F238E27FC236}">
                        <a16:creationId xmlns:a16="http://schemas.microsoft.com/office/drawing/2014/main" id="{CB2DB17D-71F5-42F4-9A0A-5B6CDD1C1512}"/>
                      </a:ext>
                    </a:extLst>
                  </p:cNvPr>
                  <p:cNvSpPr txBox="1"/>
                  <p:nvPr/>
                </p:nvSpPr>
                <p:spPr>
                  <a:xfrm rot="120000">
                    <a:off x="6925087" y="5625387"/>
                    <a:ext cx="995785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defTabSz="4572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6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Unicode MS" panose="020B0604020202020204" pitchFamily="34" charset="-128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a:t>ITO/FTO</a:t>
                    </a:r>
                  </a:p>
                </p:txBody>
              </p:sp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22A95B66-75B6-45C2-B5FF-740D7D9E7DCE}"/>
                      </a:ext>
                    </a:extLst>
                  </p:cNvPr>
                  <p:cNvSpPr txBox="1"/>
                  <p:nvPr/>
                </p:nvSpPr>
                <p:spPr>
                  <a:xfrm>
                    <a:off x="7169545" y="5229698"/>
                    <a:ext cx="506870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IN" dirty="0"/>
                      <a:t>ETL</a:t>
                    </a:r>
                  </a:p>
                </p:txBody>
              </p:sp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E8AB31E9-BDE4-4240-BF90-F272D5434078}"/>
                      </a:ext>
                    </a:extLst>
                  </p:cNvPr>
                  <p:cNvSpPr txBox="1"/>
                  <p:nvPr/>
                </p:nvSpPr>
                <p:spPr>
                  <a:xfrm>
                    <a:off x="6498116" y="4781921"/>
                    <a:ext cx="19911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IN" dirty="0"/>
                      <a:t>Perovskite thin film</a:t>
                    </a:r>
                  </a:p>
                </p:txBody>
              </p:sp>
              <p:grpSp>
                <p:nvGrpSpPr>
                  <p:cNvPr id="75" name="Group 74">
                    <a:extLst>
                      <a:ext uri="{FF2B5EF4-FFF2-40B4-BE49-F238E27FC236}">
                        <a16:creationId xmlns:a16="http://schemas.microsoft.com/office/drawing/2014/main" id="{729B3202-C080-4938-973E-E6A89BB6928A}"/>
                      </a:ext>
                    </a:extLst>
                  </p:cNvPr>
                  <p:cNvGrpSpPr/>
                  <p:nvPr/>
                </p:nvGrpSpPr>
                <p:grpSpPr>
                  <a:xfrm>
                    <a:off x="5513629" y="3421312"/>
                    <a:ext cx="4231148" cy="2143355"/>
                    <a:chOff x="1854864" y="1543183"/>
                    <a:chExt cx="4231148" cy="2143355"/>
                  </a:xfrm>
                </p:grpSpPr>
                <p:sp>
                  <p:nvSpPr>
                    <p:cNvPr id="8" name="Rectangle: Single Corner Rounded 7">
                      <a:extLst>
                        <a:ext uri="{FF2B5EF4-FFF2-40B4-BE49-F238E27FC236}">
                          <a16:creationId xmlns:a16="http://schemas.microsoft.com/office/drawing/2014/main" id="{F84D1CBA-13C8-4372-8756-C53DB66BB6D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29411" y="1804512"/>
                      <a:ext cx="3600000" cy="1882026"/>
                    </a:xfrm>
                    <a:prstGeom prst="round1Rect">
                      <a:avLst>
                        <a:gd name="adj" fmla="val 0"/>
                      </a:avLst>
                    </a:prstGeom>
                    <a:solidFill>
                      <a:srgbClr val="00FF00">
                        <a:alpha val="98824"/>
                      </a:srgbClr>
                    </a:solidFill>
                    <a:ln w="12700" cap="flat" cmpd="sng" algn="ctr">
                      <a:solidFill>
                        <a:srgbClr val="00FF00"/>
                      </a:solidFill>
                      <a:prstDash val="solid"/>
                      <a:miter lim="800000"/>
                    </a:ln>
                    <a:effectLst/>
                    <a:scene3d>
                      <a:camera prst="orthographicFront">
                        <a:rot lat="3880299" lon="6639842" rev="6595252"/>
                      </a:camera>
                      <a:lightRig rig="balanced" dir="t"/>
                    </a:scene3d>
                    <a:sp3d prstMaterial="softEdge">
                      <a:bevelT w="0" h="285750"/>
                    </a:sp3d>
                  </p:spPr>
                  <p:txBody>
                    <a:bodyPr rtlCol="0" anchor="ctr"/>
                    <a:lstStyle/>
                    <a:p>
                      <a:pPr marL="0" marR="0" lvl="0" indent="0" algn="ctr" defTabSz="4572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grpSp>
                  <p:nvGrpSpPr>
                    <p:cNvPr id="74" name="Group 73">
                      <a:extLst>
                        <a:ext uri="{FF2B5EF4-FFF2-40B4-BE49-F238E27FC236}">
                          <a16:creationId xmlns:a16="http://schemas.microsoft.com/office/drawing/2014/main" id="{8654046B-E77D-427B-A21F-46FAB533189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854864" y="1543183"/>
                      <a:ext cx="4231148" cy="1800000"/>
                      <a:chOff x="1869903" y="1515456"/>
                      <a:chExt cx="4231148" cy="1800000"/>
                    </a:xfrm>
                  </p:grpSpPr>
                  <p:sp>
                    <p:nvSpPr>
                      <p:cNvPr id="13" name="TextBox 12">
                        <a:extLst>
                          <a:ext uri="{FF2B5EF4-FFF2-40B4-BE49-F238E27FC236}">
                            <a16:creationId xmlns:a16="http://schemas.microsoft.com/office/drawing/2014/main" id="{F1159DC1-1E3C-48C2-9E69-95C1B3B7B095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517066" y="2104830"/>
                        <a:ext cx="763351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IN" dirty="0"/>
                          <a:t>Au/Ag</a:t>
                        </a:r>
                      </a:p>
                    </p:txBody>
                  </p:sp>
                  <p:sp>
                    <p:nvSpPr>
                      <p:cNvPr id="73" name="Rectangle: Single Corner Rounded 72">
                        <a:extLst>
                          <a:ext uri="{FF2B5EF4-FFF2-40B4-BE49-F238E27FC236}">
                            <a16:creationId xmlns:a16="http://schemas.microsoft.com/office/drawing/2014/main" id="{3FABE0D3-1795-455A-B7A1-D2C0B5B19BA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228198" y="1515456"/>
                        <a:ext cx="3600000" cy="1800000"/>
                      </a:xfrm>
                      <a:prstGeom prst="round1Rect">
                        <a:avLst>
                          <a:gd name="adj" fmla="val 0"/>
                        </a:avLst>
                      </a:prstGeom>
                      <a:solidFill>
                        <a:srgbClr val="FF0000"/>
                      </a:solidFill>
                      <a:ln w="12700" cap="flat" cmpd="sng" algn="ctr">
                        <a:solidFill>
                          <a:srgbClr val="FF0000"/>
                        </a:solidFill>
                        <a:prstDash val="solid"/>
                        <a:miter lim="800000"/>
                      </a:ln>
                      <a:effectLst/>
                      <a:scene3d>
                        <a:camera prst="orthographicFront">
                          <a:rot lat="3880299" lon="6639842" rev="6595252"/>
                        </a:camera>
                        <a:lightRig rig="harsh" dir="t">
                          <a:rot lat="0" lon="0" rev="21594000"/>
                        </a:lightRig>
                      </a:scene3d>
                      <a:sp3d prstMaterial="powder">
                        <a:bevelT w="0" h="139700"/>
                      </a:sp3d>
                    </p:spPr>
                    <p:txBody>
                      <a:bodyPr rtlCol="0" anchor="ctr"/>
                      <a:lstStyle/>
                      <a:p>
                        <a:pPr marL="0" marR="0" lvl="0" indent="0" algn="ctr" defTabSz="4572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p:txBody>
                  </p:sp>
                  <p:grpSp>
                    <p:nvGrpSpPr>
                      <p:cNvPr id="16" name="Group 15">
                        <a:extLst>
                          <a:ext uri="{FF2B5EF4-FFF2-40B4-BE49-F238E27FC236}">
                            <a16:creationId xmlns:a16="http://schemas.microsoft.com/office/drawing/2014/main" id="{90E9446E-8B46-410F-AF58-282C740D8E4C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869903" y="2358785"/>
                        <a:ext cx="3451144" cy="569167"/>
                        <a:chOff x="1294859" y="1918772"/>
                        <a:chExt cx="3354445" cy="569167"/>
                      </a:xfrm>
                    </p:grpSpPr>
                    <p:cxnSp>
                      <p:nvCxnSpPr>
                        <p:cNvPr id="33" name="Straight Connector 32">
                          <a:extLst>
                            <a:ext uri="{FF2B5EF4-FFF2-40B4-BE49-F238E27FC236}">
                              <a16:creationId xmlns:a16="http://schemas.microsoft.com/office/drawing/2014/main" id="{C375959B-27FC-49C5-9808-211D2C440B9E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1301363" y="1927158"/>
                          <a:ext cx="3338315" cy="145715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34" name="Straight Connector 33">
                          <a:extLst>
                            <a:ext uri="{FF2B5EF4-FFF2-40B4-BE49-F238E27FC236}">
                              <a16:creationId xmlns:a16="http://schemas.microsoft.com/office/drawing/2014/main" id="{B1B39755-D918-4B7F-9BBD-213C6DAA7D33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1307351" y="2043083"/>
                          <a:ext cx="3328023" cy="145253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35" name="Straight Connector 34">
                          <a:extLst>
                            <a:ext uri="{FF2B5EF4-FFF2-40B4-BE49-F238E27FC236}">
                              <a16:creationId xmlns:a16="http://schemas.microsoft.com/office/drawing/2014/main" id="{445956F3-D753-4257-92F2-C7D3F7963420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1301363" y="2128160"/>
                          <a:ext cx="3347941" cy="168225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36" name="Straight Connector 35">
                          <a:extLst>
                            <a:ext uri="{FF2B5EF4-FFF2-40B4-BE49-F238E27FC236}">
                              <a16:creationId xmlns:a16="http://schemas.microsoft.com/office/drawing/2014/main" id="{D5E6189C-ECB6-4A63-92C7-A527E435C12E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1294859" y="2227840"/>
                          <a:ext cx="3344470" cy="166734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37" name="Straight Connector 36">
                          <a:extLst>
                            <a:ext uri="{FF2B5EF4-FFF2-40B4-BE49-F238E27FC236}">
                              <a16:creationId xmlns:a16="http://schemas.microsoft.com/office/drawing/2014/main" id="{6338DBB8-0387-4F54-8969-2571493F39A2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1306958" y="2313548"/>
                          <a:ext cx="3326539" cy="168225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38" name="Straight Connector 37">
                          <a:extLst>
                            <a:ext uri="{FF2B5EF4-FFF2-40B4-BE49-F238E27FC236}">
                              <a16:creationId xmlns:a16="http://schemas.microsoft.com/office/drawing/2014/main" id="{D1CBC0A1-40BE-4F69-B64E-4AEA18C66A05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>
                          <a:off x="1304592" y="1918772"/>
                          <a:ext cx="1873" cy="399508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39" name="Straight Connector 38">
                          <a:extLst>
                            <a:ext uri="{FF2B5EF4-FFF2-40B4-BE49-F238E27FC236}">
                              <a16:creationId xmlns:a16="http://schemas.microsoft.com/office/drawing/2014/main" id="{2F35D086-7413-40EA-A519-E4AC9BE91DC8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>
                          <a:off x="1490594" y="1935772"/>
                          <a:ext cx="6946" cy="395428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40" name="Straight Connector 39">
                          <a:extLst>
                            <a:ext uri="{FF2B5EF4-FFF2-40B4-BE49-F238E27FC236}">
                              <a16:creationId xmlns:a16="http://schemas.microsoft.com/office/drawing/2014/main" id="{6615BA87-32CF-43E9-9168-5F29E01487EC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>
                          <a:off x="1598155" y="1935772"/>
                          <a:ext cx="11150" cy="387488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41" name="Straight Connector 40">
                          <a:extLst>
                            <a:ext uri="{FF2B5EF4-FFF2-40B4-BE49-F238E27FC236}">
                              <a16:creationId xmlns:a16="http://schemas.microsoft.com/office/drawing/2014/main" id="{098E2520-8E51-4016-8E1B-B5D5C8452D84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>
                          <a:off x="1695349" y="1949629"/>
                          <a:ext cx="14644" cy="378669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42" name="Straight Connector 41">
                          <a:extLst>
                            <a:ext uri="{FF2B5EF4-FFF2-40B4-BE49-F238E27FC236}">
                              <a16:creationId xmlns:a16="http://schemas.microsoft.com/office/drawing/2014/main" id="{2FA1E370-9040-4D96-98EA-FE418D60DB51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>
                          <a:off x="1903796" y="1949629"/>
                          <a:ext cx="6775" cy="393119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43" name="Straight Connector 42">
                          <a:extLst>
                            <a:ext uri="{FF2B5EF4-FFF2-40B4-BE49-F238E27FC236}">
                              <a16:creationId xmlns:a16="http://schemas.microsoft.com/office/drawing/2014/main" id="{5BC70E3D-09C9-4FA0-B316-3A27C761B3ED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>
                          <a:off x="1805899" y="1949629"/>
                          <a:ext cx="18024" cy="383101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44" name="Straight Connector 43">
                          <a:extLst>
                            <a:ext uri="{FF2B5EF4-FFF2-40B4-BE49-F238E27FC236}">
                              <a16:creationId xmlns:a16="http://schemas.microsoft.com/office/drawing/2014/main" id="{AB22E565-32D6-40AA-9C13-72E40145A473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>
                          <a:off x="1991033" y="1949629"/>
                          <a:ext cx="19832" cy="404077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45" name="Straight Connector 44">
                          <a:extLst>
                            <a:ext uri="{FF2B5EF4-FFF2-40B4-BE49-F238E27FC236}">
                              <a16:creationId xmlns:a16="http://schemas.microsoft.com/office/drawing/2014/main" id="{06B2E450-029E-4A72-9BFF-7D375D49C955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>
                          <a:off x="2095515" y="1971196"/>
                          <a:ext cx="15065" cy="382510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46" name="Straight Connector 45">
                          <a:extLst>
                            <a:ext uri="{FF2B5EF4-FFF2-40B4-BE49-F238E27FC236}">
                              <a16:creationId xmlns:a16="http://schemas.microsoft.com/office/drawing/2014/main" id="{3F0D7C37-AF04-429F-A5E6-D25C5A635204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>
                          <a:off x="2198938" y="1967941"/>
                          <a:ext cx="14626" cy="397313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47" name="Straight Connector 46">
                          <a:extLst>
                            <a:ext uri="{FF2B5EF4-FFF2-40B4-BE49-F238E27FC236}">
                              <a16:creationId xmlns:a16="http://schemas.microsoft.com/office/drawing/2014/main" id="{7E5A304E-3648-4B46-A729-DF7EEA5399A1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>
                          <a:off x="2398140" y="1979194"/>
                          <a:ext cx="11739" cy="395167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48" name="Straight Connector 47">
                          <a:extLst>
                            <a:ext uri="{FF2B5EF4-FFF2-40B4-BE49-F238E27FC236}">
                              <a16:creationId xmlns:a16="http://schemas.microsoft.com/office/drawing/2014/main" id="{08548FD6-92CC-4EC4-A9A1-2E33C9F873A5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>
                          <a:off x="2296753" y="1979194"/>
                          <a:ext cx="12901" cy="386060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49" name="Straight Connector 48">
                          <a:extLst>
                            <a:ext uri="{FF2B5EF4-FFF2-40B4-BE49-F238E27FC236}">
                              <a16:creationId xmlns:a16="http://schemas.microsoft.com/office/drawing/2014/main" id="{893EFF66-18D6-40E1-919B-1737CCC6B10B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>
                          <a:off x="2499038" y="1979194"/>
                          <a:ext cx="11381" cy="395167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50" name="Straight Connector 49">
                          <a:extLst>
                            <a:ext uri="{FF2B5EF4-FFF2-40B4-BE49-F238E27FC236}">
                              <a16:creationId xmlns:a16="http://schemas.microsoft.com/office/drawing/2014/main" id="{F1367B5E-18DC-40AA-8592-C44C372E7018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>
                          <a:off x="2589743" y="1976455"/>
                          <a:ext cx="14207" cy="397906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51" name="Straight Connector 50">
                          <a:extLst>
                            <a:ext uri="{FF2B5EF4-FFF2-40B4-BE49-F238E27FC236}">
                              <a16:creationId xmlns:a16="http://schemas.microsoft.com/office/drawing/2014/main" id="{318BCF19-74E9-45A0-A07D-8DF8437E0D79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>
                          <a:off x="2787881" y="1994304"/>
                          <a:ext cx="9054" cy="392806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52" name="Straight Connector 51">
                          <a:extLst>
                            <a:ext uri="{FF2B5EF4-FFF2-40B4-BE49-F238E27FC236}">
                              <a16:creationId xmlns:a16="http://schemas.microsoft.com/office/drawing/2014/main" id="{EB16B1BF-B47B-4D90-BC53-7C4256E3B263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>
                          <a:off x="2689663" y="1993371"/>
                          <a:ext cx="9347" cy="393739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53" name="Straight Connector 52">
                          <a:extLst>
                            <a:ext uri="{FF2B5EF4-FFF2-40B4-BE49-F238E27FC236}">
                              <a16:creationId xmlns:a16="http://schemas.microsoft.com/office/drawing/2014/main" id="{2C4D76EA-5174-4F77-90BF-A2C9F3ED987C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>
                          <a:off x="2892727" y="1996373"/>
                          <a:ext cx="8932" cy="398619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54" name="Straight Connector 53">
                          <a:extLst>
                            <a:ext uri="{FF2B5EF4-FFF2-40B4-BE49-F238E27FC236}">
                              <a16:creationId xmlns:a16="http://schemas.microsoft.com/office/drawing/2014/main" id="{C2894D5D-1DFB-44E1-A0C6-CAA9C82D781D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>
                          <a:off x="2988420" y="1996373"/>
                          <a:ext cx="10476" cy="413513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55" name="Straight Connector 54">
                          <a:extLst>
                            <a:ext uri="{FF2B5EF4-FFF2-40B4-BE49-F238E27FC236}">
                              <a16:creationId xmlns:a16="http://schemas.microsoft.com/office/drawing/2014/main" id="{B5A52557-7B6B-4118-AE29-50E26631FABA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>
                          <a:off x="3087274" y="2003742"/>
                          <a:ext cx="10003" cy="406144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56" name="Straight Connector 55">
                          <a:extLst>
                            <a:ext uri="{FF2B5EF4-FFF2-40B4-BE49-F238E27FC236}">
                              <a16:creationId xmlns:a16="http://schemas.microsoft.com/office/drawing/2014/main" id="{59458DF9-4F1F-4ACD-B191-C58B2C5A45B7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>
                          <a:off x="3284228" y="2009922"/>
                          <a:ext cx="11911" cy="399964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57" name="Straight Connector 56">
                          <a:extLst>
                            <a:ext uri="{FF2B5EF4-FFF2-40B4-BE49-F238E27FC236}">
                              <a16:creationId xmlns:a16="http://schemas.microsoft.com/office/drawing/2014/main" id="{78D4288B-A4D5-425C-AC18-1958B943F17A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>
                          <a:off x="3181363" y="2009922"/>
                          <a:ext cx="12147" cy="399964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58" name="Straight Connector 57">
                          <a:extLst>
                            <a:ext uri="{FF2B5EF4-FFF2-40B4-BE49-F238E27FC236}">
                              <a16:creationId xmlns:a16="http://schemas.microsoft.com/office/drawing/2014/main" id="{21D24BF6-F4B7-4421-ACE4-9187E685E0FB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>
                          <a:off x="3383635" y="2026279"/>
                          <a:ext cx="13410" cy="399877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59" name="Straight Connector 58">
                          <a:extLst>
                            <a:ext uri="{FF2B5EF4-FFF2-40B4-BE49-F238E27FC236}">
                              <a16:creationId xmlns:a16="http://schemas.microsoft.com/office/drawing/2014/main" id="{FBEC7758-94CD-4B57-89B1-0A9FD50C6BC1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>
                          <a:off x="3483482" y="2032958"/>
                          <a:ext cx="10499" cy="392742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60" name="Straight Connector 59">
                          <a:extLst>
                            <a:ext uri="{FF2B5EF4-FFF2-40B4-BE49-F238E27FC236}">
                              <a16:creationId xmlns:a16="http://schemas.microsoft.com/office/drawing/2014/main" id="{3FD341BA-D684-43A6-A67F-7E2CBA913A39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>
                          <a:off x="3573415" y="2033601"/>
                          <a:ext cx="17641" cy="392099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61" name="Straight Connector 60">
                          <a:extLst>
                            <a:ext uri="{FF2B5EF4-FFF2-40B4-BE49-F238E27FC236}">
                              <a16:creationId xmlns:a16="http://schemas.microsoft.com/office/drawing/2014/main" id="{65A005AD-28B4-4B49-8742-4195145F4E1D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>
                          <a:off x="3786192" y="2047249"/>
                          <a:ext cx="15940" cy="400714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62" name="Straight Connector 61">
                          <a:extLst>
                            <a:ext uri="{FF2B5EF4-FFF2-40B4-BE49-F238E27FC236}">
                              <a16:creationId xmlns:a16="http://schemas.microsoft.com/office/drawing/2014/main" id="{8B5FF3DD-FCA2-4987-828F-1EE5CB83E178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>
                          <a:off x="3679485" y="2032799"/>
                          <a:ext cx="14489" cy="392901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63" name="Straight Connector 62">
                          <a:extLst>
                            <a:ext uri="{FF2B5EF4-FFF2-40B4-BE49-F238E27FC236}">
                              <a16:creationId xmlns:a16="http://schemas.microsoft.com/office/drawing/2014/main" id="{FA4D3B5B-4C1B-4751-A4DB-CEDE0E82E810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>
                          <a:off x="3889467" y="2053429"/>
                          <a:ext cx="8885" cy="394534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64" name="Straight Connector 63">
                          <a:extLst>
                            <a:ext uri="{FF2B5EF4-FFF2-40B4-BE49-F238E27FC236}">
                              <a16:creationId xmlns:a16="http://schemas.microsoft.com/office/drawing/2014/main" id="{AEF2FDEC-9D6E-4B53-AE5B-3FAB7511076F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>
                          <a:off x="3990334" y="2053759"/>
                          <a:ext cx="4954" cy="394204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65" name="Straight Connector 64">
                          <a:extLst>
                            <a:ext uri="{FF2B5EF4-FFF2-40B4-BE49-F238E27FC236}">
                              <a16:creationId xmlns:a16="http://schemas.microsoft.com/office/drawing/2014/main" id="{08CB262F-E3ED-4E7F-8301-F79B18D16809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>
                          <a:off x="4098890" y="2053759"/>
                          <a:ext cx="12408" cy="394204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66" name="Straight Connector 65">
                          <a:extLst>
                            <a:ext uri="{FF2B5EF4-FFF2-40B4-BE49-F238E27FC236}">
                              <a16:creationId xmlns:a16="http://schemas.microsoft.com/office/drawing/2014/main" id="{2A59EDA7-A1DF-46DA-9DA6-81E9B2BC76E0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>
                          <a:off x="4320518" y="2066337"/>
                          <a:ext cx="13976" cy="410490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67" name="Straight Connector 66">
                          <a:extLst>
                            <a:ext uri="{FF2B5EF4-FFF2-40B4-BE49-F238E27FC236}">
                              <a16:creationId xmlns:a16="http://schemas.microsoft.com/office/drawing/2014/main" id="{05D8656B-1079-4F42-9370-15CDEE0DD797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>
                          <a:off x="4209946" y="2053759"/>
                          <a:ext cx="10537" cy="416328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68" name="Straight Connector 67">
                          <a:extLst>
                            <a:ext uri="{FF2B5EF4-FFF2-40B4-BE49-F238E27FC236}">
                              <a16:creationId xmlns:a16="http://schemas.microsoft.com/office/drawing/2014/main" id="{D0F17C72-3A87-4906-84DB-93CE1FA1EB0A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>
                          <a:off x="4417224" y="2069555"/>
                          <a:ext cx="11913" cy="418384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69" name="Straight Connector 68">
                          <a:extLst>
                            <a:ext uri="{FF2B5EF4-FFF2-40B4-BE49-F238E27FC236}">
                              <a16:creationId xmlns:a16="http://schemas.microsoft.com/office/drawing/2014/main" id="{27F90285-6E32-45F7-829C-9AE3D6DE772E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4524657" y="2075935"/>
                          <a:ext cx="1" cy="400892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70" name="Straight Connector 69">
                          <a:extLst>
                            <a:ext uri="{FF2B5EF4-FFF2-40B4-BE49-F238E27FC236}">
                              <a16:creationId xmlns:a16="http://schemas.microsoft.com/office/drawing/2014/main" id="{7579E4D0-2523-420D-9F44-5EAD94CB007A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4636261" y="2071285"/>
                          <a:ext cx="2554" cy="416654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  <p:grpSp>
                    <p:nvGrpSpPr>
                      <p:cNvPr id="17" name="Group 16">
                        <a:extLst>
                          <a:ext uri="{FF2B5EF4-FFF2-40B4-BE49-F238E27FC236}">
                            <a16:creationId xmlns:a16="http://schemas.microsoft.com/office/drawing/2014/main" id="{38C1D31D-070C-4C0B-86E2-40BFE3E226FF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304159" y="2244255"/>
                        <a:ext cx="796892" cy="685226"/>
                        <a:chOff x="4607588" y="1775111"/>
                        <a:chExt cx="782098" cy="685226"/>
                      </a:xfrm>
                    </p:grpSpPr>
                    <p:cxnSp>
                      <p:nvCxnSpPr>
                        <p:cNvPr id="18" name="Straight Connector 17">
                          <a:extLst>
                            <a:ext uri="{FF2B5EF4-FFF2-40B4-BE49-F238E27FC236}">
                              <a16:creationId xmlns:a16="http://schemas.microsoft.com/office/drawing/2014/main" id="{4CA47AFB-E896-4696-873D-1AC643776966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V="1">
                          <a:off x="4610474" y="1775111"/>
                          <a:ext cx="769084" cy="273055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9" name="Straight Connector 18">
                          <a:extLst>
                            <a:ext uri="{FF2B5EF4-FFF2-40B4-BE49-F238E27FC236}">
                              <a16:creationId xmlns:a16="http://schemas.microsoft.com/office/drawing/2014/main" id="{518AAF83-D5F0-4842-A677-86F44A5276DB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V="1">
                          <a:off x="4616361" y="1895015"/>
                          <a:ext cx="773325" cy="272112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20" name="Straight Connector 19">
                          <a:extLst>
                            <a:ext uri="{FF2B5EF4-FFF2-40B4-BE49-F238E27FC236}">
                              <a16:creationId xmlns:a16="http://schemas.microsoft.com/office/drawing/2014/main" id="{1A566CBA-C167-4D26-8BBA-5BCF94D34784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V="1">
                          <a:off x="4621345" y="1992926"/>
                          <a:ext cx="746514" cy="273825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21" name="Straight Connector 20">
                          <a:extLst>
                            <a:ext uri="{FF2B5EF4-FFF2-40B4-BE49-F238E27FC236}">
                              <a16:creationId xmlns:a16="http://schemas.microsoft.com/office/drawing/2014/main" id="{BCE59B15-6A9F-4D9C-9123-DE0A0E0CD7CB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V="1">
                          <a:off x="4620827" y="2085543"/>
                          <a:ext cx="768859" cy="277179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22" name="Straight Connector 21">
                          <a:extLst>
                            <a:ext uri="{FF2B5EF4-FFF2-40B4-BE49-F238E27FC236}">
                              <a16:creationId xmlns:a16="http://schemas.microsoft.com/office/drawing/2014/main" id="{F8C6C3B7-6288-4427-8208-3C30C6C5FF24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4711832" y="2026902"/>
                          <a:ext cx="0" cy="419012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>
                              <a:alpha val="90000"/>
                            </a:schemeClr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23" name="Straight Connector 22">
                          <a:extLst>
                            <a:ext uri="{FF2B5EF4-FFF2-40B4-BE49-F238E27FC236}">
                              <a16:creationId xmlns:a16="http://schemas.microsoft.com/office/drawing/2014/main" id="{1C83ACD8-EF65-4A1F-8BBB-33FD382EDC00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4788965" y="1997075"/>
                          <a:ext cx="0" cy="419264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>
                              <a:alpha val="90000"/>
                            </a:schemeClr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24" name="Straight Connector 23">
                          <a:extLst>
                            <a:ext uri="{FF2B5EF4-FFF2-40B4-BE49-F238E27FC236}">
                              <a16:creationId xmlns:a16="http://schemas.microsoft.com/office/drawing/2014/main" id="{98E558FB-568D-43E4-BF0D-9332BBB2C083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4872498" y="1971797"/>
                          <a:ext cx="0" cy="410911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>
                              <a:alpha val="90000"/>
                            </a:schemeClr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25" name="Straight Connector 24">
                          <a:extLst>
                            <a:ext uri="{FF2B5EF4-FFF2-40B4-BE49-F238E27FC236}">
                              <a16:creationId xmlns:a16="http://schemas.microsoft.com/office/drawing/2014/main" id="{629B8626-3AD2-407C-9141-2DCBADD06663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>
                          <a:off x="4946586" y="1946595"/>
                          <a:ext cx="1923" cy="419264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26" name="Straight Connector 25">
                          <a:extLst>
                            <a:ext uri="{FF2B5EF4-FFF2-40B4-BE49-F238E27FC236}">
                              <a16:creationId xmlns:a16="http://schemas.microsoft.com/office/drawing/2014/main" id="{AA7B5131-1BB3-4D64-9A00-28AC4CA754AA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5016465" y="1917020"/>
                          <a:ext cx="0" cy="419264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>
                              <a:alpha val="88000"/>
                            </a:schemeClr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27" name="Straight Connector 26">
                          <a:extLst>
                            <a:ext uri="{FF2B5EF4-FFF2-40B4-BE49-F238E27FC236}">
                              <a16:creationId xmlns:a16="http://schemas.microsoft.com/office/drawing/2014/main" id="{E51BED3D-1771-4E7A-B8BD-C56BC75343EE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5085369" y="1891519"/>
                          <a:ext cx="2064" cy="417031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28" name="Straight Connector 27">
                          <a:extLst>
                            <a:ext uri="{FF2B5EF4-FFF2-40B4-BE49-F238E27FC236}">
                              <a16:creationId xmlns:a16="http://schemas.microsoft.com/office/drawing/2014/main" id="{307AA83A-7760-4B01-83A5-F7C177A81E24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5158442" y="1863400"/>
                          <a:ext cx="0" cy="430400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>
                              <a:alpha val="90000"/>
                            </a:schemeClr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29" name="Straight Connector 28">
                          <a:extLst>
                            <a:ext uri="{FF2B5EF4-FFF2-40B4-BE49-F238E27FC236}">
                              <a16:creationId xmlns:a16="http://schemas.microsoft.com/office/drawing/2014/main" id="{5BFD1E3A-9B24-4BD2-ACF2-C42C1A8220CF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5231947" y="1835550"/>
                          <a:ext cx="0" cy="423449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>
                              <a:alpha val="90000"/>
                            </a:schemeClr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30" name="Straight Connector 29">
                          <a:extLst>
                            <a:ext uri="{FF2B5EF4-FFF2-40B4-BE49-F238E27FC236}">
                              <a16:creationId xmlns:a16="http://schemas.microsoft.com/office/drawing/2014/main" id="{67CE4E87-F4A1-4A10-9B78-55EAA076561A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5305001" y="1810272"/>
                          <a:ext cx="5132" cy="422291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>
                              <a:alpha val="90000"/>
                            </a:schemeClr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31" name="Straight Connector 30">
                          <a:extLst>
                            <a:ext uri="{FF2B5EF4-FFF2-40B4-BE49-F238E27FC236}">
                              <a16:creationId xmlns:a16="http://schemas.microsoft.com/office/drawing/2014/main" id="{F28188E3-301A-49BA-B31B-23B7E9778781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5374628" y="1780273"/>
                          <a:ext cx="9862" cy="414403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32" name="Straight Connector 31">
                          <a:extLst>
                            <a:ext uri="{FF2B5EF4-FFF2-40B4-BE49-F238E27FC236}">
                              <a16:creationId xmlns:a16="http://schemas.microsoft.com/office/drawing/2014/main" id="{8064E86F-1DEA-4777-B50B-6BB28644BB6D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V="1">
                          <a:off x="4607588" y="2181697"/>
                          <a:ext cx="772109" cy="278640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</p:grpSp>
              </p:grpSp>
              <p:sp>
                <p:nvSpPr>
                  <p:cNvPr id="72" name="Rectangle: Single Corner Rounded 71">
                    <a:extLst>
                      <a:ext uri="{FF2B5EF4-FFF2-40B4-BE49-F238E27FC236}">
                        <a16:creationId xmlns:a16="http://schemas.microsoft.com/office/drawing/2014/main" id="{4DE10ABA-C8E1-4FFF-99AE-9009BBBD8F25}"/>
                      </a:ext>
                    </a:extLst>
                  </p:cNvPr>
                  <p:cNvSpPr/>
                  <p:nvPr/>
                </p:nvSpPr>
                <p:spPr>
                  <a:xfrm>
                    <a:off x="5883664" y="3260841"/>
                    <a:ext cx="3600000" cy="1882026"/>
                  </a:xfrm>
                  <a:prstGeom prst="round1Rect">
                    <a:avLst>
                      <a:gd name="adj" fmla="val 0"/>
                    </a:avLst>
                  </a:prstGeom>
                  <a:solidFill>
                    <a:srgbClr val="FDC22F">
                      <a:alpha val="98824"/>
                    </a:srgbClr>
                  </a:solidFill>
                  <a:ln w="12700" cap="flat" cmpd="sng" algn="ctr">
                    <a:solidFill>
                      <a:srgbClr val="FF7619"/>
                    </a:solidFill>
                    <a:prstDash val="solid"/>
                    <a:miter lim="800000"/>
                  </a:ln>
                  <a:effectLst/>
                  <a:scene3d>
                    <a:camera prst="orthographicFront">
                      <a:rot lat="3880299" lon="6639842" rev="6595252"/>
                    </a:camera>
                    <a:lightRig rig="balanced" dir="t"/>
                  </a:scene3d>
                  <a:sp3d prstMaterial="softEdge">
                    <a:bevelT w="0" h="285750"/>
                  </a:sp3d>
                </p:spPr>
                <p:txBody>
                  <a:bodyPr rtlCol="0" anchor="ctr"/>
                  <a:lstStyle/>
                  <a:p>
                    <a:pPr marL="0" marR="0" lvl="0" indent="0" algn="ctr" defTabSz="4572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" name="Rectangle: Single Corner Rounded 8">
                    <a:extLst>
                      <a:ext uri="{FF2B5EF4-FFF2-40B4-BE49-F238E27FC236}">
                        <a16:creationId xmlns:a16="http://schemas.microsoft.com/office/drawing/2014/main" id="{4E2A1BE3-D5A7-4C80-B7CA-D44524C26B77}"/>
                      </a:ext>
                    </a:extLst>
                  </p:cNvPr>
                  <p:cNvSpPr/>
                  <p:nvPr/>
                </p:nvSpPr>
                <p:spPr>
                  <a:xfrm>
                    <a:off x="6176877" y="2967284"/>
                    <a:ext cx="3150172" cy="1882026"/>
                  </a:xfrm>
                  <a:prstGeom prst="round1Rect">
                    <a:avLst>
                      <a:gd name="adj" fmla="val 0"/>
                    </a:avLst>
                  </a:prstGeom>
                  <a:solidFill>
                    <a:schemeClr val="accent4">
                      <a:lumMod val="75000"/>
                    </a:schemeClr>
                  </a:solidFill>
                  <a:ln w="12700" cap="flat" cmpd="sng" algn="ctr">
                    <a:solidFill>
                      <a:srgbClr val="FFFF00"/>
                    </a:solidFill>
                    <a:prstDash val="solid"/>
                    <a:miter lim="800000"/>
                  </a:ln>
                  <a:effectLst/>
                  <a:scene3d>
                    <a:camera prst="orthographicFront">
                      <a:rot lat="3880299" lon="6639842" rev="6595252"/>
                    </a:camera>
                    <a:lightRig rig="harsh" dir="t">
                      <a:rot lat="0" lon="0" rev="21594000"/>
                    </a:lightRig>
                  </a:scene3d>
                  <a:sp3d prstMaterial="powder">
                    <a:bevelT w="0" h="139700"/>
                  </a:sp3d>
                </p:spPr>
                <p:txBody>
                  <a:bodyPr rtlCol="0" anchor="ctr"/>
                  <a:lstStyle/>
                  <a:p>
                    <a:pPr marL="0" marR="0" lvl="0" indent="0" algn="ctr" defTabSz="4572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BFF2A433-E0F7-4588-9E72-113C46CBC24E}"/>
                      </a:ext>
                    </a:extLst>
                  </p:cNvPr>
                  <p:cNvSpPr txBox="1"/>
                  <p:nvPr/>
                </p:nvSpPr>
                <p:spPr>
                  <a:xfrm>
                    <a:off x="6677332" y="4326859"/>
                    <a:ext cx="1643270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IN" b="1" dirty="0"/>
                      <a:t>Perovsk</a:t>
                    </a:r>
                    <a:r>
                      <a:rPr lang="en-IN" dirty="0"/>
                      <a:t>ite NC’s</a:t>
                    </a:r>
                  </a:p>
                </p:txBody>
              </p:sp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705DDCD2-0484-4FCF-B2E3-7BFD8F42F3E2}"/>
                      </a:ext>
                    </a:extLst>
                  </p:cNvPr>
                  <p:cNvSpPr txBox="1"/>
                  <p:nvPr/>
                </p:nvSpPr>
                <p:spPr>
                  <a:xfrm>
                    <a:off x="7213033" y="3956756"/>
                    <a:ext cx="538930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IN" dirty="0"/>
                      <a:t>HTL</a:t>
                    </a:r>
                  </a:p>
                </p:txBody>
              </p:sp>
              <p:sp>
                <p:nvSpPr>
                  <p:cNvPr id="85" name="TextBox 84">
                    <a:extLst>
                      <a:ext uri="{FF2B5EF4-FFF2-40B4-BE49-F238E27FC236}">
                        <a16:creationId xmlns:a16="http://schemas.microsoft.com/office/drawing/2014/main" id="{42E3EC29-D4B6-48D3-BD56-F80070C842F4}"/>
                      </a:ext>
                    </a:extLst>
                  </p:cNvPr>
                  <p:cNvSpPr txBox="1"/>
                  <p:nvPr/>
                </p:nvSpPr>
                <p:spPr>
                  <a:xfrm>
                    <a:off x="7190924" y="3585182"/>
                    <a:ext cx="76335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IN" dirty="0"/>
                      <a:t>Au/Ag</a:t>
                    </a:r>
                  </a:p>
                </p:txBody>
              </p:sp>
            </p:grpSp>
          </p:grpSp>
          <p:grpSp>
            <p:nvGrpSpPr>
              <p:cNvPr id="93" name="Group 92">
                <a:extLst>
                  <a:ext uri="{FF2B5EF4-FFF2-40B4-BE49-F238E27FC236}">
                    <a16:creationId xmlns:a16="http://schemas.microsoft.com/office/drawing/2014/main" id="{B44365EC-CD8C-4DC1-82FD-BE4B760B03E9}"/>
                  </a:ext>
                </a:extLst>
              </p:cNvPr>
              <p:cNvGrpSpPr/>
              <p:nvPr/>
            </p:nvGrpSpPr>
            <p:grpSpPr>
              <a:xfrm>
                <a:off x="1361101" y="2717416"/>
                <a:ext cx="4913290" cy="636627"/>
                <a:chOff x="2871877" y="2250589"/>
                <a:chExt cx="4913290" cy="636627"/>
              </a:xfrm>
            </p:grpSpPr>
            <p:sp>
              <p:nvSpPr>
                <p:cNvPr id="89" name="Rectangle: Single Corner Rounded 88">
                  <a:extLst>
                    <a:ext uri="{FF2B5EF4-FFF2-40B4-BE49-F238E27FC236}">
                      <a16:creationId xmlns:a16="http://schemas.microsoft.com/office/drawing/2014/main" id="{3CEFC51A-374B-4E54-A9CF-343AA781F412}"/>
                    </a:ext>
                  </a:extLst>
                </p:cNvPr>
                <p:cNvSpPr/>
                <p:nvPr/>
              </p:nvSpPr>
              <p:spPr>
                <a:xfrm>
                  <a:off x="2871877" y="2556477"/>
                  <a:ext cx="270182" cy="323945"/>
                </a:xfrm>
                <a:prstGeom prst="round1Rect">
                  <a:avLst>
                    <a:gd name="adj" fmla="val 0"/>
                  </a:avLst>
                </a:prstGeom>
                <a:solidFill>
                  <a:srgbClr val="00FF00"/>
                </a:solidFill>
                <a:ln w="12700" cap="flat" cmpd="sng" algn="ctr">
                  <a:solidFill>
                    <a:srgbClr val="33CC33"/>
                  </a:solidFill>
                  <a:prstDash val="solid"/>
                  <a:miter lim="800000"/>
                </a:ln>
                <a:effectLst/>
                <a:scene3d>
                  <a:camera prst="orthographicFront">
                    <a:rot lat="3880299" lon="6639842" rev="6595252"/>
                  </a:camera>
                  <a:lightRig rig="balanced" dir="t"/>
                </a:scene3d>
                <a:sp3d prstMaterial="softEdge">
                  <a:bevelT w="0" h="425450"/>
                </a:sp3d>
              </p:spPr>
              <p:txBody>
                <a:bodyPr rtlCol="0" anchor="ctr"/>
                <a:lstStyle/>
                <a:p>
                  <a:pPr marL="0" marR="0" lvl="0" indent="0" algn="ctr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F2FD36D9-7610-4942-B980-34BE6773686D}"/>
                    </a:ext>
                  </a:extLst>
                </p:cNvPr>
                <p:cNvSpPr txBox="1"/>
                <p:nvPr/>
              </p:nvSpPr>
              <p:spPr>
                <a:xfrm>
                  <a:off x="3352152" y="2250589"/>
                  <a:ext cx="180594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IN" dirty="0"/>
                    <a:t>Perovskite A NC’s</a:t>
                  </a:r>
                </a:p>
              </p:txBody>
            </p:sp>
            <p:sp>
              <p:nvSpPr>
                <p:cNvPr id="91" name="Rectangle: Single Corner Rounded 90">
                  <a:extLst>
                    <a:ext uri="{FF2B5EF4-FFF2-40B4-BE49-F238E27FC236}">
                      <a16:creationId xmlns:a16="http://schemas.microsoft.com/office/drawing/2014/main" id="{3677BD22-3A25-42D8-934F-A2A187645119}"/>
                    </a:ext>
                  </a:extLst>
                </p:cNvPr>
                <p:cNvSpPr/>
                <p:nvPr/>
              </p:nvSpPr>
              <p:spPr>
                <a:xfrm>
                  <a:off x="5568917" y="2563271"/>
                  <a:ext cx="270182" cy="323945"/>
                </a:xfrm>
                <a:prstGeom prst="round1Rect">
                  <a:avLst>
                    <a:gd name="adj" fmla="val 0"/>
                  </a:avLst>
                </a:prstGeom>
                <a:solidFill>
                  <a:srgbClr val="FF0000"/>
                </a:solidFill>
                <a:ln w="12700" cap="flat" cmpd="sng" algn="ctr">
                  <a:solidFill>
                    <a:srgbClr val="FF0000"/>
                  </a:solidFill>
                  <a:prstDash val="solid"/>
                  <a:miter lim="800000"/>
                </a:ln>
                <a:effectLst/>
                <a:scene3d>
                  <a:camera prst="orthographicFront">
                    <a:rot lat="3880299" lon="6639842" rev="6595252"/>
                  </a:camera>
                  <a:lightRig rig="balanced" dir="t"/>
                </a:scene3d>
                <a:sp3d prstMaterial="softEdge">
                  <a:bevelT w="0" h="425450"/>
                </a:sp3d>
              </p:spPr>
              <p:txBody>
                <a:bodyPr rtlCol="0" anchor="ctr"/>
                <a:lstStyle/>
                <a:p>
                  <a:pPr marL="0" marR="0" lvl="0" indent="0" algn="ctr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556C45C6-CF6A-4046-B912-4D6F13DB3C3D}"/>
                    </a:ext>
                  </a:extLst>
                </p:cNvPr>
                <p:cNvSpPr txBox="1"/>
                <p:nvPr/>
              </p:nvSpPr>
              <p:spPr>
                <a:xfrm>
                  <a:off x="5987239" y="2305070"/>
                  <a:ext cx="179792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IN" dirty="0"/>
                    <a:t>Perovskite B NC’s</a:t>
                  </a:r>
                </a:p>
              </p:txBody>
            </p:sp>
          </p:grp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DE4CB3C3-89FE-4E8D-AEE8-DFCA41578D22}"/>
                </a:ext>
              </a:extLst>
            </p:cNvPr>
            <p:cNvGrpSpPr/>
            <p:nvPr/>
          </p:nvGrpSpPr>
          <p:grpSpPr>
            <a:xfrm>
              <a:off x="7406620" y="591291"/>
              <a:ext cx="3496007" cy="5339119"/>
              <a:chOff x="7322212" y="1576028"/>
              <a:chExt cx="3496007" cy="5339119"/>
            </a:xfrm>
          </p:grpSpPr>
          <p:sp>
            <p:nvSpPr>
              <p:cNvPr id="95" name="Cube 94">
                <a:extLst>
                  <a:ext uri="{FF2B5EF4-FFF2-40B4-BE49-F238E27FC236}">
                    <a16:creationId xmlns:a16="http://schemas.microsoft.com/office/drawing/2014/main" id="{D7A7EAC4-1AEF-41B7-AD81-32BCF1F6406F}"/>
                  </a:ext>
                </a:extLst>
              </p:cNvPr>
              <p:cNvSpPr/>
              <p:nvPr/>
            </p:nvSpPr>
            <p:spPr>
              <a:xfrm flipH="1">
                <a:off x="9787245" y="2201050"/>
                <a:ext cx="809654" cy="2656213"/>
              </a:xfrm>
              <a:prstGeom prst="cube">
                <a:avLst/>
              </a:prstGeom>
              <a:solidFill>
                <a:srgbClr val="FFC000"/>
              </a:solidFill>
              <a:ln>
                <a:solidFill>
                  <a:srgbClr val="FF761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HTL</a:t>
                </a:r>
              </a:p>
            </p:txBody>
          </p:sp>
          <p:sp>
            <p:nvSpPr>
              <p:cNvPr id="111" name="Cube 110">
                <a:extLst>
                  <a:ext uri="{FF2B5EF4-FFF2-40B4-BE49-F238E27FC236}">
                    <a16:creationId xmlns:a16="http://schemas.microsoft.com/office/drawing/2014/main" id="{2D1EB9F2-A97F-45A9-BC3D-8538F5B6EDE4}"/>
                  </a:ext>
                </a:extLst>
              </p:cNvPr>
              <p:cNvSpPr/>
              <p:nvPr/>
            </p:nvSpPr>
            <p:spPr>
              <a:xfrm flipH="1">
                <a:off x="9160498" y="2528500"/>
                <a:ext cx="809654" cy="3144913"/>
              </a:xfrm>
              <a:prstGeom prst="cub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Pero B NC’s</a:t>
                </a:r>
              </a:p>
            </p:txBody>
          </p:sp>
          <p:sp>
            <p:nvSpPr>
              <p:cNvPr id="96" name="Cube 95">
                <a:extLst>
                  <a:ext uri="{FF2B5EF4-FFF2-40B4-BE49-F238E27FC236}">
                    <a16:creationId xmlns:a16="http://schemas.microsoft.com/office/drawing/2014/main" id="{9920444F-9F24-447C-A717-27CB3123BCF1}"/>
                  </a:ext>
                </a:extLst>
              </p:cNvPr>
              <p:cNvSpPr/>
              <p:nvPr/>
            </p:nvSpPr>
            <p:spPr>
              <a:xfrm flipH="1">
                <a:off x="8535140" y="2950257"/>
                <a:ext cx="809654" cy="2902698"/>
              </a:xfrm>
              <a:prstGeom prst="cube">
                <a:avLst/>
              </a:prstGeom>
              <a:solidFill>
                <a:srgbClr val="00FF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Pero</a:t>
                </a:r>
              </a:p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A NC’s</a:t>
                </a:r>
              </a:p>
            </p:txBody>
          </p:sp>
          <p:sp>
            <p:nvSpPr>
              <p:cNvPr id="97" name="Cube 96">
                <a:extLst>
                  <a:ext uri="{FF2B5EF4-FFF2-40B4-BE49-F238E27FC236}">
                    <a16:creationId xmlns:a16="http://schemas.microsoft.com/office/drawing/2014/main" id="{15621267-008F-4B2B-8E6C-A2BF7601C9D1}"/>
                  </a:ext>
                </a:extLst>
              </p:cNvPr>
              <p:cNvSpPr/>
              <p:nvPr/>
            </p:nvSpPr>
            <p:spPr>
              <a:xfrm flipH="1">
                <a:off x="7928676" y="3269570"/>
                <a:ext cx="809654" cy="2364158"/>
              </a:xfrm>
              <a:prstGeom prst="cube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Pero</a:t>
                </a:r>
              </a:p>
            </p:txBody>
          </p:sp>
          <p:sp>
            <p:nvSpPr>
              <p:cNvPr id="98" name="Cube 97">
                <a:extLst>
                  <a:ext uri="{FF2B5EF4-FFF2-40B4-BE49-F238E27FC236}">
                    <a16:creationId xmlns:a16="http://schemas.microsoft.com/office/drawing/2014/main" id="{9A9B2C27-0E99-418A-BDD0-37D42FDAAB9D}"/>
                  </a:ext>
                </a:extLst>
              </p:cNvPr>
              <p:cNvSpPr/>
              <p:nvPr/>
            </p:nvSpPr>
            <p:spPr>
              <a:xfrm flipH="1">
                <a:off x="7322212" y="3629215"/>
                <a:ext cx="809654" cy="2829365"/>
              </a:xfrm>
              <a:prstGeom prst="cube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ETL</a:t>
                </a:r>
              </a:p>
            </p:txBody>
          </p:sp>
          <p:grpSp>
            <p:nvGrpSpPr>
              <p:cNvPr id="99" name="Group 98">
                <a:extLst>
                  <a:ext uri="{FF2B5EF4-FFF2-40B4-BE49-F238E27FC236}">
                    <a16:creationId xmlns:a16="http://schemas.microsoft.com/office/drawing/2014/main" id="{E763AD65-748C-484D-B73D-6B7CF02650EE}"/>
                  </a:ext>
                </a:extLst>
              </p:cNvPr>
              <p:cNvGrpSpPr/>
              <p:nvPr/>
            </p:nvGrpSpPr>
            <p:grpSpPr>
              <a:xfrm>
                <a:off x="8795167" y="1576028"/>
                <a:ext cx="828175" cy="878590"/>
                <a:chOff x="8456295" y="1539384"/>
                <a:chExt cx="828175" cy="878590"/>
              </a:xfrm>
            </p:grpSpPr>
            <p:sp>
              <p:nvSpPr>
                <p:cNvPr id="109" name="Arrow: Curved Up 108">
                  <a:extLst>
                    <a:ext uri="{FF2B5EF4-FFF2-40B4-BE49-F238E27FC236}">
                      <a16:creationId xmlns:a16="http://schemas.microsoft.com/office/drawing/2014/main" id="{8B6AADAE-F6A5-482F-A5F8-B9CB6B94BD91}"/>
                    </a:ext>
                  </a:extLst>
                </p:cNvPr>
                <p:cNvSpPr/>
                <p:nvPr/>
              </p:nvSpPr>
              <p:spPr>
                <a:xfrm rot="10071486">
                  <a:off x="8456295" y="1867790"/>
                  <a:ext cx="828175" cy="550184"/>
                </a:xfrm>
                <a:prstGeom prst="curvedUp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0" name="TextBox 109">
                  <a:extLst>
                    <a:ext uri="{FF2B5EF4-FFF2-40B4-BE49-F238E27FC236}">
                      <a16:creationId xmlns:a16="http://schemas.microsoft.com/office/drawing/2014/main" id="{65AA63D8-12CC-4B64-9CB1-87F57AAFC903}"/>
                    </a:ext>
                  </a:extLst>
                </p:cNvPr>
                <p:cNvSpPr txBox="1"/>
                <p:nvPr/>
              </p:nvSpPr>
              <p:spPr>
                <a:xfrm>
                  <a:off x="8767193" y="1539384"/>
                  <a:ext cx="34657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IN" b="1" dirty="0"/>
                    <a:t>e</a:t>
                  </a:r>
                  <a:r>
                    <a:rPr lang="en-IN" b="1" baseline="30000" dirty="0"/>
                    <a:t>-</a:t>
                  </a:r>
                </a:p>
              </p:txBody>
            </p:sp>
          </p:grpSp>
          <p:grpSp>
            <p:nvGrpSpPr>
              <p:cNvPr id="100" name="Group 99">
                <a:extLst>
                  <a:ext uri="{FF2B5EF4-FFF2-40B4-BE49-F238E27FC236}">
                    <a16:creationId xmlns:a16="http://schemas.microsoft.com/office/drawing/2014/main" id="{6888A546-2524-4425-917F-078649187701}"/>
                  </a:ext>
                </a:extLst>
              </p:cNvPr>
              <p:cNvGrpSpPr/>
              <p:nvPr/>
            </p:nvGrpSpPr>
            <p:grpSpPr>
              <a:xfrm>
                <a:off x="7389136" y="2374777"/>
                <a:ext cx="828175" cy="878590"/>
                <a:chOff x="8456295" y="1539384"/>
                <a:chExt cx="828175" cy="878590"/>
              </a:xfrm>
            </p:grpSpPr>
            <p:sp>
              <p:nvSpPr>
                <p:cNvPr id="107" name="Arrow: Curved Up 106">
                  <a:extLst>
                    <a:ext uri="{FF2B5EF4-FFF2-40B4-BE49-F238E27FC236}">
                      <a16:creationId xmlns:a16="http://schemas.microsoft.com/office/drawing/2014/main" id="{8FC06F6C-D727-4E8A-A17C-407CBDC3159B}"/>
                    </a:ext>
                  </a:extLst>
                </p:cNvPr>
                <p:cNvSpPr/>
                <p:nvPr/>
              </p:nvSpPr>
              <p:spPr>
                <a:xfrm rot="10071486">
                  <a:off x="8456295" y="1867790"/>
                  <a:ext cx="828175" cy="550184"/>
                </a:xfrm>
                <a:prstGeom prst="curvedUp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B28570FE-EB22-4493-AD88-B454C5546FC4}"/>
                    </a:ext>
                  </a:extLst>
                </p:cNvPr>
                <p:cNvSpPr txBox="1"/>
                <p:nvPr/>
              </p:nvSpPr>
              <p:spPr>
                <a:xfrm>
                  <a:off x="8767193" y="1539384"/>
                  <a:ext cx="34657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IN" b="1" dirty="0"/>
                    <a:t>e</a:t>
                  </a:r>
                  <a:r>
                    <a:rPr lang="en-IN" b="1" baseline="30000" dirty="0"/>
                    <a:t>-</a:t>
                  </a:r>
                </a:p>
              </p:txBody>
            </p:sp>
          </p:grpSp>
          <p:grpSp>
            <p:nvGrpSpPr>
              <p:cNvPr id="101" name="Group 100">
                <a:extLst>
                  <a:ext uri="{FF2B5EF4-FFF2-40B4-BE49-F238E27FC236}">
                    <a16:creationId xmlns:a16="http://schemas.microsoft.com/office/drawing/2014/main" id="{1B0CE12F-0E02-413B-93B2-B9EC5AABF480}"/>
                  </a:ext>
                </a:extLst>
              </p:cNvPr>
              <p:cNvGrpSpPr/>
              <p:nvPr/>
            </p:nvGrpSpPr>
            <p:grpSpPr>
              <a:xfrm>
                <a:off x="9080078" y="5788540"/>
                <a:ext cx="828175" cy="935850"/>
                <a:chOff x="9041911" y="4680297"/>
                <a:chExt cx="828175" cy="935850"/>
              </a:xfrm>
            </p:grpSpPr>
            <p:sp>
              <p:nvSpPr>
                <p:cNvPr id="105" name="Arrow: Curved Up 104">
                  <a:extLst>
                    <a:ext uri="{FF2B5EF4-FFF2-40B4-BE49-F238E27FC236}">
                      <a16:creationId xmlns:a16="http://schemas.microsoft.com/office/drawing/2014/main" id="{9DE022B7-2000-4FD8-9EAC-8B502F0F218E}"/>
                    </a:ext>
                  </a:extLst>
                </p:cNvPr>
                <p:cNvSpPr/>
                <p:nvPr/>
              </p:nvSpPr>
              <p:spPr>
                <a:xfrm rot="20669090">
                  <a:off x="9041911" y="4680297"/>
                  <a:ext cx="828175" cy="550184"/>
                </a:xfrm>
                <a:prstGeom prst="curvedUp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6" name="TextBox 105">
                  <a:extLst>
                    <a:ext uri="{FF2B5EF4-FFF2-40B4-BE49-F238E27FC236}">
                      <a16:creationId xmlns:a16="http://schemas.microsoft.com/office/drawing/2014/main" id="{A500C10D-556D-4918-ACE7-8BD3E0C6B1EB}"/>
                    </a:ext>
                  </a:extLst>
                </p:cNvPr>
                <p:cNvSpPr txBox="1"/>
                <p:nvPr/>
              </p:nvSpPr>
              <p:spPr>
                <a:xfrm>
                  <a:off x="9264279" y="5246815"/>
                  <a:ext cx="3834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IN" b="1" dirty="0"/>
                    <a:t>h</a:t>
                  </a:r>
                  <a:r>
                    <a:rPr lang="en-IN" b="1" baseline="30000" dirty="0"/>
                    <a:t>+</a:t>
                  </a:r>
                </a:p>
              </p:txBody>
            </p:sp>
          </p:grpSp>
          <p:grpSp>
            <p:nvGrpSpPr>
              <p:cNvPr id="102" name="Group 101">
                <a:extLst>
                  <a:ext uri="{FF2B5EF4-FFF2-40B4-BE49-F238E27FC236}">
                    <a16:creationId xmlns:a16="http://schemas.microsoft.com/office/drawing/2014/main" id="{67CBA717-B075-4E00-886F-D446673AB356}"/>
                  </a:ext>
                </a:extLst>
              </p:cNvPr>
              <p:cNvGrpSpPr/>
              <p:nvPr/>
            </p:nvGrpSpPr>
            <p:grpSpPr>
              <a:xfrm>
                <a:off x="8243685" y="5894889"/>
                <a:ext cx="828175" cy="1020258"/>
                <a:chOff x="9041911" y="4595889"/>
                <a:chExt cx="828175" cy="1020258"/>
              </a:xfrm>
            </p:grpSpPr>
            <p:sp>
              <p:nvSpPr>
                <p:cNvPr id="103" name="Arrow: Curved Up 102">
                  <a:extLst>
                    <a:ext uri="{FF2B5EF4-FFF2-40B4-BE49-F238E27FC236}">
                      <a16:creationId xmlns:a16="http://schemas.microsoft.com/office/drawing/2014/main" id="{374983BC-988E-4D2D-B03F-CA00552FBE89}"/>
                    </a:ext>
                  </a:extLst>
                </p:cNvPr>
                <p:cNvSpPr/>
                <p:nvPr/>
              </p:nvSpPr>
              <p:spPr>
                <a:xfrm rot="20669090">
                  <a:off x="9041911" y="4595889"/>
                  <a:ext cx="828175" cy="550184"/>
                </a:xfrm>
                <a:prstGeom prst="curvedUp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6121C650-9A57-4738-B453-370BD9BF4394}"/>
                    </a:ext>
                  </a:extLst>
                </p:cNvPr>
                <p:cNvSpPr txBox="1"/>
                <p:nvPr/>
              </p:nvSpPr>
              <p:spPr>
                <a:xfrm>
                  <a:off x="9264279" y="5246815"/>
                  <a:ext cx="3834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IN" b="1" dirty="0"/>
                    <a:t>h</a:t>
                  </a:r>
                  <a:r>
                    <a:rPr lang="en-IN" b="1" baseline="30000" dirty="0"/>
                    <a:t>+</a:t>
                  </a:r>
                </a:p>
              </p:txBody>
            </p:sp>
          </p:grpSp>
          <p:grpSp>
            <p:nvGrpSpPr>
              <p:cNvPr id="112" name="Group 111">
                <a:extLst>
                  <a:ext uri="{FF2B5EF4-FFF2-40B4-BE49-F238E27FC236}">
                    <a16:creationId xmlns:a16="http://schemas.microsoft.com/office/drawing/2014/main" id="{35CFDF92-F55D-4DD1-96E6-90FF2741F91F}"/>
                  </a:ext>
                </a:extLst>
              </p:cNvPr>
              <p:cNvGrpSpPr/>
              <p:nvPr/>
            </p:nvGrpSpPr>
            <p:grpSpPr>
              <a:xfrm>
                <a:off x="8137699" y="2015323"/>
                <a:ext cx="828175" cy="878590"/>
                <a:chOff x="8456295" y="1539384"/>
                <a:chExt cx="828175" cy="878590"/>
              </a:xfrm>
            </p:grpSpPr>
            <p:sp>
              <p:nvSpPr>
                <p:cNvPr id="113" name="Arrow: Curved Up 112">
                  <a:extLst>
                    <a:ext uri="{FF2B5EF4-FFF2-40B4-BE49-F238E27FC236}">
                      <a16:creationId xmlns:a16="http://schemas.microsoft.com/office/drawing/2014/main" id="{BCFD02D9-F20C-4B4B-B12D-4E017C2830C2}"/>
                    </a:ext>
                  </a:extLst>
                </p:cNvPr>
                <p:cNvSpPr/>
                <p:nvPr/>
              </p:nvSpPr>
              <p:spPr>
                <a:xfrm rot="10071486">
                  <a:off x="8456295" y="1867790"/>
                  <a:ext cx="828175" cy="550184"/>
                </a:xfrm>
                <a:prstGeom prst="curvedUp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4" name="TextBox 113">
                  <a:extLst>
                    <a:ext uri="{FF2B5EF4-FFF2-40B4-BE49-F238E27FC236}">
                      <a16:creationId xmlns:a16="http://schemas.microsoft.com/office/drawing/2014/main" id="{3C3C4721-049D-4ED7-98C0-C14EE57981D9}"/>
                    </a:ext>
                  </a:extLst>
                </p:cNvPr>
                <p:cNvSpPr txBox="1"/>
                <p:nvPr/>
              </p:nvSpPr>
              <p:spPr>
                <a:xfrm>
                  <a:off x="8767193" y="1539384"/>
                  <a:ext cx="34657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IN" b="1" dirty="0"/>
                    <a:t>e</a:t>
                  </a:r>
                  <a:r>
                    <a:rPr lang="en-IN" b="1" baseline="30000" dirty="0"/>
                    <a:t>-</a:t>
                  </a:r>
                </a:p>
              </p:txBody>
            </p:sp>
          </p:grpSp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CB7EB42B-D9C6-43D1-802A-ED6D76D48E26}"/>
                  </a:ext>
                </a:extLst>
              </p:cNvPr>
              <p:cNvGrpSpPr/>
              <p:nvPr/>
            </p:nvGrpSpPr>
            <p:grpSpPr>
              <a:xfrm rot="21218262">
                <a:off x="9990044" y="5569571"/>
                <a:ext cx="828175" cy="1020258"/>
                <a:chOff x="9041911" y="4595889"/>
                <a:chExt cx="828175" cy="1020258"/>
              </a:xfrm>
            </p:grpSpPr>
            <p:sp>
              <p:nvSpPr>
                <p:cNvPr id="116" name="Arrow: Curved Up 115">
                  <a:extLst>
                    <a:ext uri="{FF2B5EF4-FFF2-40B4-BE49-F238E27FC236}">
                      <a16:creationId xmlns:a16="http://schemas.microsoft.com/office/drawing/2014/main" id="{7C8FE313-4AE0-4DC2-989B-B0472D82B2EB}"/>
                    </a:ext>
                  </a:extLst>
                </p:cNvPr>
                <p:cNvSpPr/>
                <p:nvPr/>
              </p:nvSpPr>
              <p:spPr>
                <a:xfrm rot="20669090">
                  <a:off x="9041911" y="4595889"/>
                  <a:ext cx="828175" cy="550184"/>
                </a:xfrm>
                <a:prstGeom prst="curvedUp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7" name="TextBox 116">
                  <a:extLst>
                    <a:ext uri="{FF2B5EF4-FFF2-40B4-BE49-F238E27FC236}">
                      <a16:creationId xmlns:a16="http://schemas.microsoft.com/office/drawing/2014/main" id="{3BDDAC8E-7F42-4952-9DFE-10A5A0490CE7}"/>
                    </a:ext>
                  </a:extLst>
                </p:cNvPr>
                <p:cNvSpPr txBox="1"/>
                <p:nvPr/>
              </p:nvSpPr>
              <p:spPr>
                <a:xfrm>
                  <a:off x="9264279" y="5246815"/>
                  <a:ext cx="3834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IN" b="1" dirty="0"/>
                    <a:t>h</a:t>
                  </a:r>
                  <a:r>
                    <a:rPr lang="en-IN" b="1" baseline="30000" dirty="0"/>
                    <a:t>+</a:t>
                  </a: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093230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78B08C9-DF1C-4D40-A45F-844075ED62F9}"/>
              </a:ext>
            </a:extLst>
          </p:cNvPr>
          <p:cNvGrpSpPr/>
          <p:nvPr/>
        </p:nvGrpSpPr>
        <p:grpSpPr>
          <a:xfrm>
            <a:off x="1149780" y="1039981"/>
            <a:ext cx="8530720" cy="5633736"/>
            <a:chOff x="1149780" y="1039981"/>
            <a:chExt cx="8530720" cy="563373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8F2F3955-EAAC-427F-BFE2-B520D6C67441}"/>
                </a:ext>
              </a:extLst>
            </p:cNvPr>
            <p:cNvGrpSpPr/>
            <p:nvPr/>
          </p:nvGrpSpPr>
          <p:grpSpPr>
            <a:xfrm>
              <a:off x="1149780" y="1868815"/>
              <a:ext cx="4222864" cy="3868568"/>
              <a:chOff x="1724604" y="1181153"/>
              <a:chExt cx="4222864" cy="3868568"/>
            </a:xfrm>
          </p:grpSpPr>
          <p:sp>
            <p:nvSpPr>
              <p:cNvPr id="9" name="Rectangle: Single Corner Rounded 8">
                <a:extLst>
                  <a:ext uri="{FF2B5EF4-FFF2-40B4-BE49-F238E27FC236}">
                    <a16:creationId xmlns:a16="http://schemas.microsoft.com/office/drawing/2014/main" id="{EBB1129D-EB56-49CD-9218-6FD7AB9AA44A}"/>
                  </a:ext>
                </a:extLst>
              </p:cNvPr>
              <p:cNvSpPr/>
              <p:nvPr/>
            </p:nvSpPr>
            <p:spPr>
              <a:xfrm>
                <a:off x="2093791" y="3177721"/>
                <a:ext cx="3627087" cy="1872000"/>
              </a:xfrm>
              <a:prstGeom prst="round1Rect">
                <a:avLst>
                  <a:gd name="adj" fmla="val 0"/>
                </a:avLst>
              </a:prstGeom>
              <a:solidFill>
                <a:srgbClr val="00B0F0"/>
              </a:solidFill>
              <a:ln w="12700" cap="flat" cmpd="sng" algn="ctr">
                <a:solidFill>
                  <a:srgbClr val="00B0F0"/>
                </a:solidFill>
                <a:prstDash val="solid"/>
                <a:miter lim="800000"/>
              </a:ln>
              <a:effectLst/>
              <a:scene3d>
                <a:camera prst="orthographicFront">
                  <a:rot lat="3880299" lon="6639842" rev="6595252"/>
                </a:camera>
                <a:lightRig rig="balanced" dir="t"/>
              </a:scene3d>
              <a:sp3d prstMaterial="plastic">
                <a:bevelT w="0" h="425450"/>
              </a:sp3d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" name="Rectangle: Single Corner Rounded 9">
                <a:extLst>
                  <a:ext uri="{FF2B5EF4-FFF2-40B4-BE49-F238E27FC236}">
                    <a16:creationId xmlns:a16="http://schemas.microsoft.com/office/drawing/2014/main" id="{F790CE97-EE74-4F7B-B5CE-C2234B044ECD}"/>
                  </a:ext>
                </a:extLst>
              </p:cNvPr>
              <p:cNvSpPr/>
              <p:nvPr/>
            </p:nvSpPr>
            <p:spPr>
              <a:xfrm>
                <a:off x="2086644" y="2775278"/>
                <a:ext cx="3627087" cy="1872000"/>
              </a:xfrm>
              <a:prstGeom prst="round1Rect">
                <a:avLst>
                  <a:gd name="adj" fmla="val 0"/>
                </a:avLst>
              </a:prstGeom>
              <a:solidFill>
                <a:srgbClr val="7030A0"/>
              </a:solidFill>
              <a:ln w="12700" cap="flat" cmpd="sng" algn="ctr">
                <a:solidFill>
                  <a:srgbClr val="7030A0"/>
                </a:solidFill>
                <a:prstDash val="solid"/>
                <a:miter lim="800000"/>
              </a:ln>
              <a:effectLst/>
              <a:scene3d>
                <a:camera prst="orthographicFront">
                  <a:rot lat="3880299" lon="6639842" rev="6595252"/>
                </a:camera>
                <a:lightRig rig="balanced" dir="t"/>
              </a:scene3d>
              <a:sp3d prstMaterial="plastic">
                <a:bevelT w="0" h="425450"/>
              </a:sp3d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" name="Rectangle: Single Corner Rounded 10">
                <a:extLst>
                  <a:ext uri="{FF2B5EF4-FFF2-40B4-BE49-F238E27FC236}">
                    <a16:creationId xmlns:a16="http://schemas.microsoft.com/office/drawing/2014/main" id="{26256136-1826-4CA7-9D88-01EC7BD54991}"/>
                  </a:ext>
                </a:extLst>
              </p:cNvPr>
              <p:cNvSpPr/>
              <p:nvPr/>
            </p:nvSpPr>
            <p:spPr>
              <a:xfrm>
                <a:off x="2079497" y="2337429"/>
                <a:ext cx="3627087" cy="1872000"/>
              </a:xfrm>
              <a:prstGeom prst="round1Rect">
                <a:avLst>
                  <a:gd name="adj" fmla="val 0"/>
                </a:avLst>
              </a:prstGeom>
              <a:solidFill>
                <a:srgbClr val="002060"/>
              </a:solidFill>
              <a:ln w="12700" cap="flat" cmpd="sng" algn="ctr">
                <a:solidFill>
                  <a:srgbClr val="002060"/>
                </a:solidFill>
                <a:prstDash val="solid"/>
                <a:miter lim="800000"/>
              </a:ln>
              <a:effectLst/>
              <a:scene3d>
                <a:camera prst="orthographicFront">
                  <a:rot lat="3880299" lon="6639842" rev="6595252"/>
                </a:camera>
                <a:lightRig rig="balanced" dir="t"/>
              </a:scene3d>
              <a:sp3d prstMaterial="plastic">
                <a:bevelT w="0" h="425450"/>
              </a:sp3d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1FAB955-91CA-49E2-B2E6-446EC2BC1E4E}"/>
                  </a:ext>
                </a:extLst>
              </p:cNvPr>
              <p:cNvSpPr txBox="1"/>
              <p:nvPr/>
            </p:nvSpPr>
            <p:spPr>
              <a:xfrm rot="200570">
                <a:off x="2985732" y="3894448"/>
                <a:ext cx="99578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Arial Unicode MS" panose="020B0604020202020204" pitchFamily="34" charset="-128"/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ITO/FTO</a:t>
                </a:r>
              </a:p>
            </p:txBody>
          </p: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AFFD98F0-56CF-42C7-991E-C218D0D508D2}"/>
                  </a:ext>
                </a:extLst>
              </p:cNvPr>
              <p:cNvGrpSpPr/>
              <p:nvPr/>
            </p:nvGrpSpPr>
            <p:grpSpPr>
              <a:xfrm>
                <a:off x="1724604" y="1903740"/>
                <a:ext cx="4222864" cy="1882026"/>
                <a:chOff x="5947468" y="3404413"/>
                <a:chExt cx="4222864" cy="1882026"/>
              </a:xfrm>
            </p:grpSpPr>
            <p:sp>
              <p:nvSpPr>
                <p:cNvPr id="21" name="Rectangle: Single Corner Rounded 20">
                  <a:extLst>
                    <a:ext uri="{FF2B5EF4-FFF2-40B4-BE49-F238E27FC236}">
                      <a16:creationId xmlns:a16="http://schemas.microsoft.com/office/drawing/2014/main" id="{3AF0768A-AE17-4F2B-B7ED-473D0D7E1155}"/>
                    </a:ext>
                  </a:extLst>
                </p:cNvPr>
                <p:cNvSpPr/>
                <p:nvPr/>
              </p:nvSpPr>
              <p:spPr>
                <a:xfrm>
                  <a:off x="6295214" y="3404413"/>
                  <a:ext cx="3627087" cy="1882026"/>
                </a:xfrm>
                <a:prstGeom prst="round1Rect">
                  <a:avLst>
                    <a:gd name="adj" fmla="val 0"/>
                  </a:avLst>
                </a:prstGeom>
                <a:solidFill>
                  <a:srgbClr val="00FF00"/>
                </a:solidFill>
                <a:ln w="12700" cap="flat" cmpd="sng" algn="ctr">
                  <a:solidFill>
                    <a:srgbClr val="33CC33"/>
                  </a:solidFill>
                  <a:prstDash val="solid"/>
                  <a:miter lim="800000"/>
                </a:ln>
                <a:effectLst/>
                <a:scene3d>
                  <a:camera prst="orthographicFront">
                    <a:rot lat="3880299" lon="6639842" rev="6595252"/>
                  </a:camera>
                  <a:lightRig rig="balanced" dir="t"/>
                </a:scene3d>
                <a:sp3d prstMaterial="softEdge">
                  <a:bevelT w="0" h="425450"/>
                </a:sp3d>
              </p:spPr>
              <p:txBody>
                <a:bodyPr rtlCol="0" anchor="ctr"/>
                <a:lstStyle/>
                <a:p>
                  <a:pPr marL="0" marR="0" lvl="0" indent="0" algn="ctr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205A42F1-D9C3-4D4E-A398-5401EB54B2C5}"/>
                    </a:ext>
                  </a:extLst>
                </p:cNvPr>
                <p:cNvGrpSpPr/>
                <p:nvPr/>
              </p:nvGrpSpPr>
              <p:grpSpPr>
                <a:xfrm>
                  <a:off x="5947468" y="3992086"/>
                  <a:ext cx="3451144" cy="569167"/>
                  <a:chOff x="1294859" y="1918772"/>
                  <a:chExt cx="3354445" cy="569167"/>
                </a:xfrm>
              </p:grpSpPr>
              <p:cxnSp>
                <p:nvCxnSpPr>
                  <p:cNvPr id="39" name="Straight Connector 38">
                    <a:extLst>
                      <a:ext uri="{FF2B5EF4-FFF2-40B4-BE49-F238E27FC236}">
                        <a16:creationId xmlns:a16="http://schemas.microsoft.com/office/drawing/2014/main" id="{46E00818-255F-47A3-9308-9D5DA7E2FEA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01363" y="1927158"/>
                    <a:ext cx="3338315" cy="145715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" name="Straight Connector 39">
                    <a:extLst>
                      <a:ext uri="{FF2B5EF4-FFF2-40B4-BE49-F238E27FC236}">
                        <a16:creationId xmlns:a16="http://schemas.microsoft.com/office/drawing/2014/main" id="{0A0E375F-2278-4654-99F9-339FB2AFDF7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07351" y="2043083"/>
                    <a:ext cx="3328023" cy="145253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" name="Straight Connector 40">
                    <a:extLst>
                      <a:ext uri="{FF2B5EF4-FFF2-40B4-BE49-F238E27FC236}">
                        <a16:creationId xmlns:a16="http://schemas.microsoft.com/office/drawing/2014/main" id="{DFBC5826-50CF-41B1-89E5-41FDF9BE8F8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01363" y="2128160"/>
                    <a:ext cx="3347941" cy="168225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" name="Straight Connector 41">
                    <a:extLst>
                      <a:ext uri="{FF2B5EF4-FFF2-40B4-BE49-F238E27FC236}">
                        <a16:creationId xmlns:a16="http://schemas.microsoft.com/office/drawing/2014/main" id="{21FD63AA-60A1-4A81-8517-F2867B3D860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294859" y="2227840"/>
                    <a:ext cx="3344470" cy="16673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" name="Straight Connector 42">
                    <a:extLst>
                      <a:ext uri="{FF2B5EF4-FFF2-40B4-BE49-F238E27FC236}">
                        <a16:creationId xmlns:a16="http://schemas.microsoft.com/office/drawing/2014/main" id="{01604688-A046-43EE-A2A3-034B99647BB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06958" y="2313548"/>
                    <a:ext cx="3326539" cy="168225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" name="Straight Connector 43">
                    <a:extLst>
                      <a:ext uri="{FF2B5EF4-FFF2-40B4-BE49-F238E27FC236}">
                        <a16:creationId xmlns:a16="http://schemas.microsoft.com/office/drawing/2014/main" id="{E18C8E9B-82F8-44A6-8653-7A0C727F712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304592" y="1918772"/>
                    <a:ext cx="1873" cy="399508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" name="Straight Connector 44">
                    <a:extLst>
                      <a:ext uri="{FF2B5EF4-FFF2-40B4-BE49-F238E27FC236}">
                        <a16:creationId xmlns:a16="http://schemas.microsoft.com/office/drawing/2014/main" id="{8B681DFD-E09C-48DA-9C5A-1B9497DE3AB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490594" y="1935772"/>
                    <a:ext cx="6946" cy="395428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6" name="Straight Connector 45">
                    <a:extLst>
                      <a:ext uri="{FF2B5EF4-FFF2-40B4-BE49-F238E27FC236}">
                        <a16:creationId xmlns:a16="http://schemas.microsoft.com/office/drawing/2014/main" id="{D00B5A5A-321E-47A6-B4D8-BF5A18B6725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598155" y="1935772"/>
                    <a:ext cx="11150" cy="387488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7" name="Straight Connector 46">
                    <a:extLst>
                      <a:ext uri="{FF2B5EF4-FFF2-40B4-BE49-F238E27FC236}">
                        <a16:creationId xmlns:a16="http://schemas.microsoft.com/office/drawing/2014/main" id="{B7A4B461-4B71-4D7C-82E1-348E19A4486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695349" y="1949629"/>
                    <a:ext cx="14644" cy="378669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8" name="Straight Connector 47">
                    <a:extLst>
                      <a:ext uri="{FF2B5EF4-FFF2-40B4-BE49-F238E27FC236}">
                        <a16:creationId xmlns:a16="http://schemas.microsoft.com/office/drawing/2014/main" id="{33152ABA-E21D-4209-BCD2-99D58BB14D3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903796" y="1949629"/>
                    <a:ext cx="6775" cy="393119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9" name="Straight Connector 48">
                    <a:extLst>
                      <a:ext uri="{FF2B5EF4-FFF2-40B4-BE49-F238E27FC236}">
                        <a16:creationId xmlns:a16="http://schemas.microsoft.com/office/drawing/2014/main" id="{34218275-EC44-4FC6-88BF-D5AC3ADCB28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805899" y="1949629"/>
                    <a:ext cx="18024" cy="383101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" name="Straight Connector 49">
                    <a:extLst>
                      <a:ext uri="{FF2B5EF4-FFF2-40B4-BE49-F238E27FC236}">
                        <a16:creationId xmlns:a16="http://schemas.microsoft.com/office/drawing/2014/main" id="{DE05D3D2-C41D-4CEC-841F-290BB630A3C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991033" y="1949629"/>
                    <a:ext cx="19832" cy="404077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1" name="Straight Connector 50">
                    <a:extLst>
                      <a:ext uri="{FF2B5EF4-FFF2-40B4-BE49-F238E27FC236}">
                        <a16:creationId xmlns:a16="http://schemas.microsoft.com/office/drawing/2014/main" id="{C89E2B56-0261-4356-9F9F-94766404BE9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095515" y="1971196"/>
                    <a:ext cx="15065" cy="38251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2" name="Straight Connector 51">
                    <a:extLst>
                      <a:ext uri="{FF2B5EF4-FFF2-40B4-BE49-F238E27FC236}">
                        <a16:creationId xmlns:a16="http://schemas.microsoft.com/office/drawing/2014/main" id="{907E88F3-D6F9-41AC-952A-E94779D4C3D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198938" y="1967941"/>
                    <a:ext cx="14626" cy="397313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" name="Straight Connector 52">
                    <a:extLst>
                      <a:ext uri="{FF2B5EF4-FFF2-40B4-BE49-F238E27FC236}">
                        <a16:creationId xmlns:a16="http://schemas.microsoft.com/office/drawing/2014/main" id="{B5A00AB3-E18C-4398-AF9A-0EBFC094E39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398140" y="1979194"/>
                    <a:ext cx="11739" cy="395167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4" name="Straight Connector 53">
                    <a:extLst>
                      <a:ext uri="{FF2B5EF4-FFF2-40B4-BE49-F238E27FC236}">
                        <a16:creationId xmlns:a16="http://schemas.microsoft.com/office/drawing/2014/main" id="{367487B8-2277-4FC5-AF65-1AED2AC7E0B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296753" y="1979194"/>
                    <a:ext cx="12901" cy="38606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5" name="Straight Connector 54">
                    <a:extLst>
                      <a:ext uri="{FF2B5EF4-FFF2-40B4-BE49-F238E27FC236}">
                        <a16:creationId xmlns:a16="http://schemas.microsoft.com/office/drawing/2014/main" id="{502E1B56-476F-424F-BCD1-BA5E6FE4FA6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499038" y="1979194"/>
                    <a:ext cx="11381" cy="395167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6" name="Straight Connector 55">
                    <a:extLst>
                      <a:ext uri="{FF2B5EF4-FFF2-40B4-BE49-F238E27FC236}">
                        <a16:creationId xmlns:a16="http://schemas.microsoft.com/office/drawing/2014/main" id="{4D7A0574-7E63-4A54-AD4F-BE97C234EF9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589743" y="1976455"/>
                    <a:ext cx="14207" cy="397906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7" name="Straight Connector 56">
                    <a:extLst>
                      <a:ext uri="{FF2B5EF4-FFF2-40B4-BE49-F238E27FC236}">
                        <a16:creationId xmlns:a16="http://schemas.microsoft.com/office/drawing/2014/main" id="{9FE8797B-3BAA-4D49-A68B-DE313D79761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787881" y="1994304"/>
                    <a:ext cx="9054" cy="392806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8" name="Straight Connector 57">
                    <a:extLst>
                      <a:ext uri="{FF2B5EF4-FFF2-40B4-BE49-F238E27FC236}">
                        <a16:creationId xmlns:a16="http://schemas.microsoft.com/office/drawing/2014/main" id="{2B11ED6E-2E88-4E33-8C52-87711DDE478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689663" y="1993371"/>
                    <a:ext cx="9347" cy="393739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9" name="Straight Connector 58">
                    <a:extLst>
                      <a:ext uri="{FF2B5EF4-FFF2-40B4-BE49-F238E27FC236}">
                        <a16:creationId xmlns:a16="http://schemas.microsoft.com/office/drawing/2014/main" id="{D4D91D12-702E-4E33-8F60-BB0AE11803E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892727" y="1996373"/>
                    <a:ext cx="8932" cy="398619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" name="Straight Connector 59">
                    <a:extLst>
                      <a:ext uri="{FF2B5EF4-FFF2-40B4-BE49-F238E27FC236}">
                        <a16:creationId xmlns:a16="http://schemas.microsoft.com/office/drawing/2014/main" id="{7C9A6F28-91B7-4CFE-9556-039082C9F66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988420" y="1996373"/>
                    <a:ext cx="10476" cy="413513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Straight Connector 60">
                    <a:extLst>
                      <a:ext uri="{FF2B5EF4-FFF2-40B4-BE49-F238E27FC236}">
                        <a16:creationId xmlns:a16="http://schemas.microsoft.com/office/drawing/2014/main" id="{783FDC1A-9A0F-412F-BA93-18F92F71CF2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087274" y="2003742"/>
                    <a:ext cx="10003" cy="40614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" name="Straight Connector 61">
                    <a:extLst>
                      <a:ext uri="{FF2B5EF4-FFF2-40B4-BE49-F238E27FC236}">
                        <a16:creationId xmlns:a16="http://schemas.microsoft.com/office/drawing/2014/main" id="{E951EE14-D9E1-48B6-8AA7-E08A92079BB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284228" y="2009922"/>
                    <a:ext cx="11911" cy="39996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3" name="Straight Connector 62">
                    <a:extLst>
                      <a:ext uri="{FF2B5EF4-FFF2-40B4-BE49-F238E27FC236}">
                        <a16:creationId xmlns:a16="http://schemas.microsoft.com/office/drawing/2014/main" id="{B0C340E2-DD06-47FD-B55B-D976FFB9157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181363" y="2009922"/>
                    <a:ext cx="12147" cy="39996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4" name="Straight Connector 63">
                    <a:extLst>
                      <a:ext uri="{FF2B5EF4-FFF2-40B4-BE49-F238E27FC236}">
                        <a16:creationId xmlns:a16="http://schemas.microsoft.com/office/drawing/2014/main" id="{1282F544-2CA9-4FDE-A42C-7E44C7BC931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383635" y="2026279"/>
                    <a:ext cx="13410" cy="399877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5" name="Straight Connector 64">
                    <a:extLst>
                      <a:ext uri="{FF2B5EF4-FFF2-40B4-BE49-F238E27FC236}">
                        <a16:creationId xmlns:a16="http://schemas.microsoft.com/office/drawing/2014/main" id="{FD5F0287-177E-46E0-88B7-42B4E2A5CC7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483482" y="2032958"/>
                    <a:ext cx="10499" cy="392742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6" name="Straight Connector 65">
                    <a:extLst>
                      <a:ext uri="{FF2B5EF4-FFF2-40B4-BE49-F238E27FC236}">
                        <a16:creationId xmlns:a16="http://schemas.microsoft.com/office/drawing/2014/main" id="{645152E6-B867-4358-B702-86451812AAC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573415" y="2033601"/>
                    <a:ext cx="17641" cy="392099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7" name="Straight Connector 66">
                    <a:extLst>
                      <a:ext uri="{FF2B5EF4-FFF2-40B4-BE49-F238E27FC236}">
                        <a16:creationId xmlns:a16="http://schemas.microsoft.com/office/drawing/2014/main" id="{572803EE-B570-44AE-AFBA-11115ACD667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786192" y="2047249"/>
                    <a:ext cx="15940" cy="40071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8" name="Straight Connector 67">
                    <a:extLst>
                      <a:ext uri="{FF2B5EF4-FFF2-40B4-BE49-F238E27FC236}">
                        <a16:creationId xmlns:a16="http://schemas.microsoft.com/office/drawing/2014/main" id="{19D69B16-5D21-4795-9AB3-23413706B5E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679485" y="2032799"/>
                    <a:ext cx="14489" cy="392901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9" name="Straight Connector 68">
                    <a:extLst>
                      <a:ext uri="{FF2B5EF4-FFF2-40B4-BE49-F238E27FC236}">
                        <a16:creationId xmlns:a16="http://schemas.microsoft.com/office/drawing/2014/main" id="{E45CC639-3659-40D7-AAE8-615C40FB36F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889467" y="2053429"/>
                    <a:ext cx="8885" cy="39453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0" name="Straight Connector 69">
                    <a:extLst>
                      <a:ext uri="{FF2B5EF4-FFF2-40B4-BE49-F238E27FC236}">
                        <a16:creationId xmlns:a16="http://schemas.microsoft.com/office/drawing/2014/main" id="{6735CAE9-0674-47B3-8D2D-5E24A4B40FB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990334" y="2053759"/>
                    <a:ext cx="4954" cy="39420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1" name="Straight Connector 70">
                    <a:extLst>
                      <a:ext uri="{FF2B5EF4-FFF2-40B4-BE49-F238E27FC236}">
                        <a16:creationId xmlns:a16="http://schemas.microsoft.com/office/drawing/2014/main" id="{03DC3F5E-30B8-4957-B56C-7ED5BB70939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098890" y="2053759"/>
                    <a:ext cx="12408" cy="39420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2" name="Straight Connector 71">
                    <a:extLst>
                      <a:ext uri="{FF2B5EF4-FFF2-40B4-BE49-F238E27FC236}">
                        <a16:creationId xmlns:a16="http://schemas.microsoft.com/office/drawing/2014/main" id="{A5B4999B-0368-4A9D-8AF8-90FC359C767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320518" y="2066337"/>
                    <a:ext cx="13976" cy="41049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3" name="Straight Connector 72">
                    <a:extLst>
                      <a:ext uri="{FF2B5EF4-FFF2-40B4-BE49-F238E27FC236}">
                        <a16:creationId xmlns:a16="http://schemas.microsoft.com/office/drawing/2014/main" id="{86A407E1-8AE5-47AD-A2C4-D9660D97DA9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209946" y="2053759"/>
                    <a:ext cx="10537" cy="416328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4" name="Straight Connector 73">
                    <a:extLst>
                      <a:ext uri="{FF2B5EF4-FFF2-40B4-BE49-F238E27FC236}">
                        <a16:creationId xmlns:a16="http://schemas.microsoft.com/office/drawing/2014/main" id="{BAC9A2DC-FE8D-4425-A43A-F839C792423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417224" y="2069555"/>
                    <a:ext cx="11913" cy="41838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5" name="Straight Connector 74">
                    <a:extLst>
                      <a:ext uri="{FF2B5EF4-FFF2-40B4-BE49-F238E27FC236}">
                        <a16:creationId xmlns:a16="http://schemas.microsoft.com/office/drawing/2014/main" id="{65917E34-D1E9-4FA4-A4C2-1ACCC193ACB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24657" y="2075935"/>
                    <a:ext cx="1" cy="400892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6" name="Straight Connector 75">
                    <a:extLst>
                      <a:ext uri="{FF2B5EF4-FFF2-40B4-BE49-F238E27FC236}">
                        <a16:creationId xmlns:a16="http://schemas.microsoft.com/office/drawing/2014/main" id="{BC017C82-B905-4250-B103-F7E0EDE2C75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636261" y="2071285"/>
                    <a:ext cx="2554" cy="41665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3" name="Group 22">
                  <a:extLst>
                    <a:ext uri="{FF2B5EF4-FFF2-40B4-BE49-F238E27FC236}">
                      <a16:creationId xmlns:a16="http://schemas.microsoft.com/office/drawing/2014/main" id="{140448BF-40F7-484C-A050-EF7D09AF173C}"/>
                    </a:ext>
                  </a:extLst>
                </p:cNvPr>
                <p:cNvGrpSpPr/>
                <p:nvPr/>
              </p:nvGrpSpPr>
              <p:grpSpPr>
                <a:xfrm>
                  <a:off x="9376999" y="3869603"/>
                  <a:ext cx="793333" cy="699114"/>
                  <a:chOff x="4619788" y="1780273"/>
                  <a:chExt cx="778605" cy="699114"/>
                </a:xfrm>
              </p:grpSpPr>
              <p:cxnSp>
                <p:nvCxnSpPr>
                  <p:cNvPr id="24" name="Straight Connector 23">
                    <a:extLst>
                      <a:ext uri="{FF2B5EF4-FFF2-40B4-BE49-F238E27FC236}">
                        <a16:creationId xmlns:a16="http://schemas.microsoft.com/office/drawing/2014/main" id="{4B8CFAAD-22DF-497E-8131-C59AC275AD8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626138" y="1786351"/>
                    <a:ext cx="743147" cy="272111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" name="Straight Connector 24">
                    <a:extLst>
                      <a:ext uri="{FF2B5EF4-FFF2-40B4-BE49-F238E27FC236}">
                        <a16:creationId xmlns:a16="http://schemas.microsoft.com/office/drawing/2014/main" id="{11FDEB29-B5E8-496A-A091-B9C155CBEF9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619788" y="1902715"/>
                    <a:ext cx="773325" cy="272112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" name="Straight Connector 25">
                    <a:extLst>
                      <a:ext uri="{FF2B5EF4-FFF2-40B4-BE49-F238E27FC236}">
                        <a16:creationId xmlns:a16="http://schemas.microsoft.com/office/drawing/2014/main" id="{24577483-BE3C-45AC-8DD5-9B83BE62BF2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626802" y="2014062"/>
                    <a:ext cx="746147" cy="26983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" name="Straight Connector 26">
                    <a:extLst>
                      <a:ext uri="{FF2B5EF4-FFF2-40B4-BE49-F238E27FC236}">
                        <a16:creationId xmlns:a16="http://schemas.microsoft.com/office/drawing/2014/main" id="{BA223A41-DEA4-441D-9FB7-21126412A58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626138" y="2103998"/>
                    <a:ext cx="760328" cy="27456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" name="Straight Connector 27">
                    <a:extLst>
                      <a:ext uri="{FF2B5EF4-FFF2-40B4-BE49-F238E27FC236}">
                        <a16:creationId xmlns:a16="http://schemas.microsoft.com/office/drawing/2014/main" id="{751FDEC4-73DA-4F4B-8207-A4621FF0D64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711832" y="2026902"/>
                    <a:ext cx="0" cy="419012"/>
                  </a:xfrm>
                  <a:prstGeom prst="line">
                    <a:avLst/>
                  </a:prstGeom>
                  <a:ln>
                    <a:solidFill>
                      <a:schemeClr val="bg1">
                        <a:alpha val="90000"/>
                      </a:schemeClr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" name="Straight Connector 28">
                    <a:extLst>
                      <a:ext uri="{FF2B5EF4-FFF2-40B4-BE49-F238E27FC236}">
                        <a16:creationId xmlns:a16="http://schemas.microsoft.com/office/drawing/2014/main" id="{88C31838-34BA-4112-9779-3364F05600A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788965" y="1997075"/>
                    <a:ext cx="0" cy="419264"/>
                  </a:xfrm>
                  <a:prstGeom prst="line">
                    <a:avLst/>
                  </a:prstGeom>
                  <a:ln>
                    <a:solidFill>
                      <a:schemeClr val="bg1">
                        <a:alpha val="90000"/>
                      </a:schemeClr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" name="Straight Connector 29">
                    <a:extLst>
                      <a:ext uri="{FF2B5EF4-FFF2-40B4-BE49-F238E27FC236}">
                        <a16:creationId xmlns:a16="http://schemas.microsoft.com/office/drawing/2014/main" id="{2D2F55CA-BD43-404A-B31E-E9FCE1B0DE3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872498" y="1971797"/>
                    <a:ext cx="0" cy="410911"/>
                  </a:xfrm>
                  <a:prstGeom prst="line">
                    <a:avLst/>
                  </a:prstGeom>
                  <a:ln>
                    <a:solidFill>
                      <a:schemeClr val="bg1">
                        <a:alpha val="90000"/>
                      </a:schemeClr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" name="Straight Connector 30">
                    <a:extLst>
                      <a:ext uri="{FF2B5EF4-FFF2-40B4-BE49-F238E27FC236}">
                        <a16:creationId xmlns:a16="http://schemas.microsoft.com/office/drawing/2014/main" id="{62A61573-B84D-45C4-8E01-00C0A84E22E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946586" y="1946595"/>
                    <a:ext cx="1923" cy="41926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" name="Straight Connector 31">
                    <a:extLst>
                      <a:ext uri="{FF2B5EF4-FFF2-40B4-BE49-F238E27FC236}">
                        <a16:creationId xmlns:a16="http://schemas.microsoft.com/office/drawing/2014/main" id="{D93EA326-9DE5-4765-91D8-BAB1E4F27AD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016465" y="1917020"/>
                    <a:ext cx="0" cy="419264"/>
                  </a:xfrm>
                  <a:prstGeom prst="line">
                    <a:avLst/>
                  </a:prstGeom>
                  <a:ln>
                    <a:solidFill>
                      <a:schemeClr val="bg1">
                        <a:alpha val="88000"/>
                      </a:schemeClr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" name="Straight Connector 32">
                    <a:extLst>
                      <a:ext uri="{FF2B5EF4-FFF2-40B4-BE49-F238E27FC236}">
                        <a16:creationId xmlns:a16="http://schemas.microsoft.com/office/drawing/2014/main" id="{08AC5AEC-16BB-408C-81AC-F0876B9BF20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085369" y="1891519"/>
                    <a:ext cx="2064" cy="417031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" name="Straight Connector 33">
                    <a:extLst>
                      <a:ext uri="{FF2B5EF4-FFF2-40B4-BE49-F238E27FC236}">
                        <a16:creationId xmlns:a16="http://schemas.microsoft.com/office/drawing/2014/main" id="{544D1245-DEC7-4C12-8CAD-210D13267E6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158442" y="1863400"/>
                    <a:ext cx="0" cy="430400"/>
                  </a:xfrm>
                  <a:prstGeom prst="line">
                    <a:avLst/>
                  </a:prstGeom>
                  <a:ln>
                    <a:solidFill>
                      <a:schemeClr val="bg1">
                        <a:alpha val="90000"/>
                      </a:schemeClr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" name="Straight Connector 34">
                    <a:extLst>
                      <a:ext uri="{FF2B5EF4-FFF2-40B4-BE49-F238E27FC236}">
                        <a16:creationId xmlns:a16="http://schemas.microsoft.com/office/drawing/2014/main" id="{EDC9FE79-1EA6-4D64-87BD-6BF40963A26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231947" y="1835550"/>
                    <a:ext cx="0" cy="423449"/>
                  </a:xfrm>
                  <a:prstGeom prst="line">
                    <a:avLst/>
                  </a:prstGeom>
                  <a:ln>
                    <a:solidFill>
                      <a:schemeClr val="bg1">
                        <a:alpha val="90000"/>
                      </a:schemeClr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" name="Straight Connector 35">
                    <a:extLst>
                      <a:ext uri="{FF2B5EF4-FFF2-40B4-BE49-F238E27FC236}">
                        <a16:creationId xmlns:a16="http://schemas.microsoft.com/office/drawing/2014/main" id="{47366F16-7AE9-4B99-B445-C05347C1FA2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305001" y="1810272"/>
                    <a:ext cx="5132" cy="422291"/>
                  </a:xfrm>
                  <a:prstGeom prst="line">
                    <a:avLst/>
                  </a:prstGeom>
                  <a:ln>
                    <a:solidFill>
                      <a:schemeClr val="bg1">
                        <a:alpha val="90000"/>
                      </a:schemeClr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" name="Straight Connector 36">
                    <a:extLst>
                      <a:ext uri="{FF2B5EF4-FFF2-40B4-BE49-F238E27FC236}">
                        <a16:creationId xmlns:a16="http://schemas.microsoft.com/office/drawing/2014/main" id="{38B0BEC3-80B6-4EF5-A06E-1DDFF294067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374628" y="1780273"/>
                    <a:ext cx="9862" cy="414403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" name="Straight Connector 37">
                    <a:extLst>
                      <a:ext uri="{FF2B5EF4-FFF2-40B4-BE49-F238E27FC236}">
                        <a16:creationId xmlns:a16="http://schemas.microsoft.com/office/drawing/2014/main" id="{5A090ABB-B558-4230-AD57-819B46D2111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626284" y="2200747"/>
                    <a:ext cx="772109" cy="27864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14" name="Rectangle: Single Corner Rounded 13">
                <a:extLst>
                  <a:ext uri="{FF2B5EF4-FFF2-40B4-BE49-F238E27FC236}">
                    <a16:creationId xmlns:a16="http://schemas.microsoft.com/office/drawing/2014/main" id="{0B6E36D8-DCAC-4C97-8245-38A4BD897B97}"/>
                  </a:ext>
                </a:extLst>
              </p:cNvPr>
              <p:cNvSpPr/>
              <p:nvPr/>
            </p:nvSpPr>
            <p:spPr>
              <a:xfrm>
                <a:off x="2085820" y="1487979"/>
                <a:ext cx="3600000" cy="1882026"/>
              </a:xfrm>
              <a:prstGeom prst="round1Rect">
                <a:avLst>
                  <a:gd name="adj" fmla="val 0"/>
                </a:avLst>
              </a:prstGeom>
              <a:solidFill>
                <a:srgbClr val="FDC22F">
                  <a:alpha val="98824"/>
                </a:srgbClr>
              </a:solidFill>
              <a:ln w="12700" cap="flat" cmpd="sng" algn="ctr">
                <a:solidFill>
                  <a:srgbClr val="FF7619"/>
                </a:solidFill>
                <a:prstDash val="solid"/>
                <a:miter lim="800000"/>
              </a:ln>
              <a:effectLst/>
              <a:scene3d>
                <a:camera prst="orthographicFront">
                  <a:rot lat="3880299" lon="6639842" rev="6595252"/>
                </a:camera>
                <a:lightRig rig="balanced" dir="t"/>
              </a:scene3d>
              <a:sp3d prstMaterial="softEdge">
                <a:bevelT w="0" h="285750"/>
              </a:sp3d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" name="Rectangle: Single Corner Rounded 14">
                <a:extLst>
                  <a:ext uri="{FF2B5EF4-FFF2-40B4-BE49-F238E27FC236}">
                    <a16:creationId xmlns:a16="http://schemas.microsoft.com/office/drawing/2014/main" id="{803286F5-664B-4FEE-8A7D-ABF7DE9A90B0}"/>
                  </a:ext>
                </a:extLst>
              </p:cNvPr>
              <p:cNvSpPr/>
              <p:nvPr/>
            </p:nvSpPr>
            <p:spPr>
              <a:xfrm>
                <a:off x="2535648" y="1181153"/>
                <a:ext cx="2681846" cy="1882026"/>
              </a:xfrm>
              <a:prstGeom prst="round1Rect">
                <a:avLst>
                  <a:gd name="adj" fmla="val 0"/>
                </a:avLst>
              </a:prstGeom>
              <a:solidFill>
                <a:schemeClr val="accent4">
                  <a:lumMod val="75000"/>
                </a:schemeClr>
              </a:solidFill>
              <a:ln w="12700" cap="flat" cmpd="sng" algn="ctr">
                <a:solidFill>
                  <a:srgbClr val="FFFF00"/>
                </a:solidFill>
                <a:prstDash val="solid"/>
                <a:miter lim="800000"/>
              </a:ln>
              <a:effectLst/>
              <a:scene3d>
                <a:camera prst="orthographicFront">
                  <a:rot lat="3880299" lon="6639842" rev="6595252"/>
                </a:camera>
                <a:lightRig rig="harsh" dir="t">
                  <a:rot lat="0" lon="0" rev="21594000"/>
                </a:lightRig>
              </a:scene3d>
              <a:sp3d prstMaterial="powder">
                <a:bevelT w="0" h="139700"/>
              </a:sp3d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23DB4A4-7CFA-4860-8D55-DF83786CBB98}"/>
                  </a:ext>
                </a:extLst>
              </p:cNvPr>
              <p:cNvSpPr txBox="1"/>
              <p:nvPr/>
            </p:nvSpPr>
            <p:spPr>
              <a:xfrm rot="239800">
                <a:off x="2535648" y="3428758"/>
                <a:ext cx="20569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 err="1">
                    <a:solidFill>
                      <a:schemeClr val="bg1"/>
                    </a:solidFill>
                  </a:rPr>
                  <a:t>NiO</a:t>
                </a:r>
                <a:r>
                  <a:rPr lang="en-IN" dirty="0">
                    <a:solidFill>
                      <a:schemeClr val="bg1"/>
                    </a:solidFill>
                  </a:rPr>
                  <a:t>/ </a:t>
                </a:r>
                <a:r>
                  <a:rPr lang="en-IN" dirty="0" err="1">
                    <a:solidFill>
                      <a:schemeClr val="bg1"/>
                    </a:solidFill>
                  </a:rPr>
                  <a:t>CuSCN</a:t>
                </a:r>
                <a:r>
                  <a:rPr lang="en-IN" dirty="0">
                    <a:solidFill>
                      <a:schemeClr val="bg1"/>
                    </a:solidFill>
                  </a:rPr>
                  <a:t>/</a:t>
                </a:r>
                <a:r>
                  <a:rPr lang="en-IN" dirty="0" err="1">
                    <a:solidFill>
                      <a:schemeClr val="bg1"/>
                    </a:solidFill>
                  </a:rPr>
                  <a:t>Cu:NiO</a:t>
                </a:r>
                <a:endParaRPr lang="en-IN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ED360CF-101F-43CF-BB3A-055D2F1438D5}"/>
                  </a:ext>
                </a:extLst>
              </p:cNvPr>
              <p:cNvSpPr txBox="1"/>
              <p:nvPr/>
            </p:nvSpPr>
            <p:spPr>
              <a:xfrm rot="231857">
                <a:off x="2798892" y="2567328"/>
                <a:ext cx="161768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>
                    <a:solidFill>
                      <a:schemeClr val="bg1"/>
                    </a:solidFill>
                  </a:rPr>
                  <a:t>Perovskite NC’s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80905E9-271D-4335-B8B0-4E4B2363F5BD}"/>
                  </a:ext>
                </a:extLst>
              </p:cNvPr>
              <p:cNvSpPr txBox="1"/>
              <p:nvPr/>
            </p:nvSpPr>
            <p:spPr>
              <a:xfrm rot="208032">
                <a:off x="3334208" y="2249216"/>
                <a:ext cx="5389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>
                    <a:solidFill>
                      <a:schemeClr val="bg1"/>
                    </a:solidFill>
                  </a:rPr>
                  <a:t>HTL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886EE7B-2EBC-409F-97DD-6FA57CD953C8}"/>
                  </a:ext>
                </a:extLst>
              </p:cNvPr>
              <p:cNvSpPr txBox="1"/>
              <p:nvPr/>
            </p:nvSpPr>
            <p:spPr>
              <a:xfrm rot="275971">
                <a:off x="3368534" y="1791267"/>
                <a:ext cx="76335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>
                    <a:solidFill>
                      <a:schemeClr val="bg1"/>
                    </a:solidFill>
                  </a:rPr>
                  <a:t>Au/Ag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151C0D8-121B-43FB-B607-D36A689C6D91}"/>
                  </a:ext>
                </a:extLst>
              </p:cNvPr>
              <p:cNvSpPr txBox="1"/>
              <p:nvPr/>
            </p:nvSpPr>
            <p:spPr>
              <a:xfrm rot="282867">
                <a:off x="2628106" y="3033480"/>
                <a:ext cx="19911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>
                    <a:solidFill>
                      <a:schemeClr val="bg1"/>
                    </a:solidFill>
                  </a:rPr>
                  <a:t>Perovskite thin film</a:t>
                </a:r>
              </a:p>
            </p:txBody>
          </p:sp>
        </p:grp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AD1C2B85-8FA8-4708-ABD6-F1BACCABCB83}"/>
                </a:ext>
              </a:extLst>
            </p:cNvPr>
            <p:cNvGrpSpPr/>
            <p:nvPr/>
          </p:nvGrpSpPr>
          <p:grpSpPr>
            <a:xfrm>
              <a:off x="6191723" y="1039981"/>
              <a:ext cx="2715218" cy="5077203"/>
              <a:chOff x="7690839" y="1684588"/>
              <a:chExt cx="2715218" cy="5077203"/>
            </a:xfrm>
          </p:grpSpPr>
          <p:sp>
            <p:nvSpPr>
              <p:cNvPr id="78" name="Cube 77">
                <a:extLst>
                  <a:ext uri="{FF2B5EF4-FFF2-40B4-BE49-F238E27FC236}">
                    <a16:creationId xmlns:a16="http://schemas.microsoft.com/office/drawing/2014/main" id="{73253C66-7DB3-4BC0-BFBB-1A74EEFB757E}"/>
                  </a:ext>
                </a:extLst>
              </p:cNvPr>
              <p:cNvSpPr/>
              <p:nvPr/>
            </p:nvSpPr>
            <p:spPr>
              <a:xfrm flipH="1">
                <a:off x="9523568" y="2053920"/>
                <a:ext cx="809654" cy="2965939"/>
              </a:xfrm>
              <a:prstGeom prst="cube">
                <a:avLst/>
              </a:prstGeom>
              <a:solidFill>
                <a:srgbClr val="FFC000"/>
              </a:solidFill>
              <a:ln>
                <a:solidFill>
                  <a:srgbClr val="FF761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HTL</a:t>
                </a:r>
              </a:p>
            </p:txBody>
          </p:sp>
          <p:sp>
            <p:nvSpPr>
              <p:cNvPr id="79" name="Cube 78">
                <a:extLst>
                  <a:ext uri="{FF2B5EF4-FFF2-40B4-BE49-F238E27FC236}">
                    <a16:creationId xmlns:a16="http://schemas.microsoft.com/office/drawing/2014/main" id="{004A7DA8-F0FC-4073-9897-4A877264E00F}"/>
                  </a:ext>
                </a:extLst>
              </p:cNvPr>
              <p:cNvSpPr/>
              <p:nvPr/>
            </p:nvSpPr>
            <p:spPr>
              <a:xfrm flipH="1">
                <a:off x="8903767" y="2591299"/>
                <a:ext cx="809654" cy="3174907"/>
              </a:xfrm>
              <a:prstGeom prst="cube">
                <a:avLst/>
              </a:prstGeom>
              <a:solidFill>
                <a:srgbClr val="00FF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Pero NC’s</a:t>
                </a:r>
              </a:p>
            </p:txBody>
          </p:sp>
          <p:sp>
            <p:nvSpPr>
              <p:cNvPr id="80" name="Cube 79">
                <a:extLst>
                  <a:ext uri="{FF2B5EF4-FFF2-40B4-BE49-F238E27FC236}">
                    <a16:creationId xmlns:a16="http://schemas.microsoft.com/office/drawing/2014/main" id="{9EA288B2-B567-4D11-9117-8A26461CDE3E}"/>
                  </a:ext>
                </a:extLst>
              </p:cNvPr>
              <p:cNvSpPr/>
              <p:nvPr/>
            </p:nvSpPr>
            <p:spPr>
              <a:xfrm flipH="1">
                <a:off x="8297303" y="2910613"/>
                <a:ext cx="809654" cy="2552438"/>
              </a:xfrm>
              <a:prstGeom prst="cube">
                <a:avLst/>
              </a:prstGeom>
              <a:solidFill>
                <a:srgbClr val="00206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Pero</a:t>
                </a:r>
              </a:p>
            </p:txBody>
          </p:sp>
          <p:sp>
            <p:nvSpPr>
              <p:cNvPr id="81" name="Cube 80">
                <a:extLst>
                  <a:ext uri="{FF2B5EF4-FFF2-40B4-BE49-F238E27FC236}">
                    <a16:creationId xmlns:a16="http://schemas.microsoft.com/office/drawing/2014/main" id="{FAE722A6-578E-4056-A65A-27CAEE054A23}"/>
                  </a:ext>
                </a:extLst>
              </p:cNvPr>
              <p:cNvSpPr/>
              <p:nvPr/>
            </p:nvSpPr>
            <p:spPr>
              <a:xfrm flipH="1">
                <a:off x="7690839" y="3270258"/>
                <a:ext cx="809654" cy="2760926"/>
              </a:xfrm>
              <a:prstGeom prst="cube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1600" dirty="0">
                    <a:solidFill>
                      <a:schemeClr val="bg1"/>
                    </a:solidFill>
                  </a:rPr>
                  <a:t>ETL</a:t>
                </a:r>
              </a:p>
            </p:txBody>
          </p:sp>
          <p:grpSp>
            <p:nvGrpSpPr>
              <p:cNvPr id="82" name="Group 81">
                <a:extLst>
                  <a:ext uri="{FF2B5EF4-FFF2-40B4-BE49-F238E27FC236}">
                    <a16:creationId xmlns:a16="http://schemas.microsoft.com/office/drawing/2014/main" id="{F92A3A45-920A-4F02-9414-21421A7EBF1F}"/>
                  </a:ext>
                </a:extLst>
              </p:cNvPr>
              <p:cNvGrpSpPr/>
              <p:nvPr/>
            </p:nvGrpSpPr>
            <p:grpSpPr>
              <a:xfrm>
                <a:off x="8480419" y="1684588"/>
                <a:ext cx="828175" cy="878590"/>
                <a:chOff x="8456295" y="1539384"/>
                <a:chExt cx="828175" cy="878590"/>
              </a:xfrm>
            </p:grpSpPr>
            <p:sp>
              <p:nvSpPr>
                <p:cNvPr id="92" name="Arrow: Curved Up 91">
                  <a:extLst>
                    <a:ext uri="{FF2B5EF4-FFF2-40B4-BE49-F238E27FC236}">
                      <a16:creationId xmlns:a16="http://schemas.microsoft.com/office/drawing/2014/main" id="{A490594B-8B39-4392-9379-863CF0BE4C93}"/>
                    </a:ext>
                  </a:extLst>
                </p:cNvPr>
                <p:cNvSpPr/>
                <p:nvPr/>
              </p:nvSpPr>
              <p:spPr>
                <a:xfrm rot="10071486">
                  <a:off x="8456295" y="1867790"/>
                  <a:ext cx="828175" cy="550184"/>
                </a:xfrm>
                <a:prstGeom prst="curvedUp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7B2C1283-A1E9-43BC-933C-6CBEE2D6E02C}"/>
                    </a:ext>
                  </a:extLst>
                </p:cNvPr>
                <p:cNvSpPr txBox="1"/>
                <p:nvPr/>
              </p:nvSpPr>
              <p:spPr>
                <a:xfrm>
                  <a:off x="8767193" y="1539384"/>
                  <a:ext cx="34657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IN" b="1" dirty="0"/>
                    <a:t>e</a:t>
                  </a:r>
                  <a:r>
                    <a:rPr lang="en-IN" b="1" baseline="30000" dirty="0"/>
                    <a:t>-</a:t>
                  </a:r>
                </a:p>
              </p:txBody>
            </p:sp>
          </p:grpSp>
          <p:grpSp>
            <p:nvGrpSpPr>
              <p:cNvPr id="83" name="Group 82">
                <a:extLst>
                  <a:ext uri="{FF2B5EF4-FFF2-40B4-BE49-F238E27FC236}">
                    <a16:creationId xmlns:a16="http://schemas.microsoft.com/office/drawing/2014/main" id="{0D326C61-2B19-433C-8684-6AD78B1F78D0}"/>
                  </a:ext>
                </a:extLst>
              </p:cNvPr>
              <p:cNvGrpSpPr/>
              <p:nvPr/>
            </p:nvGrpSpPr>
            <p:grpSpPr>
              <a:xfrm>
                <a:off x="7757763" y="2015820"/>
                <a:ext cx="828175" cy="878590"/>
                <a:chOff x="8456295" y="1539384"/>
                <a:chExt cx="828175" cy="878590"/>
              </a:xfrm>
            </p:grpSpPr>
            <p:sp>
              <p:nvSpPr>
                <p:cNvPr id="90" name="Arrow: Curved Up 89">
                  <a:extLst>
                    <a:ext uri="{FF2B5EF4-FFF2-40B4-BE49-F238E27FC236}">
                      <a16:creationId xmlns:a16="http://schemas.microsoft.com/office/drawing/2014/main" id="{FDBB3AD3-26DD-44A1-816D-FCE8DCE909D4}"/>
                    </a:ext>
                  </a:extLst>
                </p:cNvPr>
                <p:cNvSpPr/>
                <p:nvPr/>
              </p:nvSpPr>
              <p:spPr>
                <a:xfrm rot="10071486">
                  <a:off x="8456295" y="1867790"/>
                  <a:ext cx="828175" cy="550184"/>
                </a:xfrm>
                <a:prstGeom prst="curvedUp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C5BDB1A1-5107-4235-B07A-78067FB7FCB6}"/>
                    </a:ext>
                  </a:extLst>
                </p:cNvPr>
                <p:cNvSpPr txBox="1"/>
                <p:nvPr/>
              </p:nvSpPr>
              <p:spPr>
                <a:xfrm>
                  <a:off x="8767193" y="1539384"/>
                  <a:ext cx="34657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IN" b="1" dirty="0"/>
                    <a:t>e</a:t>
                  </a:r>
                  <a:r>
                    <a:rPr lang="en-IN" b="1" baseline="30000" dirty="0"/>
                    <a:t>-</a:t>
                  </a:r>
                </a:p>
              </p:txBody>
            </p:sp>
          </p:grpSp>
          <p:grpSp>
            <p:nvGrpSpPr>
              <p:cNvPr id="84" name="Group 83">
                <a:extLst>
                  <a:ext uri="{FF2B5EF4-FFF2-40B4-BE49-F238E27FC236}">
                    <a16:creationId xmlns:a16="http://schemas.microsoft.com/office/drawing/2014/main" id="{E3ED2048-5EF3-4AF7-A8BA-3FD0B438877E}"/>
                  </a:ext>
                </a:extLst>
              </p:cNvPr>
              <p:cNvGrpSpPr/>
              <p:nvPr/>
            </p:nvGrpSpPr>
            <p:grpSpPr>
              <a:xfrm>
                <a:off x="9577882" y="5737550"/>
                <a:ext cx="828175" cy="1020258"/>
                <a:chOff x="9041911" y="4595889"/>
                <a:chExt cx="828175" cy="1020258"/>
              </a:xfrm>
            </p:grpSpPr>
            <p:sp>
              <p:nvSpPr>
                <p:cNvPr id="88" name="Arrow: Curved Up 87">
                  <a:extLst>
                    <a:ext uri="{FF2B5EF4-FFF2-40B4-BE49-F238E27FC236}">
                      <a16:creationId xmlns:a16="http://schemas.microsoft.com/office/drawing/2014/main" id="{A4115FD2-A5F1-4841-8D96-2C9061C5BF1E}"/>
                    </a:ext>
                  </a:extLst>
                </p:cNvPr>
                <p:cNvSpPr/>
                <p:nvPr/>
              </p:nvSpPr>
              <p:spPr>
                <a:xfrm rot="20669090">
                  <a:off x="9041911" y="4595889"/>
                  <a:ext cx="828175" cy="550184"/>
                </a:xfrm>
                <a:prstGeom prst="curvedUp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62903EB5-3F0E-4837-ADFC-5D5E4D9DD821}"/>
                    </a:ext>
                  </a:extLst>
                </p:cNvPr>
                <p:cNvSpPr txBox="1"/>
                <p:nvPr/>
              </p:nvSpPr>
              <p:spPr>
                <a:xfrm>
                  <a:off x="9264279" y="5246815"/>
                  <a:ext cx="3834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IN" b="1" dirty="0"/>
                    <a:t>h</a:t>
                  </a:r>
                  <a:r>
                    <a:rPr lang="en-IN" b="1" baseline="30000" dirty="0"/>
                    <a:t>+</a:t>
                  </a:r>
                </a:p>
              </p:txBody>
            </p:sp>
          </p:grpSp>
          <p:grpSp>
            <p:nvGrpSpPr>
              <p:cNvPr id="85" name="Group 84">
                <a:extLst>
                  <a:ext uri="{FF2B5EF4-FFF2-40B4-BE49-F238E27FC236}">
                    <a16:creationId xmlns:a16="http://schemas.microsoft.com/office/drawing/2014/main" id="{9AB79E73-5E8C-442D-B4D1-4346BC609F81}"/>
                  </a:ext>
                </a:extLst>
              </p:cNvPr>
              <p:cNvGrpSpPr/>
              <p:nvPr/>
            </p:nvGrpSpPr>
            <p:grpSpPr>
              <a:xfrm rot="1058785">
                <a:off x="8579076" y="5741533"/>
                <a:ext cx="828175" cy="1020258"/>
                <a:chOff x="9041911" y="4595889"/>
                <a:chExt cx="828175" cy="1020258"/>
              </a:xfrm>
            </p:grpSpPr>
            <p:sp>
              <p:nvSpPr>
                <p:cNvPr id="86" name="Arrow: Curved Up 85">
                  <a:extLst>
                    <a:ext uri="{FF2B5EF4-FFF2-40B4-BE49-F238E27FC236}">
                      <a16:creationId xmlns:a16="http://schemas.microsoft.com/office/drawing/2014/main" id="{7A646CDF-9707-4FA7-A2E8-0B451BB76E8D}"/>
                    </a:ext>
                  </a:extLst>
                </p:cNvPr>
                <p:cNvSpPr/>
                <p:nvPr/>
              </p:nvSpPr>
              <p:spPr>
                <a:xfrm rot="20669090">
                  <a:off x="9041911" y="4595889"/>
                  <a:ext cx="828175" cy="550184"/>
                </a:xfrm>
                <a:prstGeom prst="curvedUp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E7DB784B-7F1F-4617-A119-5EB8319D8222}"/>
                    </a:ext>
                  </a:extLst>
                </p:cNvPr>
                <p:cNvSpPr txBox="1"/>
                <p:nvPr/>
              </p:nvSpPr>
              <p:spPr>
                <a:xfrm rot="20541215">
                  <a:off x="9264279" y="5246815"/>
                  <a:ext cx="3834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IN" b="1" dirty="0"/>
                    <a:t>h</a:t>
                  </a:r>
                  <a:r>
                    <a:rPr lang="en-IN" b="1" baseline="30000" dirty="0"/>
                    <a:t>+</a:t>
                  </a:r>
                </a:p>
              </p:txBody>
            </p:sp>
          </p:grpSp>
        </p:grp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D421073A-20B9-4C37-A944-FD9CD18A5688}"/>
                </a:ext>
              </a:extLst>
            </p:cNvPr>
            <p:cNvSpPr txBox="1"/>
            <p:nvPr/>
          </p:nvSpPr>
          <p:spPr>
            <a:xfrm>
              <a:off x="1675552" y="6304385"/>
              <a:ext cx="80049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b="1" dirty="0"/>
                <a:t>Seeking cheap inorganic hole transport materials instead of expensive organic HTL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929799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1070</TotalTime>
  <Words>134</Words>
  <Application>Microsoft Office PowerPoint</Application>
  <PresentationFormat>Widescreen</PresentationFormat>
  <Paragraphs>43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Arial Unicode MS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Ranadeep raj sumukam</dc:creator>
  <cp:lastModifiedBy>Ranadeep raj sumukam</cp:lastModifiedBy>
  <cp:revision>10</cp:revision>
  <dcterms:created xsi:type="dcterms:W3CDTF">2019-05-26T20:17:09Z</dcterms:created>
  <dcterms:modified xsi:type="dcterms:W3CDTF">2019-08-15T19:06:38Z</dcterms:modified>
</cp:coreProperties>
</file>